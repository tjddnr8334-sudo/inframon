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4114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73736"/>
            <a:ext cx="8778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FB6E0"/>
                </a:solidFill>
                <a:latin typeface="맑은 고딕"/>
              </a:rPr>
              <a:t>①  </a:t>
            </a:r>
            <a:r>
              <a:rPr sz="2100" b="1">
                <a:solidFill>
                  <a:srgbClr val="FFFFFF"/>
                </a:solidFill>
                <a:latin typeface="맑은 고딕"/>
              </a:rPr>
              <a:t>inframon — 좌표 하나로, 위성에서 교량까지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19456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A9C4DA"/>
                </a:solidFill>
                <a:latin typeface="맑은 고딕"/>
              </a:rPr>
              <a:t>예시 · 성수대교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932688"/>
            <a:ext cx="3643274" cy="786384"/>
          </a:xfrm>
          <a:prstGeom prst="roundRect">
            <a:avLst/>
          </a:prstGeom>
          <a:solidFill>
            <a:srgbClr val="E7F0F8"/>
          </a:solidFill>
          <a:ln w="9525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987552"/>
            <a:ext cx="340553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6FB2"/>
                </a:solidFill>
                <a:latin typeface="맑은 고딕"/>
              </a:rPr>
              <a:t>넣는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25296"/>
            <a:ext cx="340553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02A43"/>
                </a:solidFill>
                <a:latin typeface="맑은 고딕"/>
              </a:rPr>
              <a:t>· 교량 이름과 위경도 — 그게 전부다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102A43"/>
                </a:solidFill>
                <a:latin typeface="맑은 고딕"/>
              </a:rPr>
              <a:t>· 있으면: 이미 처리한 위성 트랙 · 교량 IFC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4210" y="932688"/>
            <a:ext cx="3643274" cy="786384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93082" y="987552"/>
            <a:ext cx="340553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E7D32"/>
                </a:solidFill>
                <a:latin typeface="맑은 고딕"/>
              </a:rPr>
              <a:t>스스로 찾는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93082" y="1225296"/>
            <a:ext cx="340553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02A43"/>
                </a:solidFill>
                <a:latin typeface="맑은 고딕"/>
              </a:rPr>
              <a:t>· 제원(전국교량표준데이터·실측 CSV) · 교면선(OSM)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102A43"/>
                </a:solidFill>
                <a:latin typeface="맑은 고딕"/>
              </a:rPr>
              <a:t>· 지면(DEM) · 기온(ERA5) · 필요하면 SLC 받아 SNAP 처리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6941" y="932688"/>
            <a:ext cx="3643274" cy="786384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E06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5813" y="987552"/>
            <a:ext cx="340553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06C2C"/>
                </a:solidFill>
                <a:latin typeface="맑은 고딕"/>
              </a:rPr>
              <a:t>나오는 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5813" y="1225296"/>
            <a:ext cx="340553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02A43"/>
                </a:solidFill>
                <a:latin typeface="맑은 고딕"/>
              </a:rPr>
              <a:t>· 교면 측점 변위속도 ± 95% 신뢰구간 · 브리프 그림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102A43"/>
                </a:solidFill>
                <a:latin typeface="맑은 고딕"/>
              </a:rPr>
              <a:t>· IFC 트윈 + 부재에 결합된 PS · CRI 경보 · 감사표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1783080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36B"/>
                </a:solidFill>
                <a:latin typeface="맑은 고딕"/>
              </a:rPr>
              <a:t>돌아가는 순서 — 명령 한 줄이면 이 열한 단계가 차례로 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2002536"/>
            <a:ext cx="996945" cy="384048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" y="2029968"/>
            <a:ext cx="99694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F6FB2"/>
                </a:solidFill>
                <a:latin typeface="맑은 고딕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2194560"/>
            <a:ext cx="99694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102A43"/>
                </a:solidFill>
                <a:latin typeface="맑은 고딕"/>
              </a:rPr>
              <a:t>SLC→InSAR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63289" y="2002536"/>
            <a:ext cx="996945" cy="384048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63289" y="2029968"/>
            <a:ext cx="99694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F6FB2"/>
                </a:solidFill>
                <a:latin typeface="맑은 고딕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289" y="2194560"/>
            <a:ext cx="99694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102A43"/>
                </a:solidFill>
                <a:latin typeface="맑은 고딕"/>
              </a:rPr>
              <a:t>제원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96811" y="2002536"/>
            <a:ext cx="996945" cy="384048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96811" y="2029968"/>
            <a:ext cx="99694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F6FB2"/>
                </a:solidFill>
                <a:latin typeface="맑은 고딕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96811" y="2194560"/>
            <a:ext cx="99694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102A43"/>
                </a:solidFill>
                <a:latin typeface="맑은 고딕"/>
              </a:rPr>
              <a:t>데크선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30332" y="2002536"/>
            <a:ext cx="996945" cy="384048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30332" y="2029968"/>
            <a:ext cx="99694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F6FB2"/>
                </a:solidFill>
                <a:latin typeface="맑은 고딕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30332" y="2194560"/>
            <a:ext cx="99694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102A43"/>
                </a:solidFill>
                <a:latin typeface="맑은 고딕"/>
              </a:rPr>
              <a:t>지면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63854" y="2002536"/>
            <a:ext cx="996945" cy="384048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63854" y="2029968"/>
            <a:ext cx="99694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F6FB2"/>
                </a:solidFill>
                <a:latin typeface="맑은 고딕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63854" y="2194560"/>
            <a:ext cx="99694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102A43"/>
                </a:solidFill>
                <a:latin typeface="맑은 고딕"/>
              </a:rPr>
              <a:t>점 선택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97375" y="2002536"/>
            <a:ext cx="996945" cy="384048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97375" y="2029968"/>
            <a:ext cx="99694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F6FB2"/>
                </a:solidFill>
                <a:latin typeface="맑은 고딕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97375" y="2194560"/>
            <a:ext cx="99694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102A43"/>
                </a:solidFill>
                <a:latin typeface="맑은 고딕"/>
              </a:rPr>
              <a:t>잔차고도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30896" y="2002536"/>
            <a:ext cx="996945" cy="384048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30896" y="2029968"/>
            <a:ext cx="99694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F6FB2"/>
                </a:solidFill>
                <a:latin typeface="맑은 고딕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30896" y="2194560"/>
            <a:ext cx="99694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102A43"/>
                </a:solidFill>
                <a:latin typeface="맑은 고딕"/>
              </a:rPr>
              <a:t>IFC 트윈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64418" y="2002536"/>
            <a:ext cx="996945" cy="384048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64418" y="2029968"/>
            <a:ext cx="99694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F6FB2"/>
                </a:solidFill>
                <a:latin typeface="맑은 고딕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64418" y="2194560"/>
            <a:ext cx="99694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102A43"/>
                </a:solidFill>
                <a:latin typeface="맑은 고딕"/>
              </a:rPr>
              <a:t>PINN·CRI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97939" y="2002536"/>
            <a:ext cx="996945" cy="384048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97939" y="2029968"/>
            <a:ext cx="99694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F6FB2"/>
                </a:solidFill>
                <a:latin typeface="맑은 고딕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97939" y="2194560"/>
            <a:ext cx="99694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102A43"/>
                </a:solidFill>
                <a:latin typeface="맑은 고딕"/>
              </a:rPr>
              <a:t>브리프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731460" y="2002536"/>
            <a:ext cx="996945" cy="384048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31460" y="2029968"/>
            <a:ext cx="99694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F6FB2"/>
                </a:solidFill>
                <a:latin typeface="맑은 고딕"/>
              </a:rPr>
              <a:t>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31460" y="2194560"/>
            <a:ext cx="99694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102A43"/>
                </a:solidFill>
                <a:latin typeface="맑은 고딕"/>
              </a:rPr>
              <a:t>감사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764982" y="2002536"/>
            <a:ext cx="996945" cy="384048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764982" y="2029968"/>
            <a:ext cx="99694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F6FB2"/>
                </a:solidFill>
                <a:latin typeface="맑은 고딕"/>
              </a:rPr>
              <a:t>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64982" y="2194560"/>
            <a:ext cx="99694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102A43"/>
                </a:solidFill>
                <a:latin typeface="맑은 고딕"/>
              </a:rPr>
              <a:t>결과 문서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" y="2468880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02A43"/>
                </a:solidFill>
                <a:latin typeface="맑은 고딕"/>
              </a:rPr>
              <a:t>예시 결과 — 성수대교  (산출물 그대로 · 손으로 옮겨 적은 숫자 없음)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" y="2724912"/>
            <a:ext cx="5574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C4469"/>
                </a:solidFill>
                <a:latin typeface="맑은 고딕"/>
              </a:rPr>
              <a:t>① 측점은 어디서 나오나 — OSM 데크선 → 쉬프트 보정 → ±30 m 선별</a:t>
            </a:r>
          </a:p>
        </p:txBody>
      </p:sp>
      <p:pic>
        <p:nvPicPr>
          <p:cNvPr id="51" name="Picture 50" descr="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103" y="2926080"/>
            <a:ext cx="2593394" cy="141732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205576" y="2724912"/>
            <a:ext cx="5574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C4469"/>
                </a:solidFill>
                <a:latin typeface="맑은 고딕"/>
              </a:rPr>
              <a:t>② 결과를 IFC 디지털 트윈 위에 — 부재 GlobalId 에 결합</a:t>
            </a:r>
          </a:p>
        </p:txBody>
      </p:sp>
      <p:pic>
        <p:nvPicPr>
          <p:cNvPr id="53" name="Picture 52" descr="twin_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8380" y="2926080"/>
            <a:ext cx="3089031" cy="141732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411480" y="4434840"/>
            <a:ext cx="5574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C4469"/>
                </a:solidFill>
                <a:latin typeface="맑은 고딕"/>
              </a:rPr>
              <a:t>③ 건기연 브리프 4단 — 점 배치 · 교면 검증 · 속도 · 시계열</a:t>
            </a:r>
          </a:p>
        </p:txBody>
      </p:sp>
      <p:pic>
        <p:nvPicPr>
          <p:cNvPr id="55" name="Picture 54" descr="brie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8362" y="4636008"/>
            <a:ext cx="2280875" cy="141732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205576" y="4434840"/>
            <a:ext cx="5574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C4469"/>
                </a:solidFill>
                <a:latin typeface="맑은 고딕"/>
              </a:rPr>
              <a:t>④ 숫자 — 결과.md 에서 그대로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05576" y="4636008"/>
            <a:ext cx="5574640" cy="1417320"/>
          </a:xfrm>
          <a:prstGeom prst="roundRect">
            <a:avLst/>
          </a:prstGeom>
          <a:solidFill>
            <a:srgbClr val="F2F4F6"/>
          </a:solidFill>
          <a:ln w="9525">
            <a:solidFill>
              <a:srgbClr val="5A63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15304" y="4718304"/>
            <a:ext cx="1188720" cy="1138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A636B"/>
                </a:solidFill>
                <a:latin typeface="맑은 고딕"/>
              </a:rPr>
              <a:t>제원(적용값)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22312" y="4718304"/>
            <a:ext cx="4148176" cy="1138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02A43"/>
                </a:solidFill>
                <a:latin typeface="맑은 고딕"/>
              </a:rPr>
              <a:t>연장 1160.0 m · 경간 21 · 폭 35.0 m · 형하고 17.0 m · 지면 4.0 m · 방위 82.6°…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15304" y="4832188"/>
            <a:ext cx="1188720" cy="1138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A636B"/>
                </a:solidFill>
                <a:latin typeface="맑은 고딕"/>
              </a:rPr>
              <a:t>무엇을 썼나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22312" y="4832188"/>
            <a:ext cx="4148176" cy="1138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02A43"/>
                </a:solidFill>
                <a:latin typeface="맑은 고딕"/>
              </a:rPr>
              <a:t>파트너 실측 CSV '성수대교' (61 m)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15304" y="4946073"/>
            <a:ext cx="1188720" cy="1138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A636B"/>
                </a:solidFill>
                <a:latin typeface="맑은 고딕"/>
              </a:rPr>
              <a:t>교면 측점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522312" y="4946073"/>
            <a:ext cx="4148176" cy="1138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02A43"/>
                </a:solidFill>
                <a:latin typeface="맑은 고딕"/>
              </a:rPr>
              <a:t>쉬프트 19.4 m(heading -13.3°) 보정 후 데크 ±30 m 안 103/20000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15304" y="5059957"/>
            <a:ext cx="1188720" cy="1138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A636B"/>
                </a:solidFill>
                <a:latin typeface="맑은 고딕"/>
              </a:rPr>
              <a:t>IFC 트윈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522312" y="5059957"/>
            <a:ext cx="4148176" cy="1138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2E7D32"/>
                </a:solidFill>
                <a:latin typeface="맑은 고딕"/>
              </a:rPr>
              <a:t>부재 123 · 점 103 · 결합 103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15304" y="5173841"/>
            <a:ext cx="1188720" cy="1138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A636B"/>
                </a:solidFill>
                <a:latin typeface="맑은 고딕"/>
              </a:rPr>
              <a:t>상부구조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22312" y="5173841"/>
            <a:ext cx="4148176" cy="1138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02A43"/>
                </a:solidFill>
                <a:latin typeface="맑은 고딕"/>
              </a:rPr>
              <a:t>트러스교 — 상현재 2련(데크 위 12 m) · 수직재 78본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15304" y="5287726"/>
            <a:ext cx="1188720" cy="1138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A636B"/>
                </a:solidFill>
                <a:latin typeface="맑은 고딕"/>
              </a:rPr>
              <a:t>LOS 변위속도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522312" y="5287726"/>
            <a:ext cx="4148176" cy="1138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2E7D32"/>
                </a:solidFill>
                <a:latin typeface="맑은 고딕"/>
              </a:rPr>
              <a:t>-0.09 ± 0.88 mm/yr  (95% CI 가 0 을 포함 — 유의차 없음)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15304" y="5401610"/>
            <a:ext cx="1188720" cy="1138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A636B"/>
                </a:solidFill>
                <a:latin typeface="맑은 고딕"/>
              </a:rPr>
              <a:t>연직 환산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522312" y="5401610"/>
            <a:ext cx="4148176" cy="1138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02A43"/>
                </a:solidFill>
                <a:latin typeface="맑은 고딕"/>
              </a:rPr>
              <a:t>-0.12 ± 1.18 mm/yr  · 103점 · 101시점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315304" y="5515495"/>
            <a:ext cx="1188720" cy="1138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A636B"/>
                </a:solidFill>
                <a:latin typeface="맑은 고딕"/>
              </a:rPr>
              <a:t>현장 보고서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522312" y="5515495"/>
            <a:ext cx="4148176" cy="1138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102A43"/>
                </a:solidFill>
                <a:latin typeface="맑은 고딕"/>
              </a:rPr>
              <a:t>2022~24년 부재응력 추이 양호 · 2024년 신축변위 추세 양호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15304" y="5629379"/>
            <a:ext cx="1188720" cy="1138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A636B"/>
                </a:solidFill>
                <a:latin typeface="맑은 고딕"/>
              </a:rPr>
              <a:t>대조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522312" y="5629379"/>
            <a:ext cx="4148176" cy="1138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2E7D32"/>
                </a:solidFill>
                <a:latin typeface="맑은 고딕"/>
              </a:rPr>
              <a:t>일치 — 둘 다 '유의한 변위 없음'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315304" y="5743263"/>
            <a:ext cx="1188720" cy="1138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A636B"/>
                </a:solidFill>
                <a:latin typeface="맑은 고딕"/>
              </a:rPr>
              <a:t>PINN · CRI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522312" y="5743263"/>
            <a:ext cx="4148176" cy="1138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E06C2C"/>
                </a:solidFill>
                <a:latin typeface="맑은 고딕"/>
              </a:rPr>
              <a:t>CRI 0.812 · 경고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15304" y="5857148"/>
            <a:ext cx="1188720" cy="1138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A636B"/>
                </a:solidFill>
                <a:latin typeface="맑은 고딕"/>
              </a:rPr>
              <a:t>감사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522312" y="5857148"/>
            <a:ext cx="4148176" cy="1138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E06C2C"/>
                </a:solidFill>
                <a:latin typeface="맑은 고딕"/>
              </a:rPr>
              <a:t>조건부 · CRI 등급은 잠정  (사유 전문은 결과.md)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11480" y="6428232"/>
            <a:ext cx="11368735" cy="10973"/>
          </a:xfrm>
          <a:prstGeom prst="rect">
            <a:avLst/>
          </a:prstGeom>
          <a:solidFill>
            <a:srgbClr val="D4D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11480" y="6492240"/>
            <a:ext cx="11368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36B"/>
                </a:solidFill>
                <a:latin typeface="맑은 고딕"/>
              </a:rPr>
              <a:t>이 한 장의 숫자는 모두 docs/bridges/성수대교/ 의 산출물에서 읽었다 — 발표용으로 다시 그리거나 고른 것이 없다.  못 하는 것도 함께: InSAR 는 상대 변위라 절대 강성(EI)을 식별하지 못하고(EI·고유진동수는 설계 제원 기반), 측점 밀도는 Sentinel-1 화소(~11 m)가 정하며, CRI 등급은 관측조건이 기준과 다르면 잠정이다.  ※ 연구용 프로토타입 — 실무 안전판정이 아니다.  재현: python scripts/bridge_run.py --name 성수대교 --lat 37.537353 --lon 127.035055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