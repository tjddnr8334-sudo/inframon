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2" r:id="rId4"/>
  </p:sldMasterIdLst>
  <p:notesMasterIdLst>
    <p:notesMasterId r:id="rId23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A0B6F17-C26F-43FB-831C-EA58927E2B26}">
          <p14:sldIdLst/>
        </p14:section>
        <p14:section name="서식" id="{DDF278CF-ADA6-4C98-B57F-8DA450EC3DB7}">
          <p14:sldIdLst/>
        </p14:section>
        <p14:section name="본문" id="{28065E0A-B8FD-4313-8E73-291547E2D5D1}">
          <p14:sldIdLst>
            <p14:sldId id="1274"/>
            <p14:sldId id="1176"/>
            <p14:sldId id="1249"/>
            <p14:sldId id="1250"/>
            <p14:sldId id="1267"/>
            <p14:sldId id="1270"/>
            <p14:sldId id="1269"/>
            <p14:sldId id="1259"/>
            <p14:sldId id="1265"/>
            <p14:sldId id="1256"/>
            <p14:sldId id="1260"/>
            <p14:sldId id="1255"/>
            <p14:sldId id="1272"/>
            <p14:sldId id="1273"/>
            <p14:sldId id="1268"/>
            <p14:sldId id="1240"/>
            <p14:sldId id="1261"/>
            <p14:sldId id="12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316FB6-C249-FF8E-3EAB-EBF74372A5C7}" name="선우린" initials="우선" userId="S::lynn@smartinside.ai::8266e99a-492c-4aeb-b0bf-c7bb5c4f60e9" providerId="AD"/>
  <p188:author id="{EA59F4CB-818A-144A-B007-87B8AD83CA12}" name="김한선" initials="" userId="S::butan90@o365.skku.edu::317d3101-5e51-4b24-877b-583fa87dbd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7F9"/>
    <a:srgbClr val="1C5B8A"/>
    <a:srgbClr val="BBD9F7"/>
    <a:srgbClr val="D6E8FA"/>
    <a:srgbClr val="EAF3FC"/>
    <a:srgbClr val="FFDE75"/>
    <a:srgbClr val="3B95F7"/>
    <a:srgbClr val="074FA1"/>
    <a:srgbClr val="7EB9FA"/>
    <a:srgbClr val="B7D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36" autoAdjust="0"/>
  </p:normalViewPr>
  <p:slideViewPr>
    <p:cSldViewPr snapToGrid="0">
      <p:cViewPr varScale="1">
        <p:scale>
          <a:sx n="109" d="100"/>
          <a:sy n="109" d="100"/>
        </p:scale>
        <p:origin x="672" y="78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66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l">
              <a:defRPr sz="1300">
                <a:latin typeface="12롯데마트드림Bold" panose="02020603020101020101" pitchFamily="18" charset="-127"/>
              </a:defRPr>
            </a:lvl1pPr>
          </a:lstStyle>
          <a:p>
            <a:endParaRPr lang="en-K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9039" tIns="49520" rIns="99039" bIns="49520" rtlCol="0"/>
          <a:lstStyle>
            <a:lvl1pPr algn="r">
              <a:defRPr sz="1300">
                <a:latin typeface="12롯데마트드림Bold" panose="02020603020101020101" pitchFamily="18" charset="-127"/>
              </a:defRPr>
            </a:lvl1pPr>
          </a:lstStyle>
          <a:p>
            <a:fld id="{B86E2F54-72BD-6E42-AEBA-33695E9DE06A}" type="datetimeFigureOut">
              <a:rPr lang="en-KR" smtClean="0"/>
              <a:pPr/>
              <a:t>09/17/2026</a:t>
            </a:fld>
            <a:endParaRPr lang="en-K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9" tIns="49520" rIns="99039" bIns="49520" rtlCol="0" anchor="ctr"/>
          <a:lstStyle/>
          <a:p>
            <a:endParaRPr lang="en-K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1"/>
            <a:ext cx="5683250" cy="4029879"/>
          </a:xfrm>
          <a:prstGeom prst="rect">
            <a:avLst/>
          </a:prstGeom>
        </p:spPr>
        <p:txBody>
          <a:bodyPr vert="horz" lIns="99039" tIns="49520" rIns="99039" bIns="495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l">
              <a:defRPr sz="1300">
                <a:latin typeface="12롯데마트드림Bold" panose="02020603020101020101" pitchFamily="18" charset="-127"/>
              </a:defRPr>
            </a:lvl1pPr>
          </a:lstStyle>
          <a:p>
            <a:endParaRPr lang="en-K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39" tIns="49520" rIns="99039" bIns="49520" rtlCol="0" anchor="b"/>
          <a:lstStyle>
            <a:lvl1pPr algn="r">
              <a:defRPr sz="1300">
                <a:latin typeface="12롯데마트드림Bold" panose="02020603020101020101" pitchFamily="18" charset="-127"/>
              </a:defRPr>
            </a:lvl1pPr>
          </a:lstStyle>
          <a:p>
            <a:fld id="{4563FB02-C4B1-5640-BDA0-815292349273}" type="slidenum">
              <a:rPr lang="en-KR" smtClean="0"/>
              <a:pPr/>
              <a:t>‹#›</a:t>
            </a:fld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2927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12롯데마트드림Bold" panose="02020603020101020101" pitchFamily="18" charset="-12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EF8A8-4175-A74C-BC57-4E521DAE3076}" type="datetimeFigureOut">
              <a:rPr lang="en-KR" smtClean="0"/>
              <a:t>09/17/2026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465EA-CDEC-9F4B-A010-46B24FB0110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765845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목차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background with many lines&#10;&#10;AI-generated content may be incorrect.">
            <a:extLst>
              <a:ext uri="{FF2B5EF4-FFF2-40B4-BE49-F238E27FC236}">
                <a16:creationId xmlns:a16="http://schemas.microsoft.com/office/drawing/2014/main" id="{E46BFB2A-D3E3-1988-0826-A62EFF769F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51000"/>
          </a:blip>
          <a:srcRect l="23064"/>
          <a:stretch/>
        </p:blipFill>
        <p:spPr>
          <a:xfrm>
            <a:off x="1" y="0"/>
            <a:ext cx="9380107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9BD490-65BD-A1DF-FD80-8CE57CE3D033}"/>
              </a:ext>
            </a:extLst>
          </p:cNvPr>
          <p:cNvSpPr/>
          <p:nvPr userDrawn="1"/>
        </p:nvSpPr>
        <p:spPr>
          <a:xfrm>
            <a:off x="0" y="6635413"/>
            <a:ext cx="12192000" cy="222587"/>
          </a:xfrm>
          <a:prstGeom prst="rect">
            <a:avLst/>
          </a:prstGeom>
          <a:solidFill>
            <a:schemeClr val="tx1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36CC81-4EAC-80DA-7B8E-AAB7CDEED1BD}"/>
              </a:ext>
            </a:extLst>
          </p:cNvPr>
          <p:cNvSpPr/>
          <p:nvPr userDrawn="1"/>
        </p:nvSpPr>
        <p:spPr>
          <a:xfrm>
            <a:off x="0" y="6812286"/>
            <a:ext cx="12192000" cy="457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D6AB0EDE-1AAE-327B-32A0-6CAF21FB07B0}"/>
              </a:ext>
            </a:extLst>
          </p:cNvPr>
          <p:cNvSpPr/>
          <p:nvPr userDrawn="1"/>
        </p:nvSpPr>
        <p:spPr>
          <a:xfrm>
            <a:off x="11832000" y="6635413"/>
            <a:ext cx="3600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E88D076-0591-2285-3ED6-1EDA9406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6320"/>
            <a:ext cx="2743200" cy="365125"/>
          </a:xfrm>
          <a:prstGeom prst="rect">
            <a:avLst/>
          </a:prstGeom>
        </p:spPr>
        <p:txBody>
          <a:bodyPr/>
          <a:lstStyle/>
          <a:p>
            <a:fld id="{E1DA906B-CB66-1048-98AE-AAE046A9E502}" type="slidenum">
              <a:rPr lang="en-KR" smtClean="0"/>
              <a:pPr/>
              <a:t>‹#›</a:t>
            </a:fld>
            <a:endParaRPr lang="en-KR"/>
          </a:p>
        </p:txBody>
      </p:sp>
      <p:sp>
        <p:nvSpPr>
          <p:cNvPr id="12" name="Round Diagonal Corner Rectangle 17">
            <a:extLst>
              <a:ext uri="{FF2B5EF4-FFF2-40B4-BE49-F238E27FC236}">
                <a16:creationId xmlns:a16="http://schemas.microsoft.com/office/drawing/2014/main" id="{EE63A46E-225A-962A-89B1-6CED782929EA}"/>
              </a:ext>
            </a:extLst>
          </p:cNvPr>
          <p:cNvSpPr/>
          <p:nvPr userDrawn="1"/>
        </p:nvSpPr>
        <p:spPr>
          <a:xfrm flipH="1">
            <a:off x="-4" y="6635413"/>
            <a:ext cx="2864648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155"/>
            <a:endParaRPr lang="en-KR" sz="1800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EE78DA-40D7-951A-3166-C8E44AE31029}"/>
              </a:ext>
            </a:extLst>
          </p:cNvPr>
          <p:cNvSpPr txBox="1"/>
          <p:nvPr userDrawn="1"/>
        </p:nvSpPr>
        <p:spPr>
          <a:xfrm>
            <a:off x="-11998" y="6635314"/>
            <a:ext cx="2936173" cy="236915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>
              <a:defRPr/>
            </a:pP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인공지능 플러스 </a:t>
            </a:r>
            <a:r>
              <a:rPr kumimoji="1" lang="en-US" altLang="ko-KR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K</a:t>
            </a:r>
            <a:r>
              <a:rPr kumimoji="1" lang="ko-KR" altLang="en-US" sz="1067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건설인프라</a:t>
            </a: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</a:t>
            </a:r>
            <a:r>
              <a:rPr kumimoji="1" lang="ko-KR" altLang="en-US" sz="1067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레질리언스</a:t>
            </a:r>
            <a:r>
              <a:rPr kumimoji="1" lang="ko-KR" altLang="en-US" sz="1067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연구센터 </a:t>
            </a:r>
          </a:p>
        </p:txBody>
      </p:sp>
    </p:spTree>
    <p:extLst>
      <p:ext uri="{BB962C8B-B14F-4D97-AF65-F5344CB8AC3E}">
        <p14:creationId xmlns:p14="http://schemas.microsoft.com/office/powerpoint/2010/main" val="151173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5F6B0B0-CC67-00A4-D1D4-FFFFAD144F76}"/>
              </a:ext>
            </a:extLst>
          </p:cNvPr>
          <p:cNvSpPr/>
          <p:nvPr userDrawn="1"/>
        </p:nvSpPr>
        <p:spPr>
          <a:xfrm>
            <a:off x="0" y="0"/>
            <a:ext cx="12192000" cy="624691"/>
          </a:xfrm>
          <a:prstGeom prst="rect">
            <a:avLst/>
          </a:prstGeom>
          <a:solidFill>
            <a:srgbClr val="10171E">
              <a:lumMod val="10000"/>
              <a:lumOff val="90000"/>
              <a:alpha val="34000"/>
            </a:srgbClr>
          </a:solidFill>
          <a:ln w="1905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K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31DA194-CBAB-3778-F334-8CFC0F22B433}"/>
              </a:ext>
            </a:extLst>
          </p:cNvPr>
          <p:cNvSpPr/>
          <p:nvPr userDrawn="1"/>
        </p:nvSpPr>
        <p:spPr>
          <a:xfrm>
            <a:off x="0" y="588691"/>
            <a:ext cx="12192000" cy="36000"/>
          </a:xfrm>
          <a:prstGeom prst="roundRect">
            <a:avLst>
              <a:gd name="adj" fmla="val 0"/>
            </a:avLst>
          </a:prstGeom>
          <a:solidFill>
            <a:srgbClr val="10171E">
              <a:lumMod val="10000"/>
              <a:lumOff val="9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K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094134B1-D98C-B7C2-0CB9-BF20FB716CF3}"/>
              </a:ext>
            </a:extLst>
          </p:cNvPr>
          <p:cNvSpPr/>
          <p:nvPr userDrawn="1"/>
        </p:nvSpPr>
        <p:spPr>
          <a:xfrm rot="5400000">
            <a:off x="21379" y="-63640"/>
            <a:ext cx="479045" cy="897623"/>
          </a:xfrm>
          <a:prstGeom prst="round2SameRect">
            <a:avLst>
              <a:gd name="adj1" fmla="val 12189"/>
              <a:gd name="adj2" fmla="val 0"/>
            </a:avLst>
          </a:prstGeom>
          <a:solidFill>
            <a:schemeClr val="tx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457155"/>
            <a:endParaRPr lang="en-KR" kern="0" noProof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62B8B964-5829-35DA-FFE9-B75B4560FED1}"/>
              </a:ext>
            </a:extLst>
          </p:cNvPr>
          <p:cNvSpPr/>
          <p:nvPr userDrawn="1"/>
        </p:nvSpPr>
        <p:spPr>
          <a:xfrm rot="5400000">
            <a:off x="238265" y="162517"/>
            <a:ext cx="36000" cy="888348"/>
          </a:xfrm>
          <a:custGeom>
            <a:avLst/>
            <a:gdLst>
              <a:gd name="connsiteX0" fmla="*/ 0 w 36000"/>
              <a:gd name="connsiteY0" fmla="*/ 888348 h 888348"/>
              <a:gd name="connsiteX1" fmla="*/ 0 w 36000"/>
              <a:gd name="connsiteY1" fmla="*/ 0 h 888348"/>
              <a:gd name="connsiteX2" fmla="*/ 18901 w 36000"/>
              <a:gd name="connsiteY2" fmla="*/ 7829 h 888348"/>
              <a:gd name="connsiteX3" fmla="*/ 31414 w 36000"/>
              <a:gd name="connsiteY3" fmla="*/ 26390 h 888348"/>
              <a:gd name="connsiteX4" fmla="*/ 36000 w 36000"/>
              <a:gd name="connsiteY4" fmla="*/ 49103 h 888348"/>
              <a:gd name="connsiteX5" fmla="*/ 36000 w 36000"/>
              <a:gd name="connsiteY5" fmla="*/ 888348 h 888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000" h="888348">
                <a:moveTo>
                  <a:pt x="0" y="888348"/>
                </a:moveTo>
                <a:lnTo>
                  <a:pt x="0" y="0"/>
                </a:lnTo>
                <a:lnTo>
                  <a:pt x="18901" y="7829"/>
                </a:lnTo>
                <a:cubicBezTo>
                  <a:pt x="24184" y="13113"/>
                  <a:pt x="28460" y="19404"/>
                  <a:pt x="31414" y="26390"/>
                </a:cubicBezTo>
                <a:lnTo>
                  <a:pt x="36000" y="49103"/>
                </a:lnTo>
                <a:lnTo>
                  <a:pt x="36000" y="888348"/>
                </a:lnTo>
                <a:close/>
              </a:path>
            </a:pathLst>
          </a:custGeom>
          <a:solidFill>
            <a:schemeClr val="tx2">
              <a:lumMod val="50000"/>
              <a:alpha val="5519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lvl="0" algn="ctr" defTabSz="457155"/>
            <a:endParaRPr lang="en-KR" kern="0" noProof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F4A933-FE4E-10C0-1A56-8DB6665D3458}"/>
              </a:ext>
            </a:extLst>
          </p:cNvPr>
          <p:cNvSpPr/>
          <p:nvPr userDrawn="1"/>
        </p:nvSpPr>
        <p:spPr>
          <a:xfrm>
            <a:off x="0" y="6635413"/>
            <a:ext cx="12192000" cy="222587"/>
          </a:xfrm>
          <a:prstGeom prst="rect">
            <a:avLst/>
          </a:prstGeom>
          <a:solidFill>
            <a:schemeClr val="tx1">
              <a:lumMod val="10000"/>
              <a:lumOff val="9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D5E9E3-8815-B25B-782F-CF437DFB69C5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4" name="Round Diagonal Corner Rectangle 33">
            <a:extLst>
              <a:ext uri="{FF2B5EF4-FFF2-40B4-BE49-F238E27FC236}">
                <a16:creationId xmlns:a16="http://schemas.microsoft.com/office/drawing/2014/main" id="{1546BE10-9EC5-7A70-9059-5FDBB17D1541}"/>
              </a:ext>
            </a:extLst>
          </p:cNvPr>
          <p:cNvSpPr/>
          <p:nvPr userDrawn="1"/>
        </p:nvSpPr>
        <p:spPr>
          <a:xfrm>
            <a:off x="11832000" y="6635413"/>
            <a:ext cx="3600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A4F33486-4A06-6DB5-84CE-54833F86A165}"/>
              </a:ext>
            </a:extLst>
          </p:cNvPr>
          <p:cNvSpPr txBox="1">
            <a:spLocks/>
          </p:cNvSpPr>
          <p:nvPr userDrawn="1"/>
        </p:nvSpPr>
        <p:spPr>
          <a:xfrm>
            <a:off x="9448800" y="65641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DA906B-CB66-1048-98AE-AAE046A9E502}" type="slidenum">
              <a:rPr lang="en-KR" smtClean="0"/>
              <a:pPr/>
              <a:t>‹#›</a:t>
            </a:fld>
            <a:endParaRPr lang="en-KR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96175194-B9B3-FECC-547B-79C942CAA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713" y="127208"/>
            <a:ext cx="9188772" cy="465385"/>
          </a:xfrm>
        </p:spPr>
        <p:txBody>
          <a:bodyPr anchor="b">
            <a:normAutofit/>
          </a:bodyPr>
          <a:lstStyle>
            <a:lvl1pPr>
              <a:defRPr kumimoji="0" lang="en-KR" sz="1900" b="1" i="0" u="none" strike="noStrike" kern="1200" cap="none" spc="0" normalizeH="0" baseline="0" dirty="0">
                <a:ln>
                  <a:noFill/>
                </a:ln>
                <a:solidFill>
                  <a:srgbClr val="373D47"/>
                </a:solidFill>
                <a:effectLst/>
                <a:uLnTx/>
                <a:uFillTx/>
                <a:latin typeface="Paperlogy 7 Bold" pitchFamily="2" charset="-127"/>
                <a:ea typeface="Paperlogy 7 Bold" pitchFamily="2" charset="-127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페이지 타이틀</a:t>
            </a:r>
            <a:endParaRPr lang="en-KR" dirty="0"/>
          </a:p>
        </p:txBody>
      </p:sp>
      <p:sp>
        <p:nvSpPr>
          <p:cNvPr id="39" name="Round Diagonal Corner Rectangle 38">
            <a:extLst>
              <a:ext uri="{FF2B5EF4-FFF2-40B4-BE49-F238E27FC236}">
                <a16:creationId xmlns:a16="http://schemas.microsoft.com/office/drawing/2014/main" id="{0C16CA44-2417-8527-CD45-E3DEBB1290A2}"/>
              </a:ext>
            </a:extLst>
          </p:cNvPr>
          <p:cNvSpPr/>
          <p:nvPr userDrawn="1"/>
        </p:nvSpPr>
        <p:spPr>
          <a:xfrm flipH="1">
            <a:off x="-2" y="6635413"/>
            <a:ext cx="2743200" cy="222587"/>
          </a:xfrm>
          <a:prstGeom prst="round2DiagRect">
            <a:avLst>
              <a:gd name="adj1" fmla="val 32819"/>
              <a:gd name="adj2" fmla="val 0"/>
            </a:avLst>
          </a:prstGeom>
          <a:solidFill>
            <a:schemeClr val="tx1">
              <a:lumMod val="10000"/>
              <a:lumOff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/>
            <a:endParaRPr lang="en-KR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0F641F-5269-9EB0-7EAB-3DEDB0FDD2B3}"/>
              </a:ext>
            </a:extLst>
          </p:cNvPr>
          <p:cNvSpPr txBox="1"/>
          <p:nvPr userDrawn="1"/>
        </p:nvSpPr>
        <p:spPr>
          <a:xfrm>
            <a:off x="-11998" y="6625586"/>
            <a:ext cx="2743200" cy="226591"/>
          </a:xfrm>
          <a:prstGeom prst="rect">
            <a:avLst/>
          </a:prstGeom>
          <a:noFill/>
        </p:spPr>
        <p:txBody>
          <a:bodyPr wrap="square" lIns="72000" tIns="36000" rIns="72000" bIns="3600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인공지능 플러스 </a:t>
            </a:r>
            <a:r>
              <a: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K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건설인프라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</a:t>
            </a:r>
            <a:r>
              <a:rPr kumimoji="1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레질리언스</a:t>
            </a: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Paperlogy 4 Regular" pitchFamily="2" charset="-127"/>
                <a:ea typeface="Paperlogy 4 Regular" pitchFamily="2" charset="-127"/>
                <a:cs typeface="Pretendard" panose="02000503000000020004" pitchFamily="50" charset="-127"/>
              </a:rPr>
              <a:t> 연구센터 </a:t>
            </a:r>
          </a:p>
        </p:txBody>
      </p:sp>
      <p:pic>
        <p:nvPicPr>
          <p:cNvPr id="5" name="그림 4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E6688C-5B2C-E1DE-498F-DD8F05D318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573" b="6791"/>
          <a:stretch>
            <a:fillRect/>
          </a:stretch>
        </p:blipFill>
        <p:spPr>
          <a:xfrm>
            <a:off x="11045634" y="0"/>
            <a:ext cx="1146366" cy="5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17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F29C-DF81-4046-ACF8-D5C3F487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6AF9-4982-4C31-97AE-D209C6AEA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B8DF1-F1BB-42EA-BF89-835255F5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9F0E3-C562-498F-826B-D316EB0C04CD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5DADF-35E3-47B4-B06B-AC7A0B5D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03F33-8C12-4C31-85E0-493C6B01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C6E0-099D-428C-8CCD-C52AB5491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533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365125"/>
            <a:ext cx="11591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7" y="1825625"/>
            <a:ext cx="11591925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EF8A8-4175-A74C-BC57-4E521DAE3076}" type="datetimeFigureOut">
              <a:rPr lang="en-KR" smtClean="0"/>
              <a:t>09/17/2026</a:t>
            </a:fld>
            <a:endParaRPr lang="en-K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0465EA-CDEC-9F4B-A010-46B24FB0110C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4439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744" r:id="rId2"/>
    <p:sldLayoutId id="2147483704" r:id="rId3"/>
    <p:sldLayoutId id="2147483745" r:id="rId4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Paperlogy 5 Medium" pitchFamily="2" charset="-127"/>
          <a:ea typeface="Paperlogy 5 Medium" pitchFamily="2" charset="-127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 userDrawn="1">
          <p15:clr>
            <a:srgbClr val="F26B43"/>
          </p15:clr>
        </p15:guide>
        <p15:guide id="2" pos="7491" userDrawn="1">
          <p15:clr>
            <a:srgbClr val="F26B43"/>
          </p15:clr>
        </p15:guide>
        <p15:guide id="3" orient="horz" pos="52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Relationship Id="rId7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91695" cy="2103120"/>
          </a:xfrm>
          <a:prstGeom prst="rect">
            <a:avLst/>
          </a:prstGeom>
          <a:solidFill>
            <a:srgbClr val="053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6656" y="0"/>
            <a:ext cx="256032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936224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위성 InSAR · PINN 기반 교량 변위 모니터링 플랫폼</a:t>
            </a:r>
          </a:p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Inframon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24912"/>
            <a:ext cx="10936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좌표 하나로 위성 → 변위 → AI 해석 → 디지털 트윈 → B-Maps 까지 자동으로 잇는다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10936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KICT B-Maps 연계 · 2026 KAIA 자문회의 · 강원대학교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3456432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45643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3474720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연구개발과제의 필요성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739896"/>
            <a:ext cx="8138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교량 유지관리 현황과 한계 · 위성 InSAR 와 B-Maps 연계의 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3474720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4023360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4078224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0782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4096512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연구성과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361688"/>
            <a:ext cx="8138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최종 목표 · 세부 목표 · 성과 지표와 지금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5560" y="4096512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645152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0" y="4700016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70001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718304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연구수행 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983480"/>
            <a:ext cx="8138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① Inframon 플랫폼 구성   ② 한강 교량 실증 · 디지털 트윈   ③ B-Maps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4718304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4 –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5266944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5321808"/>
            <a:ext cx="530352" cy="53035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32180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34009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향후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605272"/>
            <a:ext cx="8138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단계별 추진 계획 · KICT 자료 요청 · 기대 효과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534009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888736"/>
            <a:ext cx="9875520" cy="5486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1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6126480"/>
            <a:ext cx="1225296" cy="393192"/>
          </a:xfrm>
          <a:prstGeom prst="rect">
            <a:avLst/>
          </a:prstGeom>
        </p:spPr>
      </p:pic>
      <p:pic>
        <p:nvPicPr>
          <p:cNvPr id="32" name="Picture 31" descr="s1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616" y="6153912"/>
            <a:ext cx="1801368" cy="320040"/>
          </a:xfrm>
          <a:prstGeom prst="rect">
            <a:avLst/>
          </a:prstGeom>
        </p:spPr>
      </p:pic>
      <p:pic>
        <p:nvPicPr>
          <p:cNvPr id="33" name="Picture 32" descr="s1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6153912"/>
            <a:ext cx="1746504" cy="374904"/>
          </a:xfrm>
          <a:prstGeom prst="rect">
            <a:avLst/>
          </a:prstGeom>
        </p:spPr>
      </p:pic>
      <p:pic>
        <p:nvPicPr>
          <p:cNvPr id="34" name="Picture 33" descr="s1_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6172200"/>
            <a:ext cx="1901952" cy="365760"/>
          </a:xfrm>
          <a:prstGeom prst="rect">
            <a:avLst/>
          </a:prstGeom>
        </p:spPr>
      </p:pic>
      <p:pic>
        <p:nvPicPr>
          <p:cNvPr id="35" name="Picture 34" descr="s1_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5512" y="6035040"/>
            <a:ext cx="2002536" cy="512064"/>
          </a:xfrm>
          <a:prstGeom prst="rect">
            <a:avLst/>
          </a:prstGeom>
        </p:spPr>
      </p:pic>
      <p:pic>
        <p:nvPicPr>
          <p:cNvPr id="36" name="Picture 35" descr="s1_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0072" y="6236208"/>
            <a:ext cx="2203704" cy="29260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6556248"/>
            <a:ext cx="12191695" cy="265176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556248"/>
            <a:ext cx="12191695" cy="265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[소관부처] 국토교통부 │ [전문기관] 국토교통과학기술진흥원 │ [주관연구개발기관] 강원대학교 │ [공동연구개발기관] 스마트인사이드에이아이 │ [자문/협력기관] 한국건설기술연구원(KICT), 지티에스엔지니어링(GTS)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연구개발과제의 필요성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588" y="9144"/>
            <a:ext cx="1750162" cy="373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4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4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현장 계측은 일부 교량·지점에 머문다 — 위성으로 전 교량의 변위 이력을 채우고 B-Maps 에 연결해야 한다</a:t>
            </a:r>
            <a:endParaRPr lang="en-US" sz="1450" dirty="0"/>
          </a:p>
        </p:txBody>
      </p:sp>
      <p:sp>
        <p:nvSpPr>
          <p:cNvPr id="2476" name="Shape 19"/>
          <p:cNvSpPr/>
          <p:nvPr/>
        </p:nvSpPr>
        <p:spPr>
          <a:xfrm>
            <a:off x="411480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480" name="Shape 20"/>
          <p:cNvSpPr/>
          <p:nvPr/>
        </p:nvSpPr>
        <p:spPr>
          <a:xfrm>
            <a:off x="1005840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2484" name="Text 21"/>
          <p:cNvSpPr txBox="1"/>
          <p:nvPr/>
        </p:nvSpPr>
        <p:spPr>
          <a:xfrm>
            <a:off x="1005840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유지관리 현황과 한계</a:t>
            </a:r>
            <a:endParaRPr lang="en-US" sz="1150" dirty="0"/>
          </a:p>
        </p:txBody>
      </p:sp>
      <p:sp>
        <p:nvSpPr>
          <p:cNvPr id="2488" name="Text 22"/>
          <p:cNvSpPr txBox="1"/>
          <p:nvPr/>
        </p:nvSpPr>
        <p:spPr>
          <a:xfrm>
            <a:off x="640080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상시 계측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센서를 붙인 교량·지점만 본다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정기 점검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점검과 점검 사이는 관측 공백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센서 미설치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성수·한강대교도 처짐(경사) 센서 없음</a:t>
            </a:r>
            <a:endParaRPr lang="en-US" sz="1200" dirty="0"/>
          </a:p>
        </p:txBody>
      </p:sp>
      <p:sp>
        <p:nvSpPr>
          <p:cNvPr id="2492" name="Shape 23"/>
          <p:cNvSpPr/>
          <p:nvPr/>
        </p:nvSpPr>
        <p:spPr>
          <a:xfrm>
            <a:off x="4311396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496" name="Shape 24"/>
          <p:cNvSpPr/>
          <p:nvPr/>
        </p:nvSpPr>
        <p:spPr>
          <a:xfrm>
            <a:off x="4905756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500" name="Text 25"/>
          <p:cNvSpPr txBox="1"/>
          <p:nvPr/>
        </p:nvSpPr>
        <p:spPr>
          <a:xfrm>
            <a:off x="4905756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위성 InSAR 의 필요성</a:t>
            </a:r>
            <a:endParaRPr lang="en-US" sz="1150" dirty="0"/>
          </a:p>
        </p:txBody>
      </p:sp>
      <p:sp>
        <p:nvSpPr>
          <p:cNvPr id="2504" name="Text 26"/>
          <p:cNvSpPr txBox="1"/>
          <p:nvPr/>
        </p:nvSpPr>
        <p:spPr>
          <a:xfrm>
            <a:off x="4539996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소급 관측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2018년부터 쌓인 공개 위성자료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무설치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교량에 장비를 달지 않는다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확장성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비용이 교량 수에 비례하지 않는다</a:t>
            </a:r>
            <a:endParaRPr lang="en-US" sz="1200" dirty="0"/>
          </a:p>
        </p:txBody>
      </p:sp>
      <p:sp>
        <p:nvSpPr>
          <p:cNvPr id="2508" name="Shape 27"/>
          <p:cNvSpPr/>
          <p:nvPr/>
        </p:nvSpPr>
        <p:spPr>
          <a:xfrm>
            <a:off x="8211312" y="13716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12" name="Shape 28"/>
          <p:cNvSpPr/>
          <p:nvPr/>
        </p:nvSpPr>
        <p:spPr>
          <a:xfrm>
            <a:off x="8805672" y="1225296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p/>
        </p:txBody>
      </p:sp>
      <p:sp>
        <p:nvSpPr>
          <p:cNvPr id="2516" name="Text 29"/>
          <p:cNvSpPr txBox="1"/>
          <p:nvPr/>
        </p:nvSpPr>
        <p:spPr>
          <a:xfrm>
            <a:off x="8805672" y="122529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B-Maps 연계의 필요성</a:t>
            </a:r>
            <a:endParaRPr lang="en-US" sz="1150" dirty="0"/>
          </a:p>
        </p:txBody>
      </p:sp>
      <p:sp>
        <p:nvSpPr>
          <p:cNvPr id="2520" name="Text 30"/>
          <p:cNvSpPr txBox="1"/>
          <p:nvPr/>
        </p:nvSpPr>
        <p:spPr>
          <a:xfrm>
            <a:off x="8439912" y="1755648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공간 + 시간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자산·도면에 변위 이력을 더한다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부재 단위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 GUID 로 결과를 묶는다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서비스화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노후도·안정성 판단에 바로 투입</a:t>
            </a:r>
            <a:endParaRPr lang="en-US" sz="1200" dirty="0"/>
          </a:p>
        </p:txBody>
      </p:sp>
      <p:sp>
        <p:nvSpPr>
          <p:cNvPr id="2524" name="Shape 31"/>
          <p:cNvSpPr/>
          <p:nvPr/>
        </p:nvSpPr>
        <p:spPr>
          <a:xfrm>
            <a:off x="41148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28" name="Text 32"/>
          <p:cNvSpPr txBox="1"/>
          <p:nvPr/>
        </p:nvSpPr>
        <p:spPr>
          <a:xfrm>
            <a:off x="59436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7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년치</a:t>
            </a:r>
            <a:endParaRPr lang="en-US" sz="1100" dirty="0"/>
          </a:p>
        </p:txBody>
      </p:sp>
      <p:sp>
        <p:nvSpPr>
          <p:cNvPr id="2532" name="Text 33"/>
          <p:cNvSpPr txBox="1"/>
          <p:nvPr/>
        </p:nvSpPr>
        <p:spPr>
          <a:xfrm>
            <a:off x="59436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2018년 6월부터 쌓인 위성 관측</a:t>
            </a:r>
            <a:endParaRPr lang="en-US" sz="1000" dirty="0"/>
          </a:p>
        </p:txBody>
      </p:sp>
      <p:sp>
        <p:nvSpPr>
          <p:cNvPr id="2536" name="Shape 34"/>
          <p:cNvSpPr/>
          <p:nvPr/>
        </p:nvSpPr>
        <p:spPr>
          <a:xfrm>
            <a:off x="329184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40" name="Text 35"/>
          <p:cNvSpPr txBox="1"/>
          <p:nvPr/>
        </p:nvSpPr>
        <p:spPr>
          <a:xfrm>
            <a:off x="347472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일</a:t>
            </a:r>
            <a:endParaRPr lang="en-US" sz="1100" dirty="0"/>
          </a:p>
        </p:txBody>
      </p:sp>
      <p:sp>
        <p:nvSpPr>
          <p:cNvPr id="2544" name="Text 36"/>
          <p:cNvSpPr txBox="1"/>
          <p:nvPr/>
        </p:nvSpPr>
        <p:spPr>
          <a:xfrm>
            <a:off x="347472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재방문 주기 — 사람이 가지 않아도 갱신</a:t>
            </a:r>
            <a:endParaRPr lang="en-US" sz="1000" dirty="0"/>
          </a:p>
        </p:txBody>
      </p:sp>
      <p:sp>
        <p:nvSpPr>
          <p:cNvPr id="2548" name="Shape 37"/>
          <p:cNvSpPr/>
          <p:nvPr/>
        </p:nvSpPr>
        <p:spPr>
          <a:xfrm>
            <a:off x="617220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52" name="Text 38"/>
          <p:cNvSpPr txBox="1"/>
          <p:nvPr/>
        </p:nvSpPr>
        <p:spPr>
          <a:xfrm>
            <a:off x="635508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2556" name="Text 39"/>
          <p:cNvSpPr txBox="1"/>
          <p:nvPr/>
        </p:nvSpPr>
        <p:spPr>
          <a:xfrm>
            <a:off x="635508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현장 설치 장비 — 교량에 손대지 않는다</a:t>
            </a:r>
            <a:endParaRPr lang="en-US" sz="1000" dirty="0"/>
          </a:p>
        </p:txBody>
      </p:sp>
      <p:sp>
        <p:nvSpPr>
          <p:cNvPr id="2560" name="Shape 40"/>
          <p:cNvSpPr/>
          <p:nvPr/>
        </p:nvSpPr>
        <p:spPr>
          <a:xfrm>
            <a:off x="9052560" y="3657600"/>
            <a:ext cx="2724912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64" name="Text 41"/>
          <p:cNvSpPr txBox="1"/>
          <p:nvPr/>
        </p:nvSpPr>
        <p:spPr>
          <a:xfrm>
            <a:off x="9235440" y="3767328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전량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무상</a:t>
            </a:r>
            <a:endParaRPr lang="en-US" sz="1100" dirty="0"/>
          </a:p>
        </p:txBody>
      </p:sp>
      <p:sp>
        <p:nvSpPr>
          <p:cNvPr id="2568" name="Text 42"/>
          <p:cNvSpPr txBox="1"/>
          <p:nvPr/>
        </p:nvSpPr>
        <p:spPr>
          <a:xfrm>
            <a:off x="9235440" y="4261104"/>
            <a:ext cx="2404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Sentinel-1 공개 위성자료</a:t>
            </a:r>
            <a:endParaRPr lang="en-US" sz="1000" dirty="0"/>
          </a:p>
        </p:txBody>
      </p:sp>
      <p:graphicFrame>
        <p:nvGraphicFramePr>
          <p:cNvPr id="25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937760"/>
          <a:ext cx="11365992" cy="13167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구분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지금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위성 InSAR · B-Maps 연계 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계측기가 달린 교량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상시 감시 — 센서를 붙인 지점만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위성으로 교차검증 · 나머지 구간까지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계측기가 없는 교량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점검 간 날에만 판단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12일마다 전 구간 변위 갱신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과거 이력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점검 기록이 전부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2018년 6월까지 소급해 다시 본다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76" name="Text 43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센서 미설치 항목은 2024 한강교량 온라인 안전감시시스템 유지관리 최종보고 기준. 위성 관측 기간은 실제 처리한 Sentinel-1 스택(2018-06-19 ~ 2025-12-27).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연구성과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588" y="9144"/>
            <a:ext cx="1750162" cy="373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6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6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InSAR · PINN 기반 교량 변위 모니터링 플랫폼(Inframon)을 개발하고 B-Maps 에 연계한다</a:t>
            </a:r>
            <a:endParaRPr lang="en-US" sz="1450" dirty="0"/>
          </a:p>
        </p:txBody>
      </p:sp>
      <p:sp>
        <p:nvSpPr>
          <p:cNvPr id="2676" name="Shape 19"/>
          <p:cNvSpPr/>
          <p:nvPr/>
        </p:nvSpPr>
        <p:spPr>
          <a:xfrm>
            <a:off x="411480" y="1261872"/>
            <a:ext cx="11365992" cy="804672"/>
          </a:xfrm>
          <a:prstGeom prst="roundRect">
            <a:avLst>
              <a:gd name="adj" fmla="val 6818"/>
            </a:avLst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p/>
        </p:txBody>
      </p:sp>
      <p:sp>
        <p:nvSpPr>
          <p:cNvPr id="2680" name="Shape 20"/>
          <p:cNvSpPr/>
          <p:nvPr/>
        </p:nvSpPr>
        <p:spPr>
          <a:xfrm>
            <a:off x="640080" y="1517904"/>
            <a:ext cx="118872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p/>
        </p:txBody>
      </p:sp>
      <p:sp>
        <p:nvSpPr>
          <p:cNvPr id="2684" name="Text 21"/>
          <p:cNvSpPr txBox="1"/>
          <p:nvPr/>
        </p:nvSpPr>
        <p:spPr>
          <a:xfrm>
            <a:off x="640080" y="1517904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최종 목표</a:t>
            </a:r>
            <a:endParaRPr lang="en-US" sz="1100" dirty="0"/>
          </a:p>
        </p:txBody>
      </p:sp>
      <p:sp>
        <p:nvSpPr>
          <p:cNvPr id="2688" name="Text 22"/>
          <p:cNvSpPr txBox="1"/>
          <p:nvPr/>
        </p:nvSpPr>
        <p:spPr>
          <a:xfrm>
            <a:off x="2011680" y="1261872"/>
            <a:ext cx="9601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계측기가 없는 교량까지 위성 변위로 상태를 파악하는 지능형 유지관리 체계 — Inframon 개발 및 B-Maps 연계</a:t>
            </a:r>
            <a:endParaRPr lang="en-US" sz="1500" dirty="0"/>
          </a:p>
        </p:txBody>
      </p:sp>
      <p:sp>
        <p:nvSpPr>
          <p:cNvPr id="2692" name="Shape 23"/>
          <p:cNvSpPr/>
          <p:nvPr/>
        </p:nvSpPr>
        <p:spPr>
          <a:xfrm>
            <a:off x="41148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696" name="Shape 24"/>
          <p:cNvSpPr/>
          <p:nvPr/>
        </p:nvSpPr>
        <p:spPr>
          <a:xfrm>
            <a:off x="59436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00" name="Text 25"/>
          <p:cNvSpPr txBox="1"/>
          <p:nvPr/>
        </p:nvSpPr>
        <p:spPr>
          <a:xfrm>
            <a:off x="5943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300" dirty="0"/>
          </a:p>
        </p:txBody>
      </p:sp>
      <p:sp>
        <p:nvSpPr>
          <p:cNvPr id="2704" name="Text 26"/>
          <p:cNvSpPr txBox="1"/>
          <p:nvPr/>
        </p:nvSpPr>
        <p:spPr>
          <a:xfrm>
            <a:off x="109728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변위 자동 산출</a:t>
            </a:r>
            <a:endParaRPr lang="en-US" sz="1350" dirty="0"/>
          </a:p>
        </p:txBody>
      </p:sp>
      <p:sp>
        <p:nvSpPr>
          <p:cNvPr id="2708" name="Text 27"/>
          <p:cNvSpPr txBox="1"/>
          <p:nvPr/>
        </p:nvSpPr>
        <p:spPr>
          <a:xfrm>
            <a:off x="59436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 1개로 Sentinel-1 수집부터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변위 시계열까지</a:t>
            </a:r>
            <a:endParaRPr lang="en-US" sz="1050" dirty="0"/>
          </a:p>
        </p:txBody>
      </p:sp>
      <p:sp>
        <p:nvSpPr>
          <p:cNvPr id="2712" name="Shape 28"/>
          <p:cNvSpPr/>
          <p:nvPr/>
        </p:nvSpPr>
        <p:spPr>
          <a:xfrm>
            <a:off x="329184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16" name="Shape 29"/>
          <p:cNvSpPr/>
          <p:nvPr/>
        </p:nvSpPr>
        <p:spPr>
          <a:xfrm>
            <a:off x="347472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20" name="Text 30"/>
          <p:cNvSpPr txBox="1"/>
          <p:nvPr/>
        </p:nvSpPr>
        <p:spPr>
          <a:xfrm>
            <a:off x="347472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300" dirty="0"/>
          </a:p>
        </p:txBody>
      </p:sp>
      <p:sp>
        <p:nvSpPr>
          <p:cNvPr id="2724" name="Text 31"/>
          <p:cNvSpPr txBox="1"/>
          <p:nvPr/>
        </p:nvSpPr>
        <p:spPr>
          <a:xfrm>
            <a:off x="397764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물리 기반 AI 해석</a:t>
            </a:r>
            <a:endParaRPr lang="en-US" sz="1350" dirty="0"/>
          </a:p>
        </p:txBody>
      </p:sp>
      <p:sp>
        <p:nvSpPr>
          <p:cNvPr id="2728" name="Text 32"/>
          <p:cNvSpPr txBox="1"/>
          <p:nvPr/>
        </p:nvSpPr>
        <p:spPr>
          <a:xfrm>
            <a:off x="347472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PINN 으로 열·하중·침하 성분 분리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 지수(CRI) 산출</a:t>
            </a:r>
            <a:endParaRPr lang="en-US" sz="1050" dirty="0"/>
          </a:p>
        </p:txBody>
      </p:sp>
      <p:sp>
        <p:nvSpPr>
          <p:cNvPr id="2732" name="Shape 33"/>
          <p:cNvSpPr/>
          <p:nvPr/>
        </p:nvSpPr>
        <p:spPr>
          <a:xfrm>
            <a:off x="617220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36" name="Shape 34"/>
          <p:cNvSpPr/>
          <p:nvPr/>
        </p:nvSpPr>
        <p:spPr>
          <a:xfrm>
            <a:off x="6355080" y="2450592"/>
            <a:ext cx="384048" cy="384048"/>
          </a:xfrm>
          <a:prstGeom prst="ellipse">
            <a:avLst/>
          </a:prstGeom>
          <a:solidFill>
            <a:srgbClr val="1C5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40" name="Text 35"/>
          <p:cNvSpPr txBox="1"/>
          <p:nvPr/>
        </p:nvSpPr>
        <p:spPr>
          <a:xfrm>
            <a:off x="635508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300" dirty="0"/>
          </a:p>
        </p:txBody>
      </p:sp>
      <p:sp>
        <p:nvSpPr>
          <p:cNvPr id="2744" name="Text 36"/>
          <p:cNvSpPr txBox="1"/>
          <p:nvPr/>
        </p:nvSpPr>
        <p:spPr>
          <a:xfrm>
            <a:off x="685800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디지털 트윈</a:t>
            </a:r>
            <a:endParaRPr lang="en-US" sz="1350" dirty="0"/>
          </a:p>
        </p:txBody>
      </p:sp>
      <p:sp>
        <p:nvSpPr>
          <p:cNvPr id="2748" name="Text 37"/>
          <p:cNvSpPr txBox="1"/>
          <p:nvPr/>
        </p:nvSpPr>
        <p:spPr>
          <a:xfrm>
            <a:off x="635508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부재에 위성 측점 결합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3D Tiles 로 지도 레이어 출력</a:t>
            </a:r>
            <a:endParaRPr lang="en-US" sz="1050" dirty="0"/>
          </a:p>
        </p:txBody>
      </p:sp>
      <p:sp>
        <p:nvSpPr>
          <p:cNvPr id="2752" name="Shape 38"/>
          <p:cNvSpPr/>
          <p:nvPr/>
        </p:nvSpPr>
        <p:spPr>
          <a:xfrm>
            <a:off x="9052560" y="2267712"/>
            <a:ext cx="2724912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756" name="Shape 39"/>
          <p:cNvSpPr/>
          <p:nvPr/>
        </p:nvSpPr>
        <p:spPr>
          <a:xfrm>
            <a:off x="9235440" y="2450592"/>
            <a:ext cx="384048" cy="384048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60" name="Text 40"/>
          <p:cNvSpPr txBox="1"/>
          <p:nvPr/>
        </p:nvSpPr>
        <p:spPr>
          <a:xfrm>
            <a:off x="92354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300" dirty="0"/>
          </a:p>
        </p:txBody>
      </p:sp>
      <p:sp>
        <p:nvSpPr>
          <p:cNvPr id="2764" name="Text 41"/>
          <p:cNvSpPr txBox="1"/>
          <p:nvPr/>
        </p:nvSpPr>
        <p:spPr>
          <a:xfrm>
            <a:off x="9738360" y="2450592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 연계 서비스</a:t>
            </a:r>
            <a:endParaRPr lang="en-US" sz="1350" dirty="0"/>
          </a:p>
        </p:txBody>
      </p:sp>
      <p:sp>
        <p:nvSpPr>
          <p:cNvPr id="2768" name="Text 42"/>
          <p:cNvSpPr txBox="1"/>
          <p:nvPr/>
        </p:nvSpPr>
        <p:spPr>
          <a:xfrm>
            <a:off x="9235440" y="2953512"/>
            <a:ext cx="2404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본체 수정 없이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조회 전용 서버가 탭에 결과 제공</a:t>
            </a:r>
            <a:endParaRPr lang="en-US" sz="1050" dirty="0"/>
          </a:p>
        </p:txBody>
      </p:sp>
      <p:graphicFrame>
        <p:nvGraphicFramePr>
          <p:cNvPr id="27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22192"/>
          <a:ext cx="11365992" cy="23591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세부 목표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성과 지표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지금 단계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목표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1  위성 변위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실 위성자료 전 과정 처리 교량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수집–처리–교면 변위 시계열까지 자동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시범 연동 교량 전수 · 신규 영상 자동 갱신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2  AI 해석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PINN · CRI 산출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열·하중 성분 분리 · CRI 산출 (기준 잠정)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안전등급 양호 교량의 실측값으로 기준 확정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  디지털 트윈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IFC 트윈 · 측점–부재 결합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IFC 부재 GUID 에 교면 측점 결합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B-Maps 보유 IFC 와 직접 결합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4  B-Maps 연계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연동 인터페이스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C5B8A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조회 전용 API · 탭 예제 구현</a:t>
                      </a:r>
                      <a:endParaRPr lang="en-US" sz="110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스테이징 연동 → 운영 탭 탑재</a:t>
                      </a:r>
                      <a:endParaRPr lang="en-US" sz="110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6" name="Text 43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지금 단계 = 실제 Sentinel-1 자료(ASC path127, 2018-06-19 ~ 2025-12-27)로 전 과정을 돌려 본 결과다. 정확도 지표는 계측 대조와 측점 밀도 확보 뒤에 제시한다.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연구수행 내용 ① — Inframon 플랫폼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588" y="9144"/>
            <a:ext cx="1750162" cy="373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8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8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위성 영상에서 변위를 뽑아 AI 로 해석하고, 트윈으로 만들어 B-Maps 에 넘기는 6단계다</a:t>
            </a:r>
            <a:endParaRPr lang="en-US" sz="1450" dirty="0"/>
          </a:p>
        </p:txBody>
      </p:sp>
      <p:sp>
        <p:nvSpPr>
          <p:cNvPr id="2876" name="Shape 19"/>
          <p:cNvSpPr/>
          <p:nvPr/>
        </p:nvSpPr>
        <p:spPr>
          <a:xfrm>
            <a:off x="411480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880" name="Shape 20"/>
          <p:cNvSpPr/>
          <p:nvPr/>
        </p:nvSpPr>
        <p:spPr>
          <a:xfrm>
            <a:off x="411480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884" name="Shape 21"/>
          <p:cNvSpPr/>
          <p:nvPr/>
        </p:nvSpPr>
        <p:spPr>
          <a:xfrm>
            <a:off x="411480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888" name="Text 22"/>
          <p:cNvSpPr txBox="1"/>
          <p:nvPr/>
        </p:nvSpPr>
        <p:spPr>
          <a:xfrm>
            <a:off x="484632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① 교량·영상 선별</a:t>
            </a:r>
            <a:endParaRPr lang="en-US" sz="1200" dirty="0"/>
          </a:p>
        </p:txBody>
      </p:sp>
      <p:sp>
        <p:nvSpPr>
          <p:cNvPr id="2892" name="Text 23"/>
          <p:cNvSpPr txBox="1"/>
          <p:nvPr/>
        </p:nvSpPr>
        <p:spPr>
          <a:xfrm>
            <a:off x="548640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 제원·관심영역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궤도·프레임 자동 선택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ERA5 기준영상 선정</a:t>
            </a:r>
            <a:endParaRPr lang="en-US" sz="1050" dirty="0"/>
          </a:p>
        </p:txBody>
      </p:sp>
      <p:sp>
        <p:nvSpPr>
          <p:cNvPr id="2896" name="Shape 24"/>
          <p:cNvSpPr/>
          <p:nvPr/>
        </p:nvSpPr>
        <p:spPr>
          <a:xfrm>
            <a:off x="2203704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p/>
        </p:txBody>
      </p:sp>
      <p:sp>
        <p:nvSpPr>
          <p:cNvPr id="2900" name="Shape 25"/>
          <p:cNvSpPr/>
          <p:nvPr/>
        </p:nvSpPr>
        <p:spPr>
          <a:xfrm>
            <a:off x="2329891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04" name="Shape 26"/>
          <p:cNvSpPr/>
          <p:nvPr/>
        </p:nvSpPr>
        <p:spPr>
          <a:xfrm>
            <a:off x="2329891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2908" name="Shape 27"/>
          <p:cNvSpPr/>
          <p:nvPr/>
        </p:nvSpPr>
        <p:spPr>
          <a:xfrm>
            <a:off x="2329891" y="1664208"/>
            <a:ext cx="1773936" cy="201168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2912" name="Text 28"/>
          <p:cNvSpPr txBox="1"/>
          <p:nvPr/>
        </p:nvSpPr>
        <p:spPr>
          <a:xfrm>
            <a:off x="2403043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② InSAR 처리</a:t>
            </a:r>
            <a:endParaRPr lang="en-US" sz="1200" dirty="0"/>
          </a:p>
        </p:txBody>
      </p:sp>
      <p:sp>
        <p:nvSpPr>
          <p:cNvPr id="2916" name="Text 29"/>
          <p:cNvSpPr txBox="1"/>
          <p:nvPr/>
        </p:nvSpPr>
        <p:spPr>
          <a:xfrm>
            <a:off x="2467051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SNAP 정합·간섭도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snaphu 위상 언래핑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PS·DS 측점 추출</a:t>
            </a:r>
            <a:endParaRPr lang="en-US" sz="1050" dirty="0"/>
          </a:p>
        </p:txBody>
      </p:sp>
      <p:sp>
        <p:nvSpPr>
          <p:cNvPr id="2920" name="Shape 30"/>
          <p:cNvSpPr/>
          <p:nvPr/>
        </p:nvSpPr>
        <p:spPr>
          <a:xfrm>
            <a:off x="4122115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p/>
        </p:txBody>
      </p:sp>
      <p:sp>
        <p:nvSpPr>
          <p:cNvPr id="2924" name="Shape 31"/>
          <p:cNvSpPr/>
          <p:nvPr/>
        </p:nvSpPr>
        <p:spPr>
          <a:xfrm>
            <a:off x="4248302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28" name="Shape 32"/>
          <p:cNvSpPr/>
          <p:nvPr/>
        </p:nvSpPr>
        <p:spPr>
          <a:xfrm>
            <a:off x="4248302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932" name="Shape 33"/>
          <p:cNvSpPr/>
          <p:nvPr/>
        </p:nvSpPr>
        <p:spPr>
          <a:xfrm>
            <a:off x="4248302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936" name="Text 34"/>
          <p:cNvSpPr txBox="1"/>
          <p:nvPr/>
        </p:nvSpPr>
        <p:spPr>
          <a:xfrm>
            <a:off x="4321454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③ 교면 측점 정합</a:t>
            </a:r>
            <a:endParaRPr lang="en-US" sz="1200" dirty="0"/>
          </a:p>
        </p:txBody>
      </p:sp>
      <p:sp>
        <p:nvSpPr>
          <p:cNvPr id="2940" name="Text 35"/>
          <p:cNvSpPr txBox="1"/>
          <p:nvPr/>
        </p:nvSpPr>
        <p:spPr>
          <a:xfrm>
            <a:off x="4385462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형하고 쉬프트 보정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OSM 교면선 정합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±30 m 선별</a:t>
            </a:r>
            <a:endParaRPr lang="en-US" sz="1050" dirty="0"/>
          </a:p>
        </p:txBody>
      </p:sp>
      <p:sp>
        <p:nvSpPr>
          <p:cNvPr id="2944" name="Shape 36"/>
          <p:cNvSpPr/>
          <p:nvPr/>
        </p:nvSpPr>
        <p:spPr>
          <a:xfrm>
            <a:off x="6040526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p/>
        </p:txBody>
      </p:sp>
      <p:sp>
        <p:nvSpPr>
          <p:cNvPr id="2948" name="Shape 37"/>
          <p:cNvSpPr/>
          <p:nvPr/>
        </p:nvSpPr>
        <p:spPr>
          <a:xfrm>
            <a:off x="6166714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52" name="Shape 38"/>
          <p:cNvSpPr/>
          <p:nvPr/>
        </p:nvSpPr>
        <p:spPr>
          <a:xfrm>
            <a:off x="6166714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2956" name="Shape 39"/>
          <p:cNvSpPr/>
          <p:nvPr/>
        </p:nvSpPr>
        <p:spPr>
          <a:xfrm>
            <a:off x="6166714" y="1664208"/>
            <a:ext cx="1773936" cy="201168"/>
          </a:xfrm>
          <a:prstGeom prst="rect">
            <a:avLst/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2960" name="Text 40"/>
          <p:cNvSpPr txBox="1"/>
          <p:nvPr/>
        </p:nvSpPr>
        <p:spPr>
          <a:xfrm>
            <a:off x="6239866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④ PINN 역산</a:t>
            </a:r>
            <a:endParaRPr lang="en-US" sz="1200" dirty="0"/>
          </a:p>
        </p:txBody>
      </p:sp>
      <p:sp>
        <p:nvSpPr>
          <p:cNvPr id="2964" name="Text 41"/>
          <p:cNvSpPr txBox="1"/>
          <p:nvPr/>
        </p:nvSpPr>
        <p:spPr>
          <a:xfrm>
            <a:off x="6303874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물리식 구속 신경망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열·하중·침하·이상 분리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가상 센싱</a:t>
            </a:r>
            <a:endParaRPr lang="en-US" sz="1050" dirty="0"/>
          </a:p>
        </p:txBody>
      </p:sp>
      <p:sp>
        <p:nvSpPr>
          <p:cNvPr id="2968" name="Shape 42"/>
          <p:cNvSpPr/>
          <p:nvPr/>
        </p:nvSpPr>
        <p:spPr>
          <a:xfrm>
            <a:off x="7958938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p/>
        </p:txBody>
      </p:sp>
      <p:sp>
        <p:nvSpPr>
          <p:cNvPr id="2972" name="Shape 43"/>
          <p:cNvSpPr/>
          <p:nvPr/>
        </p:nvSpPr>
        <p:spPr>
          <a:xfrm>
            <a:off x="8085125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76" name="Shape 44"/>
          <p:cNvSpPr/>
          <p:nvPr/>
        </p:nvSpPr>
        <p:spPr>
          <a:xfrm>
            <a:off x="8085125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980" name="Shape 45"/>
          <p:cNvSpPr/>
          <p:nvPr/>
        </p:nvSpPr>
        <p:spPr>
          <a:xfrm>
            <a:off x="8085125" y="1664208"/>
            <a:ext cx="1773936" cy="201168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2984" name="Text 46"/>
          <p:cNvSpPr txBox="1"/>
          <p:nvPr/>
        </p:nvSpPr>
        <p:spPr>
          <a:xfrm>
            <a:off x="8158277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⑤ 위험도 평가</a:t>
            </a:r>
            <a:endParaRPr lang="en-US" sz="1200" dirty="0"/>
          </a:p>
        </p:txBody>
      </p:sp>
      <p:sp>
        <p:nvSpPr>
          <p:cNvPr id="2988" name="Text 47"/>
          <p:cNvSpPr txBox="1"/>
          <p:nvPr/>
        </p:nvSpPr>
        <p:spPr>
          <a:xfrm>
            <a:off x="8222285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위험 지수 CRI 산출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4단계 경보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등급 기준은 잠정</a:t>
            </a:r>
            <a:endParaRPr lang="en-US" sz="1050" dirty="0"/>
          </a:p>
        </p:txBody>
      </p:sp>
      <p:sp>
        <p:nvSpPr>
          <p:cNvPr id="2992" name="Shape 48"/>
          <p:cNvSpPr/>
          <p:nvPr/>
        </p:nvSpPr>
        <p:spPr>
          <a:xfrm>
            <a:off x="9877349" y="1472184"/>
            <a:ext cx="109728" cy="21945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p/>
        </p:txBody>
      </p:sp>
      <p:sp>
        <p:nvSpPr>
          <p:cNvPr id="2996" name="Shape 49"/>
          <p:cNvSpPr/>
          <p:nvPr/>
        </p:nvSpPr>
        <p:spPr>
          <a:xfrm>
            <a:off x="10003536" y="1298448"/>
            <a:ext cx="1773936" cy="196596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000" name="Shape 50"/>
          <p:cNvSpPr/>
          <p:nvPr/>
        </p:nvSpPr>
        <p:spPr>
          <a:xfrm>
            <a:off x="10003536" y="1298448"/>
            <a:ext cx="1773936" cy="566928"/>
          </a:xfrm>
          <a:prstGeom prst="roundRect">
            <a:avLst>
              <a:gd name="adj" fmla="val 967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p/>
        </p:txBody>
      </p:sp>
      <p:sp>
        <p:nvSpPr>
          <p:cNvPr id="3004" name="Shape 51"/>
          <p:cNvSpPr/>
          <p:nvPr/>
        </p:nvSpPr>
        <p:spPr>
          <a:xfrm>
            <a:off x="10003536" y="1664208"/>
            <a:ext cx="1773936" cy="201168"/>
          </a:xfrm>
          <a:prstGeom prst="rect">
            <a:avLst/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p/>
        </p:txBody>
      </p:sp>
      <p:sp>
        <p:nvSpPr>
          <p:cNvPr id="3008" name="Text 52"/>
          <p:cNvSpPr txBox="1"/>
          <p:nvPr/>
        </p:nvSpPr>
        <p:spPr>
          <a:xfrm>
            <a:off x="10076688" y="129844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⑥ 산출 · 연동</a:t>
            </a:r>
            <a:endParaRPr lang="en-US" sz="1200" dirty="0"/>
          </a:p>
        </p:txBody>
      </p:sp>
      <p:sp>
        <p:nvSpPr>
          <p:cNvPr id="3012" name="Text 53"/>
          <p:cNvSpPr txBox="1"/>
          <p:nvPr/>
        </p:nvSpPr>
        <p:spPr>
          <a:xfrm>
            <a:off x="10140696" y="2029968"/>
            <a:ext cx="1545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트윈 · 3D Tiles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변위 CSV · 보고 그림</a:t>
            </a:r>
            <a:endParaRPr lang="en-US" sz="10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REST</a:t>
            </a:r>
            <a:endParaRPr lang="en-US" sz="1050" dirty="0"/>
          </a:p>
        </p:txBody>
      </p:sp>
      <p:sp>
        <p:nvSpPr>
          <p:cNvPr id="3016" name="Shape 54"/>
          <p:cNvSpPr/>
          <p:nvPr/>
        </p:nvSpPr>
        <p:spPr>
          <a:xfrm>
            <a:off x="411480" y="3657600"/>
            <a:ext cx="6903720" cy="256032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020" name="Shape 55"/>
          <p:cNvSpPr/>
          <p:nvPr/>
        </p:nvSpPr>
        <p:spPr>
          <a:xfrm>
            <a:off x="2857500" y="3520440"/>
            <a:ext cx="201168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3024" name="Text 56"/>
          <p:cNvSpPr txBox="1"/>
          <p:nvPr/>
        </p:nvSpPr>
        <p:spPr>
          <a:xfrm>
            <a:off x="2857500" y="352044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플랫폼의 특징</a:t>
            </a:r>
            <a:endParaRPr lang="en-US" sz="1150" dirty="0"/>
          </a:p>
        </p:txBody>
      </p:sp>
      <p:sp>
        <p:nvSpPr>
          <p:cNvPr id="3028" name="Shape 57"/>
          <p:cNvSpPr/>
          <p:nvPr/>
        </p:nvSpPr>
        <p:spPr>
          <a:xfrm>
            <a:off x="640080" y="397764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032" name="Text 58"/>
          <p:cNvSpPr txBox="1"/>
          <p:nvPr/>
        </p:nvSpPr>
        <p:spPr>
          <a:xfrm>
            <a:off x="804672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같은 절차로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교량이 바뀌어도 고칠 것이 없다</a:t>
            </a:r>
            <a:endParaRPr lang="en-US" sz="1100" dirty="0"/>
          </a:p>
        </p:txBody>
      </p:sp>
      <p:sp>
        <p:nvSpPr>
          <p:cNvPr id="3036" name="Shape 59"/>
          <p:cNvSpPr/>
          <p:nvPr/>
        </p:nvSpPr>
        <p:spPr>
          <a:xfrm>
            <a:off x="3950208" y="397764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040" name="Text 60"/>
          <p:cNvSpPr txBox="1"/>
          <p:nvPr/>
        </p:nvSpPr>
        <p:spPr>
          <a:xfrm>
            <a:off x="4114800" y="39776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근거 기록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관측 조건과 신뢰구간을 결과에 함께 남긴다</a:t>
            </a:r>
            <a:endParaRPr lang="en-US" sz="1100" dirty="0"/>
          </a:p>
        </p:txBody>
      </p:sp>
      <p:sp>
        <p:nvSpPr>
          <p:cNvPr id="3044" name="Shape 61"/>
          <p:cNvSpPr/>
          <p:nvPr/>
        </p:nvSpPr>
        <p:spPr>
          <a:xfrm>
            <a:off x="640080" y="50749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048" name="Text 62"/>
          <p:cNvSpPr txBox="1"/>
          <p:nvPr/>
        </p:nvSpPr>
        <p:spPr>
          <a:xfrm>
            <a:off x="804672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데이터 계약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project.h5 하나로 전 단계를 연결</a:t>
            </a:r>
            <a:endParaRPr lang="en-US" sz="1100" dirty="0"/>
          </a:p>
        </p:txBody>
      </p:sp>
      <p:sp>
        <p:nvSpPr>
          <p:cNvPr id="3052" name="Shape 63"/>
          <p:cNvSpPr/>
          <p:nvPr/>
        </p:nvSpPr>
        <p:spPr>
          <a:xfrm>
            <a:off x="3950208" y="50749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056" name="Text 64"/>
          <p:cNvSpPr txBox="1"/>
          <p:nvPr/>
        </p:nvSpPr>
        <p:spPr>
          <a:xfrm>
            <a:off x="4114800" y="5074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대시보드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명령줄 없이 화면에서 단계별 실행</a:t>
            </a:r>
            <a:endParaRPr lang="en-US" sz="1100" dirty="0"/>
          </a:p>
        </p:txBody>
      </p:sp>
      <p:sp>
        <p:nvSpPr>
          <p:cNvPr id="3060" name="Text 77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실행 예: python scripts/bridge_run.py --name 성수대교 --lat 37.5374 --lon 127.0351 — 궤도 자료가 없으면 영상 선별·다운로드·처리부터 스스로 수행.</a:t>
            </a:r>
            <a:endParaRPr lang="en-US" sz="850" dirty="0"/>
          </a:p>
        </p:txBody>
      </p:sp>
      <p:sp>
        <p:nvSpPr>
          <p:cNvPr id="3064" name="Rectangle 80"/>
          <p:cNvSpPr/>
          <p:nvPr/>
        </p:nvSpPr>
        <p:spPr>
          <a:xfrm>
            <a:off x="7589520" y="3977640"/>
            <a:ext cx="4233672" cy="2057400"/>
          </a:xfrm>
          <a:prstGeom prst="rect">
            <a:avLst/>
          </a:prstGeom>
          <a:solidFill>
            <a:srgbClr val="F5F7F9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8" name="Rectangle 81"/>
          <p:cNvSpPr/>
          <p:nvPr/>
        </p:nvSpPr>
        <p:spPr>
          <a:xfrm>
            <a:off x="8951976" y="3835908"/>
            <a:ext cx="1508760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2" name="TextBox 82"/>
          <p:cNvSpPr txBox="1"/>
          <p:nvPr/>
        </p:nvSpPr>
        <p:spPr>
          <a:xfrm>
            <a:off x="8951976" y="3835908"/>
            <a:ext cx="1508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원리상 못 하는 것</a:t>
            </a:r>
          </a:p>
        </p:txBody>
      </p:sp>
      <p:sp>
        <p:nvSpPr>
          <p:cNvPr id="3076" name="Rectangle 83"/>
          <p:cNvSpPr/>
          <p:nvPr/>
        </p:nvSpPr>
        <p:spPr>
          <a:xfrm>
            <a:off x="7754112" y="4453128"/>
            <a:ext cx="45720" cy="18288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0" name="TextBox 84"/>
          <p:cNvSpPr txBox="1"/>
          <p:nvPr/>
        </p:nvSpPr>
        <p:spPr>
          <a:xfrm>
            <a:off x="7900416" y="4398264"/>
            <a:ext cx="3758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교면 측점 밀도</a:t>
            </a:r>
          </a:p>
        </p:txBody>
      </p:sp>
      <p:sp>
        <p:nvSpPr>
          <p:cNvPr id="3084" name="TextBox 85"/>
          <p:cNvSpPr txBox="1"/>
          <p:nvPr/>
        </p:nvSpPr>
        <p:spPr>
          <a:xfrm>
            <a:off x="7900416" y="4617720"/>
            <a:ext cx="3758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위성 화소가 지상 5×20 m 다. 데크 폭은 1~2 화소라 프로그램으로 늘릴 수 없다</a:t>
            </a:r>
          </a:p>
        </p:txBody>
      </p:sp>
      <p:sp>
        <p:nvSpPr>
          <p:cNvPr id="3088" name="Rectangle 86"/>
          <p:cNvSpPr/>
          <p:nvPr/>
        </p:nvSpPr>
        <p:spPr>
          <a:xfrm>
            <a:off x="7754112" y="5001768"/>
            <a:ext cx="45720" cy="18288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2" name="TextBox 87"/>
          <p:cNvSpPr txBox="1"/>
          <p:nvPr/>
        </p:nvSpPr>
        <p:spPr>
          <a:xfrm>
            <a:off x="7900416" y="4946904"/>
            <a:ext cx="3758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절대 강성(EI)</a:t>
            </a:r>
          </a:p>
        </p:txBody>
      </p:sp>
      <p:sp>
        <p:nvSpPr>
          <p:cNvPr id="3096" name="TextBox 88"/>
          <p:cNvSpPr txBox="1"/>
          <p:nvPr/>
        </p:nvSpPr>
        <p:spPr>
          <a:xfrm>
            <a:off x="7900416" y="5166360"/>
            <a:ext cx="3758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상대 변위만 보므로 관측으로 낼 수 없다 — 설계 제원으로 계산한 값이다</a:t>
            </a:r>
          </a:p>
        </p:txBody>
      </p:sp>
      <p:sp>
        <p:nvSpPr>
          <p:cNvPr id="3100" name="Rectangle 89"/>
          <p:cNvSpPr/>
          <p:nvPr/>
        </p:nvSpPr>
        <p:spPr>
          <a:xfrm>
            <a:off x="7754112" y="5550408"/>
            <a:ext cx="45720" cy="18288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4" name="TextBox 90"/>
          <p:cNvSpPr txBox="1"/>
          <p:nvPr/>
        </p:nvSpPr>
        <p:spPr>
          <a:xfrm>
            <a:off x="7900416" y="5495544"/>
            <a:ext cx="37581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연직 변위</a:t>
            </a:r>
          </a:p>
        </p:txBody>
      </p:sp>
      <p:sp>
        <p:nvSpPr>
          <p:cNvPr id="3108" name="TextBox 91"/>
          <p:cNvSpPr txBox="1"/>
          <p:nvPr/>
        </p:nvSpPr>
        <p:spPr>
          <a:xfrm>
            <a:off x="7900416" y="5715000"/>
            <a:ext cx="375818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한 궤도로는 위성 시선 방향만 나온다. 두 궤도를 합쳐야 위아래가 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연구수행 내용 ② — 한강 교량 실증 · 디지털 트윈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588" y="9144"/>
            <a:ext cx="1750162" cy="373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0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30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교량마다 같은 산출물과 IFC 트윈이 자동으로 나온다</a:t>
            </a:r>
            <a:endParaRPr lang="en-US" sz="1450" dirty="0"/>
          </a:p>
        </p:txBody>
      </p:sp>
      <p:graphicFrame>
        <p:nvGraphicFramePr>
          <p:cNvPr id="30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5715001" cy="2706624"/>
        </p:xfrm>
        <a:graphic>
          <a:graphicData uri="http://schemas.openxmlformats.org/drawingml/2006/table">
            <a:tbl>
              <a:tblPr/>
              <a:tblGrid>
                <a:gridCol w="1672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4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교량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형식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관측 시점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교면 측점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가양대교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167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원효대교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45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올림픽대교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사장교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101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56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청담대교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20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천호대교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박스거더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54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암사대교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아치교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51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237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월드컵대교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사장교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29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82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080" name="Text 19"/>
          <p:cNvSpPr txBox="1"/>
          <p:nvPr/>
        </p:nvSpPr>
        <p:spPr>
          <a:xfrm>
            <a:off x="411480" y="405079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관측 시점 수와 교면 측점 수는 교량마다 다르다 — 변위속도와 정밀도는 측점 밀도를 확보한 뒤에 제시한다</a:t>
            </a:r>
            <a:endParaRPr lang="en-US" sz="900" dirty="0"/>
          </a:p>
        </p:txBody>
      </p:sp>
      <p:sp>
        <p:nvSpPr>
          <p:cNvPr id="3084" name="Shape 20"/>
          <p:cNvSpPr/>
          <p:nvPr/>
        </p:nvSpPr>
        <p:spPr>
          <a:xfrm>
            <a:off x="411480" y="4526280"/>
            <a:ext cx="57150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088" name="Shape 21"/>
          <p:cNvSpPr/>
          <p:nvPr/>
        </p:nvSpPr>
        <p:spPr>
          <a:xfrm>
            <a:off x="2080260" y="4389120"/>
            <a:ext cx="237744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3092" name="Text 22"/>
          <p:cNvSpPr txBox="1"/>
          <p:nvPr/>
        </p:nvSpPr>
        <p:spPr>
          <a:xfrm>
            <a:off x="2080260" y="4389120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1개소당 자동 산출</a:t>
            </a:r>
            <a:endParaRPr lang="en-US" sz="1150" dirty="0"/>
          </a:p>
        </p:txBody>
      </p:sp>
      <p:sp>
        <p:nvSpPr>
          <p:cNvPr id="3096" name="Shape 23"/>
          <p:cNvSpPr/>
          <p:nvPr/>
        </p:nvSpPr>
        <p:spPr>
          <a:xfrm>
            <a:off x="566928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100" name="Text 24"/>
          <p:cNvSpPr txBox="1"/>
          <p:nvPr/>
        </p:nvSpPr>
        <p:spPr>
          <a:xfrm>
            <a:off x="676656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변위 시계열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측점·속도·해석값</a:t>
            </a:r>
            <a:endParaRPr lang="en-US" sz="1100" dirty="0"/>
          </a:p>
        </p:txBody>
      </p:sp>
      <p:sp>
        <p:nvSpPr>
          <p:cNvPr id="3104" name="Shape 25"/>
          <p:cNvSpPr/>
          <p:nvPr/>
        </p:nvSpPr>
        <p:spPr>
          <a:xfrm>
            <a:off x="2377440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108" name="Text 26"/>
          <p:cNvSpPr txBox="1"/>
          <p:nvPr/>
        </p:nvSpPr>
        <p:spPr>
          <a:xfrm>
            <a:off x="2487168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IFC 부재 모델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부재 GUID 포함</a:t>
            </a:r>
            <a:endParaRPr lang="en-US" sz="1100" dirty="0"/>
          </a:p>
        </p:txBody>
      </p:sp>
      <p:sp>
        <p:nvSpPr>
          <p:cNvPr id="3112" name="Shape 27"/>
          <p:cNvSpPr/>
          <p:nvPr/>
        </p:nvSpPr>
        <p:spPr>
          <a:xfrm>
            <a:off x="4187952" y="47548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116" name="Text 28"/>
          <p:cNvSpPr txBox="1"/>
          <p:nvPr/>
        </p:nvSpPr>
        <p:spPr>
          <a:xfrm>
            <a:off x="4297680" y="4754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3D 타일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지도 레이어</a:t>
            </a:r>
            <a:endParaRPr lang="en-US" sz="1100" dirty="0"/>
          </a:p>
        </p:txBody>
      </p:sp>
      <p:sp>
        <p:nvSpPr>
          <p:cNvPr id="3120" name="Shape 29"/>
          <p:cNvSpPr/>
          <p:nvPr/>
        </p:nvSpPr>
        <p:spPr>
          <a:xfrm>
            <a:off x="566928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124" name="Text 30"/>
          <p:cNvSpPr txBox="1"/>
          <p:nvPr/>
        </p:nvSpPr>
        <p:spPr>
          <a:xfrm>
            <a:off x="676656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평면·종단 브리프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보고서용 그림</a:t>
            </a:r>
            <a:endParaRPr lang="en-US" sz="1100" dirty="0"/>
          </a:p>
        </p:txBody>
      </p:sp>
      <p:sp>
        <p:nvSpPr>
          <p:cNvPr id="3128" name="Shape 31"/>
          <p:cNvSpPr/>
          <p:nvPr/>
        </p:nvSpPr>
        <p:spPr>
          <a:xfrm>
            <a:off x="2377440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132" name="Text 32"/>
          <p:cNvSpPr txBox="1"/>
          <p:nvPr/>
        </p:nvSpPr>
        <p:spPr>
          <a:xfrm>
            <a:off x="2487168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주변 도로망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반경 500 m</a:t>
            </a:r>
            <a:endParaRPr lang="en-US" sz="1100" dirty="0"/>
          </a:p>
        </p:txBody>
      </p:sp>
      <p:sp>
        <p:nvSpPr>
          <p:cNvPr id="3136" name="Shape 33"/>
          <p:cNvSpPr/>
          <p:nvPr/>
        </p:nvSpPr>
        <p:spPr>
          <a:xfrm>
            <a:off x="4187952" y="5440680"/>
            <a:ext cx="1719072" cy="594360"/>
          </a:xfrm>
          <a:prstGeom prst="roundRect">
            <a:avLst>
              <a:gd name="adj" fmla="val 9231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p/>
        </p:txBody>
      </p:sp>
      <p:sp>
        <p:nvSpPr>
          <p:cNvPr id="3140" name="Text 34"/>
          <p:cNvSpPr txBox="1"/>
          <p:nvPr/>
        </p:nvSpPr>
        <p:spPr>
          <a:xfrm>
            <a:off x="4297680" y="5440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결과 기록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출처·근거 문서</a:t>
            </a:r>
            <a:endParaRPr lang="en-US" sz="1100" dirty="0"/>
          </a:p>
        </p:txBody>
      </p:sp>
      <p:sp>
        <p:nvSpPr>
          <p:cNvPr id="3144" name="Shape 35"/>
          <p:cNvSpPr/>
          <p:nvPr/>
        </p:nvSpPr>
        <p:spPr>
          <a:xfrm>
            <a:off x="6355080" y="1280160"/>
            <a:ext cx="5422392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pic>
        <p:nvPicPr>
          <p:cNvPr id="3148" name="Image 0" descr="/tmp/claude-0/-home-claude/65dffca3-2835-51dd-a007-950964c02f5b/scratchpad/img/o10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371600"/>
            <a:ext cx="5202936" cy="3053408"/>
          </a:xfrm>
          <a:prstGeom prst="rect">
            <a:avLst/>
          </a:prstGeom>
        </p:spPr>
      </p:pic>
      <p:sp>
        <p:nvSpPr>
          <p:cNvPr id="3152" name="Text 36"/>
          <p:cNvSpPr txBox="1"/>
          <p:nvPr/>
        </p:nvSpPr>
        <p:spPr>
          <a:xfrm>
            <a:off x="6464808" y="4416552"/>
            <a:ext cx="5202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트윈 + 교면 위성 측점 (높이는 추정값)</a:t>
            </a:r>
            <a:endParaRPr lang="en-US" sz="900" dirty="0"/>
          </a:p>
        </p:txBody>
      </p:sp>
      <p:sp>
        <p:nvSpPr>
          <p:cNvPr id="3156" name="Shape 37"/>
          <p:cNvSpPr/>
          <p:nvPr/>
        </p:nvSpPr>
        <p:spPr>
          <a:xfrm>
            <a:off x="6355080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60" name="Text 38"/>
          <p:cNvSpPr txBox="1"/>
          <p:nvPr/>
        </p:nvSpPr>
        <p:spPr>
          <a:xfrm>
            <a:off x="6537960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IFC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4x3</a:t>
            </a:r>
            <a:endParaRPr lang="en-US" sz="1100" dirty="0"/>
          </a:p>
        </p:txBody>
      </p:sp>
      <p:sp>
        <p:nvSpPr>
          <p:cNvPr id="3164" name="Text 39"/>
          <p:cNvSpPr txBox="1"/>
          <p:nvPr/>
        </p:nvSpPr>
        <p:spPr>
          <a:xfrm>
            <a:off x="6537960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부재 GUID 포함 트윈</a:t>
            </a:r>
            <a:endParaRPr lang="en-US" sz="1000" dirty="0"/>
          </a:p>
        </p:txBody>
      </p:sp>
      <p:sp>
        <p:nvSpPr>
          <p:cNvPr id="3168" name="Shape 40"/>
          <p:cNvSpPr/>
          <p:nvPr/>
        </p:nvSpPr>
        <p:spPr>
          <a:xfrm>
            <a:off x="8211312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72" name="Text 41"/>
          <p:cNvSpPr txBox="1"/>
          <p:nvPr/>
        </p:nvSpPr>
        <p:spPr>
          <a:xfrm>
            <a:off x="8394192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1,972</a:t>
            </a:r>
            <a:r>
              <a:rPr lang="en-US" sz="120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개</a:t>
            </a:r>
            <a:endParaRPr lang="en-US" sz="1100" dirty="0"/>
          </a:p>
        </p:txBody>
      </p:sp>
      <p:sp>
        <p:nvSpPr>
          <p:cNvPr id="3176" name="Text 42"/>
          <p:cNvSpPr txBox="1"/>
          <p:nvPr/>
        </p:nvSpPr>
        <p:spPr>
          <a:xfrm>
            <a:off x="8394192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IFC 부재</a:t>
            </a:r>
            <a:endParaRPr lang="en-US" sz="1000" dirty="0"/>
          </a:p>
        </p:txBody>
      </p:sp>
      <p:sp>
        <p:nvSpPr>
          <p:cNvPr id="3180" name="Shape 43"/>
          <p:cNvSpPr/>
          <p:nvPr/>
        </p:nvSpPr>
        <p:spPr>
          <a:xfrm>
            <a:off x="10067544" y="4892040"/>
            <a:ext cx="170992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184" name="Text 44"/>
          <p:cNvSpPr txBox="1"/>
          <p:nvPr/>
        </p:nvSpPr>
        <p:spPr>
          <a:xfrm>
            <a:off x="10250424" y="500176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3D</a:t>
            </a:r>
            <a:r>
              <a:rPr lang="en-US" sz="12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Tiles</a:t>
            </a:r>
            <a:endParaRPr lang="en-US" sz="1100" dirty="0"/>
          </a:p>
        </p:txBody>
      </p:sp>
      <p:sp>
        <p:nvSpPr>
          <p:cNvPr id="3188" name="Text 45"/>
          <p:cNvSpPr txBox="1"/>
          <p:nvPr/>
        </p:nvSpPr>
        <p:spPr>
          <a:xfrm>
            <a:off x="10250424" y="5495544"/>
            <a:ext cx="1389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지도 레이어 출력</a:t>
            </a:r>
            <a:endParaRPr lang="en-US" sz="1000" dirty="0"/>
          </a:p>
        </p:txBody>
      </p:sp>
      <p:sp>
        <p:nvSpPr>
          <p:cNvPr id="3192" name="Text 46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표의 값은 각 교량 폴더의 bridge.json · 결과.md · project.h5 에서 직접 읽음.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연구수행 내용 ③ — B-Maps 연동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588" y="9144"/>
            <a:ext cx="1750162" cy="373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2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 본체를 고치지 않고 옆에 붙는 조회 전용 프로그램으로 잇는다 — 교량관리번호로 조회하면 교면 변위와 IFC 트윈이 그대로 올라온다</a:t>
            </a:r>
            <a:endParaRPr lang="en-US" sz="1450" dirty="0"/>
          </a:p>
        </p:txBody>
      </p:sp>
      <p:sp>
        <p:nvSpPr>
          <p:cNvPr id="3276" name="Shape 19"/>
          <p:cNvSpPr/>
          <p:nvPr/>
        </p:nvSpPr>
        <p:spPr>
          <a:xfrm>
            <a:off x="411480" y="1280160"/>
            <a:ext cx="6355080" cy="3310128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280" name="Image 0" descr="/tmp/claude-0/-home-claude/65dffca3-2835-51dd-a007-950964c02f5b/scratchpad/img/o15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71600"/>
            <a:ext cx="6117336" cy="2902670"/>
          </a:xfrm>
          <a:prstGeom prst="rect">
            <a:avLst/>
          </a:prstGeom>
        </p:spPr>
      </p:pic>
      <p:sp>
        <p:nvSpPr>
          <p:cNvPr id="3284" name="Text 20"/>
          <p:cNvSpPr txBox="1"/>
          <p:nvPr/>
        </p:nvSpPr>
        <p:spPr>
          <a:xfrm>
            <a:off x="530352" y="4315968"/>
            <a:ext cx="6117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실제 동작 화면 — 성수대교 · 101시점 · 교면 103측점 · 측점 클릭 → 변위 시계열</a:t>
            </a:r>
            <a:endParaRPr lang="en-US" sz="950" dirty="0"/>
          </a:p>
        </p:txBody>
      </p:sp>
      <p:sp>
        <p:nvSpPr>
          <p:cNvPr id="3288" name="Shape 21"/>
          <p:cNvSpPr/>
          <p:nvPr/>
        </p:nvSpPr>
        <p:spPr>
          <a:xfrm>
            <a:off x="411480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92" name="Text 22"/>
          <p:cNvSpPr txBox="1"/>
          <p:nvPr/>
        </p:nvSpPr>
        <p:spPr>
          <a:xfrm>
            <a:off x="502920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B-Maps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위성 변위 분석 탭</a:t>
            </a:r>
            <a:endParaRPr lang="en-US" sz="1100" dirty="0"/>
          </a:p>
        </p:txBody>
      </p:sp>
      <p:sp>
        <p:nvSpPr>
          <p:cNvPr id="3296" name="Shape 23"/>
          <p:cNvSpPr/>
          <p:nvPr/>
        </p:nvSpPr>
        <p:spPr>
          <a:xfrm>
            <a:off x="2286000" y="5148072"/>
            <a:ext cx="329184" cy="219456"/>
          </a:xfrm>
          <a:prstGeom prst="leftRightArrow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0" name="Shape 24"/>
          <p:cNvSpPr/>
          <p:nvPr/>
        </p:nvSpPr>
        <p:spPr>
          <a:xfrm>
            <a:off x="2688336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04" name="Text 25"/>
          <p:cNvSpPr txBox="1"/>
          <p:nvPr/>
        </p:nvSpPr>
        <p:spPr>
          <a:xfrm>
            <a:off x="2779776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inframon-api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조회 전용 서버</a:t>
            </a:r>
            <a:endParaRPr lang="en-US" sz="1100" dirty="0"/>
          </a:p>
        </p:txBody>
      </p:sp>
      <p:sp>
        <p:nvSpPr>
          <p:cNvPr id="3308" name="Shape 26"/>
          <p:cNvSpPr/>
          <p:nvPr/>
        </p:nvSpPr>
        <p:spPr>
          <a:xfrm>
            <a:off x="4562856" y="5148072"/>
            <a:ext cx="329184" cy="219456"/>
          </a:xfrm>
          <a:prstGeom prst="leftRightArrow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2" name="Shape 27"/>
          <p:cNvSpPr/>
          <p:nvPr/>
        </p:nvSpPr>
        <p:spPr>
          <a:xfrm>
            <a:off x="4965192" y="4846320"/>
            <a:ext cx="1801368" cy="822960"/>
          </a:xfrm>
          <a:prstGeom prst="roundRect">
            <a:avLst>
              <a:gd name="adj" fmla="val 666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16" name="Text 28"/>
          <p:cNvSpPr txBox="1"/>
          <p:nvPr/>
        </p:nvSpPr>
        <p:spPr>
          <a:xfrm>
            <a:off x="5056632" y="4846320"/>
            <a:ext cx="1618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교량별 결과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1E7E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project.h5</a:t>
            </a:r>
            <a:endParaRPr lang="en-US" sz="1100" dirty="0"/>
          </a:p>
        </p:txBody>
      </p:sp>
      <p:sp>
        <p:nvSpPr>
          <p:cNvPr id="3320" name="Text 29"/>
          <p:cNvSpPr txBox="1"/>
          <p:nvPr/>
        </p:nvSpPr>
        <p:spPr>
          <a:xfrm>
            <a:off x="411480" y="5760720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REST/JSON · 교량관리번호로 조회 · B-Maps 본체 수정 없음</a:t>
            </a:r>
            <a:endParaRPr lang="en-US" sz="950" dirty="0"/>
          </a:p>
        </p:txBody>
      </p:sp>
      <p:sp>
        <p:nvSpPr>
          <p:cNvPr id="3324" name="Shape 30"/>
          <p:cNvSpPr/>
          <p:nvPr/>
        </p:nvSpPr>
        <p:spPr>
          <a:xfrm>
            <a:off x="8357616" y="1143000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28" name="Text 31"/>
          <p:cNvSpPr txBox="1"/>
          <p:nvPr/>
        </p:nvSpPr>
        <p:spPr>
          <a:xfrm>
            <a:off x="8357616" y="114300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교면 전용 MT-InSAR 산출</a:t>
            </a:r>
            <a:endParaRPr lang="en-US" sz="1150" dirty="0"/>
          </a:p>
        </p:txBody>
      </p:sp>
      <p:sp>
        <p:nvSpPr>
          <p:cNvPr id="3332" name="Shape 32"/>
          <p:cNvSpPr/>
          <p:nvPr/>
        </p:nvSpPr>
        <p:spPr>
          <a:xfrm>
            <a:off x="7040880" y="1417320"/>
            <a:ext cx="2295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36" name="Text 33"/>
          <p:cNvSpPr txBox="1"/>
          <p:nvPr/>
        </p:nvSpPr>
        <p:spPr>
          <a:xfrm>
            <a:off x="7223760" y="152704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7A5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4종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값</a:t>
            </a:r>
            <a:endParaRPr lang="en-US" sz="1100" dirty="0"/>
          </a:p>
        </p:txBody>
      </p:sp>
      <p:sp>
        <p:nvSpPr>
          <p:cNvPr id="3340" name="Text 34"/>
          <p:cNvSpPr txBox="1"/>
          <p:nvPr/>
        </p:nvSpPr>
        <p:spPr>
          <a:xfrm>
            <a:off x="7223760" y="2020824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측점마다 산출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속도 · 잔차고도 · 열팽창 · 코히런스</a:t>
            </a:r>
            <a:endParaRPr lang="en-US" sz="1000" dirty="0"/>
          </a:p>
        </p:txBody>
      </p:sp>
      <p:sp>
        <p:nvSpPr>
          <p:cNvPr id="3344" name="Shape 35"/>
          <p:cNvSpPr/>
          <p:nvPr/>
        </p:nvSpPr>
        <p:spPr>
          <a:xfrm>
            <a:off x="9482328" y="1417320"/>
            <a:ext cx="229514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48" name="Text 36"/>
          <p:cNvSpPr txBox="1"/>
          <p:nvPr/>
        </p:nvSpPr>
        <p:spPr>
          <a:xfrm>
            <a:off x="9665208" y="1527048"/>
            <a:ext cx="19751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APS</a:t>
            </a: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  제거</a:t>
            </a:r>
            <a:endParaRPr lang="en-US" sz="1100" dirty="0"/>
          </a:p>
        </p:txBody>
      </p:sp>
      <p:sp>
        <p:nvSpPr>
          <p:cNvPr id="3352" name="Text 37"/>
          <p:cNvSpPr txBox="1"/>
          <p:nvPr/>
        </p:nvSpPr>
        <p:spPr>
          <a:xfrm>
            <a:off x="9665208" y="2020824"/>
            <a:ext cx="19751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기선망 뒤 동시 추정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수직·시간 기선망 · 점별 DEM 오차</a:t>
            </a:r>
            <a:endParaRPr lang="en-US" sz="1000" dirty="0"/>
          </a:p>
        </p:txBody>
      </p:sp>
      <p:sp>
        <p:nvSpPr>
          <p:cNvPr id="3356" name="Shape 38"/>
          <p:cNvSpPr/>
          <p:nvPr/>
        </p:nvSpPr>
        <p:spPr>
          <a:xfrm>
            <a:off x="7040880" y="2743200"/>
            <a:ext cx="4736592" cy="868680"/>
          </a:xfrm>
          <a:prstGeom prst="roundRect">
            <a:avLst>
              <a:gd name="adj" fmla="val 6316"/>
            </a:avLst>
          </a:prstGeom>
          <a:solidFill>
            <a:srgbClr val="EDF5F8"/>
          </a:solidFill>
          <a:ln w="12700">
            <a:solidFill>
              <a:srgbClr val="EDF5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0" name="Text 39"/>
          <p:cNvSpPr txBox="1"/>
          <p:nvPr/>
        </p:nvSpPr>
        <p:spPr>
          <a:xfrm>
            <a:off x="7223760" y="2743200"/>
            <a:ext cx="4416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한계  </a:t>
            </a:r>
            <a:r>
              <a:rPr lang="en-US" sz="105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교면 측점 밀도가 한계다 — Sentinel-1 IW 는 지상 5×20 m 이고 데크 폭은 1~2 화소다. 주경간에 코너리플렉터를 놓거나 고해상도 SAR 을 쓰면 교면 측점이 채워진다 (Ⅳ 참조)</a:t>
            </a:r>
            <a:endParaRPr lang="en-US" sz="1050" dirty="0"/>
          </a:p>
        </p:txBody>
      </p:sp>
      <p:sp>
        <p:nvSpPr>
          <p:cNvPr id="3364" name="Shape 40"/>
          <p:cNvSpPr/>
          <p:nvPr/>
        </p:nvSpPr>
        <p:spPr>
          <a:xfrm>
            <a:off x="8357616" y="3840480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68" name="Text 41"/>
          <p:cNvSpPr txBox="1"/>
          <p:nvPr/>
        </p:nvSpPr>
        <p:spPr>
          <a:xfrm>
            <a:off x="8357616" y="3840480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연동 접점</a:t>
            </a:r>
            <a:endParaRPr lang="en-US" sz="1150" dirty="0"/>
          </a:p>
        </p:txBody>
      </p:sp>
      <p:graphicFrame>
        <p:nvGraphicFramePr>
          <p:cNvPr id="33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4160520"/>
          <a:ext cx="4736592" cy="205740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접점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Inframon 제공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B-Maps 활용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자산 모델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IFC 부재 GUID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기존 IFC 체계에 그대로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3D 레이어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3D Tiles · glTF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지도 위 레이어로 적재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좌표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WGS84 / EPSG:5179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대장 좌표와 직접 대응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7 Bold" pitchFamily="34" charset="0"/>
                          <a:ea typeface="Paperlogy 7 Bold" pitchFamily="34" charset="-122"/>
                          <a:cs typeface="Paperlogy 7 Bold" pitchFamily="34" charset="-120"/>
                        </a:rPr>
                        <a:t>시계열</a:t>
                      </a:r>
                      <a:endParaRPr lang="en-US" sz="1050" dirty="0">
                        <a:latin typeface="Paperlogy 7 Bold" charset="0"/>
                        <a:ea typeface="Paperlogy 7 Bold" charset="0"/>
                        <a:cs typeface="Paperlogy 7 Bold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REST /api/v1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3D47"/>
                          </a:solidFill>
                          <a:latin typeface="Paperlogy 5 Medium" pitchFamily="34" charset="0"/>
                          <a:ea typeface="Paperlogy 5 Medium" pitchFamily="34" charset="-122"/>
                          <a:cs typeface="Paperlogy 5 Medium" pitchFamily="34" charset="-120"/>
                        </a:rPr>
                        <a:t>대시보드 · 경보 규칙</a:t>
                      </a:r>
                      <a:endParaRPr lang="en-US" sz="1050" dirty="0">
                        <a:latin typeface="Paperlogy 5 Medium" charset="0"/>
                        <a:ea typeface="Paperlogy 5 Medium" charset="0"/>
                        <a:cs typeface="Paperlogy 5 Medium" charset="0"/>
                      </a:endParaRPr>
                    </a:p>
                  </a:txBody>
                  <a:tcPr marL="73152" marR="45720" marT="0" marB="0" anchor="ctr">
                    <a:lnL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76" name="Text 42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※ 교면 전용 재선별(MT-InSAR: 기선망 · 점별 DEM 오차 · 열팽창 · APS) 뒤의 교면 PS 를 쓴다. 연동은 조회 전용이라 B-Maps 본체를 고치지 않는다.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향후 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1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588" y="9144"/>
            <a:ext cx="1750162" cy="373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452" name="Shape 13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3456" name="Text 14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73D47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파이프라인은 끝까지 돌아간다 — KICT 와 연동 규칙을 정하면 시범 연동부터 시작할 수 있다</a:t>
            </a:r>
            <a:endParaRPr lang="en-US" sz="1450" dirty="0"/>
          </a:p>
        </p:txBody>
      </p:sp>
      <p:sp>
        <p:nvSpPr>
          <p:cNvPr id="3476" name="Shape 19"/>
          <p:cNvSpPr/>
          <p:nvPr/>
        </p:nvSpPr>
        <p:spPr>
          <a:xfrm>
            <a:off x="411480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480" name="Shape 20"/>
          <p:cNvSpPr/>
          <p:nvPr/>
        </p:nvSpPr>
        <p:spPr>
          <a:xfrm>
            <a:off x="612648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3484" name="Text 21"/>
          <p:cNvSpPr txBox="1"/>
          <p:nvPr/>
        </p:nvSpPr>
        <p:spPr>
          <a:xfrm>
            <a:off x="612648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진행</a:t>
            </a:r>
            <a:endParaRPr lang="en-US" sz="1100" dirty="0"/>
          </a:p>
        </p:txBody>
      </p:sp>
      <p:sp>
        <p:nvSpPr>
          <p:cNvPr id="3488" name="Text 22"/>
          <p:cNvSpPr txBox="1"/>
          <p:nvPr/>
        </p:nvSpPr>
        <p:spPr>
          <a:xfrm>
            <a:off x="1508760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개발 · 실증</a:t>
            </a:r>
            <a:endParaRPr lang="en-US" sz="1500" dirty="0"/>
          </a:p>
        </p:txBody>
      </p:sp>
      <p:sp>
        <p:nvSpPr>
          <p:cNvPr id="3492" name="Text 23"/>
          <p:cNvSpPr txBox="1"/>
          <p:nvPr/>
        </p:nvSpPr>
        <p:spPr>
          <a:xfrm>
            <a:off x="640080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6단계 파이프라인 · 데이터 계약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실 Sentinel-1 자료로 전 과정 시범 처리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조회 API · 탭 예제</a:t>
            </a:r>
            <a:endParaRPr lang="en-US" sz="1100" dirty="0"/>
          </a:p>
        </p:txBody>
      </p:sp>
      <p:sp>
        <p:nvSpPr>
          <p:cNvPr id="3496" name="Shape 24"/>
          <p:cNvSpPr/>
          <p:nvPr/>
        </p:nvSpPr>
        <p:spPr>
          <a:xfrm>
            <a:off x="4069080" y="2061972"/>
            <a:ext cx="155448" cy="31089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p/>
        </p:txBody>
      </p:sp>
      <p:sp>
        <p:nvSpPr>
          <p:cNvPr id="3500" name="Shape 25"/>
          <p:cNvSpPr/>
          <p:nvPr/>
        </p:nvSpPr>
        <p:spPr>
          <a:xfrm>
            <a:off x="4311396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04" name="Shape 26"/>
          <p:cNvSpPr/>
          <p:nvPr/>
        </p:nvSpPr>
        <p:spPr>
          <a:xfrm>
            <a:off x="4512564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p/>
        </p:txBody>
      </p:sp>
      <p:sp>
        <p:nvSpPr>
          <p:cNvPr id="3508" name="Text 27"/>
          <p:cNvSpPr txBox="1"/>
          <p:nvPr/>
        </p:nvSpPr>
        <p:spPr>
          <a:xfrm>
            <a:off x="4512564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협의</a:t>
            </a:r>
            <a:endParaRPr lang="en-US" sz="1100" dirty="0"/>
          </a:p>
        </p:txBody>
      </p:sp>
      <p:sp>
        <p:nvSpPr>
          <p:cNvPr id="3512" name="Text 28"/>
          <p:cNvSpPr txBox="1"/>
          <p:nvPr/>
        </p:nvSpPr>
        <p:spPr>
          <a:xfrm>
            <a:off x="5408676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시범 연동</a:t>
            </a:r>
            <a:endParaRPr lang="en-US" sz="1500" dirty="0"/>
          </a:p>
        </p:txBody>
      </p:sp>
      <p:sp>
        <p:nvSpPr>
          <p:cNvPr id="3516" name="Text 29"/>
          <p:cNvSpPr txBox="1"/>
          <p:nvPr/>
        </p:nvSpPr>
        <p:spPr>
          <a:xfrm>
            <a:off x="4539996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교량관리번호 ↔ bridge_id 매핑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좌표계 · 인증 방식 합의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스테이징 서버 연동</a:t>
            </a:r>
            <a:endParaRPr lang="en-US" sz="1100" dirty="0"/>
          </a:p>
        </p:txBody>
      </p:sp>
      <p:sp>
        <p:nvSpPr>
          <p:cNvPr id="3520" name="Shape 30"/>
          <p:cNvSpPr/>
          <p:nvPr/>
        </p:nvSpPr>
        <p:spPr>
          <a:xfrm>
            <a:off x="7968996" y="2061972"/>
            <a:ext cx="155448" cy="310896"/>
          </a:xfrm>
          <a:prstGeom prst="chevron">
            <a:avLst/>
          </a:prstGeom>
          <a:solidFill>
            <a:srgbClr val="8A939E"/>
          </a:solidFill>
          <a:ln w="12700">
            <a:solidFill>
              <a:srgbClr val="8A939E"/>
            </a:solidFill>
            <a:prstDash val="solid"/>
          </a:ln>
        </p:spPr>
        <p:txBody>
          <a:bodyPr/>
          <a:p/>
        </p:txBody>
      </p:sp>
      <p:sp>
        <p:nvSpPr>
          <p:cNvPr id="3524" name="Shape 31"/>
          <p:cNvSpPr/>
          <p:nvPr/>
        </p:nvSpPr>
        <p:spPr>
          <a:xfrm>
            <a:off x="8211312" y="1325880"/>
            <a:ext cx="35661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28" name="Shape 32"/>
          <p:cNvSpPr/>
          <p:nvPr/>
        </p:nvSpPr>
        <p:spPr>
          <a:xfrm>
            <a:off x="8412480" y="1527048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373D47"/>
          </a:solidFill>
          <a:ln w="12700">
            <a:solidFill>
              <a:srgbClr val="373D47"/>
            </a:solidFill>
            <a:prstDash val="solid"/>
          </a:ln>
        </p:spPr>
        <p:txBody>
          <a:bodyPr/>
          <a:p/>
        </p:txBody>
      </p:sp>
      <p:sp>
        <p:nvSpPr>
          <p:cNvPr id="3532" name="Text 33"/>
          <p:cNvSpPr txBox="1"/>
          <p:nvPr/>
        </p:nvSpPr>
        <p:spPr>
          <a:xfrm>
            <a:off x="8412480" y="1527048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예정</a:t>
            </a:r>
            <a:endParaRPr lang="en-US" sz="1100" dirty="0"/>
          </a:p>
        </p:txBody>
      </p:sp>
      <p:sp>
        <p:nvSpPr>
          <p:cNvPr id="3536" name="Text 34"/>
          <p:cNvSpPr txBox="1"/>
          <p:nvPr/>
        </p:nvSpPr>
        <p:spPr>
          <a:xfrm>
            <a:off x="9308592" y="1508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운영 · 고도화</a:t>
            </a:r>
            <a:endParaRPr lang="en-US" sz="1500" dirty="0"/>
          </a:p>
        </p:txBody>
      </p:sp>
      <p:sp>
        <p:nvSpPr>
          <p:cNvPr id="3540" name="Text 35"/>
          <p:cNvSpPr txBox="1"/>
          <p:nvPr/>
        </p:nvSpPr>
        <p:spPr>
          <a:xfrm>
            <a:off x="8439912" y="2039112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B-Maps 운영 탭 · 신규 영상 자동 갱신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PINN 성능 평가 · 노후도 추정 · 거동 예측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코너리플렉터로 측점 확보 · 정확도 검증</a:t>
            </a:r>
            <a:endParaRPr lang="en-US" sz="1100" dirty="0"/>
          </a:p>
        </p:txBody>
      </p:sp>
      <p:sp>
        <p:nvSpPr>
          <p:cNvPr id="3544" name="Shape 36"/>
          <p:cNvSpPr/>
          <p:nvPr/>
        </p:nvSpPr>
        <p:spPr>
          <a:xfrm>
            <a:off x="411480" y="3429000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548" name="Shape 37"/>
          <p:cNvSpPr/>
          <p:nvPr/>
        </p:nvSpPr>
        <p:spPr>
          <a:xfrm>
            <a:off x="2148840" y="3282696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ED6C00"/>
          </a:solidFill>
          <a:ln w="12700">
            <a:solidFill>
              <a:srgbClr val="ED6C00"/>
            </a:solidFill>
            <a:prstDash val="solid"/>
          </a:ln>
        </p:spPr>
        <p:txBody>
          <a:bodyPr/>
          <a:p/>
        </p:txBody>
      </p:sp>
      <p:sp>
        <p:nvSpPr>
          <p:cNvPr id="3552" name="Text 38"/>
          <p:cNvSpPr txBox="1"/>
          <p:nvPr/>
        </p:nvSpPr>
        <p:spPr>
          <a:xfrm>
            <a:off x="2148840" y="328269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KICT 자료 요청</a:t>
            </a:r>
            <a:endParaRPr lang="en-US" sz="1150" dirty="0"/>
          </a:p>
        </p:txBody>
      </p:sp>
      <p:sp>
        <p:nvSpPr>
          <p:cNvPr id="3556" name="Shape 39"/>
          <p:cNvSpPr/>
          <p:nvPr/>
        </p:nvSpPr>
        <p:spPr>
          <a:xfrm>
            <a:off x="594360" y="390448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60" name="Text 40"/>
          <p:cNvSpPr txBox="1"/>
          <p:nvPr/>
        </p:nvSpPr>
        <p:spPr>
          <a:xfrm>
            <a:off x="59436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</a:t>
            </a:r>
            <a:endParaRPr lang="en-US" sz="1200" dirty="0"/>
          </a:p>
        </p:txBody>
      </p:sp>
      <p:sp>
        <p:nvSpPr>
          <p:cNvPr id="3564" name="Text 41"/>
          <p:cNvSpPr txBox="1"/>
          <p:nvPr/>
        </p:nvSpPr>
        <p:spPr>
          <a:xfrm>
            <a:off x="1051560" y="3794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 대장 제원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연장 · 폭 · 경간 · 형하고</a:t>
            </a:r>
            <a:endParaRPr lang="en-US" sz="1100" dirty="0"/>
          </a:p>
        </p:txBody>
      </p:sp>
      <p:sp>
        <p:nvSpPr>
          <p:cNvPr id="3568" name="Shape 42"/>
          <p:cNvSpPr/>
          <p:nvPr/>
        </p:nvSpPr>
        <p:spPr>
          <a:xfrm>
            <a:off x="3246120" y="390448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72" name="Text 43"/>
          <p:cNvSpPr txBox="1"/>
          <p:nvPr/>
        </p:nvSpPr>
        <p:spPr>
          <a:xfrm>
            <a:off x="324612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</a:t>
            </a:r>
            <a:endParaRPr lang="en-US" sz="1200" dirty="0"/>
          </a:p>
        </p:txBody>
      </p:sp>
      <p:sp>
        <p:nvSpPr>
          <p:cNvPr id="3576" name="Text 44"/>
          <p:cNvSpPr txBox="1"/>
          <p:nvPr/>
        </p:nvSpPr>
        <p:spPr>
          <a:xfrm>
            <a:off x="3703320" y="379476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교량관리번호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대장 좌표와 함께</a:t>
            </a:r>
            <a:endParaRPr lang="en-US" sz="1100" dirty="0"/>
          </a:p>
        </p:txBody>
      </p:sp>
      <p:sp>
        <p:nvSpPr>
          <p:cNvPr id="3580" name="Shape 45"/>
          <p:cNvSpPr/>
          <p:nvPr/>
        </p:nvSpPr>
        <p:spPr>
          <a:xfrm>
            <a:off x="594360" y="477316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84" name="Text 46"/>
          <p:cNvSpPr txBox="1"/>
          <p:nvPr/>
        </p:nvSpPr>
        <p:spPr>
          <a:xfrm>
            <a:off x="59436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3</a:t>
            </a:r>
            <a:endParaRPr lang="en-US" sz="1200" dirty="0"/>
          </a:p>
        </p:txBody>
      </p:sp>
      <p:sp>
        <p:nvSpPr>
          <p:cNvPr id="3588" name="Text 47"/>
          <p:cNvSpPr txBox="1"/>
          <p:nvPr/>
        </p:nvSpPr>
        <p:spPr>
          <a:xfrm>
            <a:off x="1051560" y="4663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보유 IFC 모델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있는 교량만이라도</a:t>
            </a:r>
            <a:endParaRPr lang="en-US" sz="1100" dirty="0"/>
          </a:p>
        </p:txBody>
      </p:sp>
      <p:sp>
        <p:nvSpPr>
          <p:cNvPr id="3592" name="Shape 48"/>
          <p:cNvSpPr/>
          <p:nvPr/>
        </p:nvSpPr>
        <p:spPr>
          <a:xfrm>
            <a:off x="3246120" y="4773168"/>
            <a:ext cx="365760" cy="365760"/>
          </a:xfrm>
          <a:prstGeom prst="ellipse">
            <a:avLst/>
          </a:prstGeom>
          <a:solidFill>
            <a:srgbClr val="ED6C00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96" name="Text 49"/>
          <p:cNvSpPr txBox="1"/>
          <p:nvPr/>
        </p:nvSpPr>
        <p:spPr>
          <a:xfrm>
            <a:off x="324612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4</a:t>
            </a:r>
            <a:endParaRPr lang="en-US" sz="1200" dirty="0"/>
          </a:p>
        </p:txBody>
      </p:sp>
      <p:sp>
        <p:nvSpPr>
          <p:cNvPr id="3600" name="Text 50"/>
          <p:cNvSpPr txBox="1"/>
          <p:nvPr/>
        </p:nvSpPr>
        <p:spPr>
          <a:xfrm>
            <a:off x="3703320" y="4663440"/>
            <a:ext cx="2103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171E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준공 · 보수 이력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연도와 일자만</a:t>
            </a:r>
            <a:endParaRPr lang="en-US" sz="1100" dirty="0"/>
          </a:p>
        </p:txBody>
      </p:sp>
      <p:sp>
        <p:nvSpPr>
          <p:cNvPr id="3604" name="Shape 51"/>
          <p:cNvSpPr/>
          <p:nvPr/>
        </p:nvSpPr>
        <p:spPr>
          <a:xfrm>
            <a:off x="6199632" y="3429000"/>
            <a:ext cx="55778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608" name="Shape 52"/>
          <p:cNvSpPr/>
          <p:nvPr/>
        </p:nvSpPr>
        <p:spPr>
          <a:xfrm>
            <a:off x="7936992" y="3282696"/>
            <a:ext cx="2103120" cy="283464"/>
          </a:xfrm>
          <a:prstGeom prst="roundRect">
            <a:avLst>
              <a:gd name="adj" fmla="val 48387"/>
            </a:avLst>
          </a:prstGeom>
          <a:solidFill>
            <a:srgbClr val="1C5B8A"/>
          </a:solidFill>
          <a:ln w="12700">
            <a:solidFill>
              <a:srgbClr val="1C5B8A"/>
            </a:solidFill>
            <a:prstDash val="solid"/>
          </a:ln>
        </p:spPr>
        <p:txBody>
          <a:bodyPr/>
          <a:p/>
        </p:txBody>
      </p:sp>
      <p:sp>
        <p:nvSpPr>
          <p:cNvPr id="3612" name="Text 53"/>
          <p:cNvSpPr txBox="1"/>
          <p:nvPr/>
        </p:nvSpPr>
        <p:spPr>
          <a:xfrm>
            <a:off x="7936992" y="328269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기대 효과</a:t>
            </a:r>
            <a:endParaRPr lang="en-US" sz="1150" dirty="0"/>
          </a:p>
        </p:txBody>
      </p:sp>
      <p:sp>
        <p:nvSpPr>
          <p:cNvPr id="3616" name="Text 54"/>
          <p:cNvSpPr txBox="1"/>
          <p:nvPr/>
        </p:nvSpPr>
        <p:spPr>
          <a:xfrm>
            <a:off x="6400800" y="38404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노후도 평가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'몇 년 됐나'에서 '실제로 얼마나 움직였나'로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안정성 추정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전 구간을 훑고 이상 구간만 현장 확인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200" dirty="0">
                <a:solidFill>
                  <a:srgbClr val="1C5B8A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유지관리 우선순위  </a:t>
            </a:r>
            <a:r>
              <a:rPr lang="en-US" sz="1200" dirty="0">
                <a:solidFill>
                  <a:srgbClr val="373D47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같은 예산으로 먼저 볼 곳을 근거로 결정</a:t>
            </a:r>
            <a:endParaRPr lang="en-US" sz="1200" dirty="0"/>
          </a:p>
        </p:txBody>
      </p:sp>
      <p:sp>
        <p:nvSpPr>
          <p:cNvPr id="3620" name="Shape 55"/>
          <p:cNvSpPr/>
          <p:nvPr/>
        </p:nvSpPr>
        <p:spPr>
          <a:xfrm>
            <a:off x="411480" y="5687568"/>
            <a:ext cx="11365992" cy="566928"/>
          </a:xfrm>
          <a:prstGeom prst="roundRect">
            <a:avLst>
              <a:gd name="adj" fmla="val 9677"/>
            </a:avLst>
          </a:prstGeom>
          <a:solidFill>
            <a:srgbClr val="10171E"/>
          </a:solidFill>
          <a:ln w="12700">
            <a:solidFill>
              <a:srgbClr val="10171E"/>
            </a:solidFill>
            <a:prstDash val="solid"/>
          </a:ln>
        </p:spPr>
        <p:txBody>
          <a:bodyPr/>
          <a:p/>
        </p:txBody>
      </p:sp>
      <p:sp>
        <p:nvSpPr>
          <p:cNvPr id="3624" name="Text 56"/>
          <p:cNvSpPr txBox="1"/>
          <p:nvPr/>
        </p:nvSpPr>
        <p:spPr>
          <a:xfrm>
            <a:off x="685800" y="56875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D6C00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연동 시연은 지금 바로 가능합니다   </a:t>
            </a:r>
            <a:r>
              <a:rPr lang="en-US" sz="1400" dirty="0">
                <a:solidFill>
                  <a:srgbClr val="FFFFFF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레지스트리에 교량관리번호만 넣으면 그 교량이 B-Maps 탭에 뜬다</a:t>
            </a:r>
            <a:endParaRPr lang="en-US" sz="1400" dirty="0"/>
          </a:p>
        </p:txBody>
      </p:sp>
      <p:sp>
        <p:nvSpPr>
          <p:cNvPr id="3628" name="Text 57"/>
          <p:cNvSpPr txBox="1"/>
          <p:nvPr/>
        </p:nvSpPr>
        <p:spPr>
          <a:xfrm>
            <a:off x="411480" y="635508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480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문의 · 재현 자료: README.md · docs/Bmaps_연동_인터페이스.md · examples/bmaps_tab/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>
                <a:latin typeface="Paperlogy 7 Bold"/>
                <a:ea typeface="Paperlogy 7 Bold"/>
                <a:cs typeface="Paperlogy 7 Bold"/>
              </a:rPr>
              <a:t>부록 — 성수대교 산출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48111" y="0"/>
            <a:ext cx="1206094" cy="592531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588" y="9144"/>
            <a:ext cx="1750162" cy="373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" y="168250"/>
            <a:ext cx="633679" cy="46543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부록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2733142" cy="180137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6656832"/>
            <a:ext cx="2560320" cy="1801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" y="758952"/>
            <a:ext cx="54864" cy="2743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관측 101회 · 교면 측점 15점 — 열팽창으로 교면과 지반이 갈라진 사례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5577840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60854" y="1138428"/>
            <a:ext cx="1879092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60854" y="1138428"/>
            <a:ext cx="1879092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처리 — MT-InSAR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1746504"/>
            <a:ext cx="41148" cy="16459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68249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관측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1682496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101회 · 2018-06 ~ 2025-12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2130552"/>
            <a:ext cx="41148" cy="16459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066544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기선망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2066544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쌍 1125개 · 연결됨 · 수직기선 -240 ~ +219 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" y="2514600"/>
            <a:ext cx="41148" cy="16459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2450592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측점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2450592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536점 중 γ≥0.35 를 넘은 204점 · 잔차고도 σΔh 8.4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2898648"/>
            <a:ext cx="41148" cy="164592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2834640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APS 제거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2834640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RMS 2.8 mm · 잔차 16.3 → 11.2 mm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280160"/>
            <a:ext cx="5577840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42782" y="1138428"/>
            <a:ext cx="891540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2782" y="1138428"/>
            <a:ext cx="89154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교면 결과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4224" y="1746504"/>
            <a:ext cx="41148" cy="164592"/>
          </a:xfrm>
          <a:prstGeom prst="rect">
            <a:avLst/>
          </a:prstGeom>
          <a:solidFill>
            <a:srgbClr val="1E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682496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교면 측점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1682496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15점 · 시간결맞음 γ 중앙 0.493 · 코히런스 0.668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4224" y="2130552"/>
            <a:ext cx="41148" cy="164592"/>
          </a:xfrm>
          <a:prstGeom prst="rect">
            <a:avLst/>
          </a:prstGeom>
          <a:solidFill>
            <a:srgbClr val="1E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066544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열팽창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2672" y="2066544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교면 +0.15 vs 지반 +0.41 mm/°C — 갈라진다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4224" y="2514600"/>
            <a:ext cx="41148" cy="164592"/>
          </a:xfrm>
          <a:prstGeom prst="rect">
            <a:avLst/>
          </a:prstGeom>
          <a:solidFill>
            <a:srgbClr val="1E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450592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속도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2450592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중앙값 -0.05 mm/년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2898648"/>
            <a:ext cx="41148" cy="164592"/>
          </a:xfrm>
          <a:prstGeom prst="rect">
            <a:avLst/>
          </a:prstGeom>
          <a:solidFill>
            <a:srgbClr val="1E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834640"/>
            <a:ext cx="1143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0171E"/>
                </a:solidFill>
                <a:latin typeface="Paperlogy 7 Bold"/>
                <a:ea typeface="Paperlogy 7 Bold"/>
                <a:cs typeface="Paperlogy 7 Bold"/>
              </a:rPr>
              <a:t>위험 지수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2" y="2834640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측점 중앙 0.058 · 전역 0.70 (등급 기준은 잠정) · IFC 부재에 15점 결합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9672" y="3474720"/>
            <a:ext cx="7792351" cy="2761488"/>
          </a:xfrm>
          <a:prstGeom prst="rect">
            <a:avLst/>
          </a:prstGeom>
          <a:solidFill>
            <a:srgbClr val="F5F7F9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03190" y="3332988"/>
            <a:ext cx="1385316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03190" y="3332988"/>
            <a:ext cx="138531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교면 전용 재선별</a:t>
            </a:r>
          </a:p>
        </p:txBody>
      </p:sp>
      <p:pic>
        <p:nvPicPr>
          <p:cNvPr id="43" name="Picture 42" descr="교면전용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120" y="3867912"/>
            <a:ext cx="7481455" cy="21945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11480" y="6291072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※ 처리(MT-InSAR)와 교면 전용 재선별은 서로 다른 단계라 점 수·속도가 다르다. 옛 ±30 m 선별로 만든 브리프 그림은 쓰지 않는다 — 그 점들은 지면보다 낮게 나와 교면이 아니었다.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3 color point GBP">
      <a:dk1>
        <a:srgbClr val="363D47"/>
      </a:dk1>
      <a:lt1>
        <a:srgbClr val="FFFFFF"/>
      </a:lt1>
      <a:dk2>
        <a:srgbClr val="074FA1"/>
      </a:dk2>
      <a:lt2>
        <a:srgbClr val="E8E8E8"/>
      </a:lt2>
      <a:accent1>
        <a:srgbClr val="409686"/>
      </a:accent1>
      <a:accent2>
        <a:srgbClr val="2580C3"/>
      </a:accent2>
      <a:accent3>
        <a:srgbClr val="8183DA"/>
      </a:accent3>
      <a:accent4>
        <a:srgbClr val="D2E3E5"/>
      </a:accent4>
      <a:accent5>
        <a:srgbClr val="CFDFEC"/>
      </a:accent5>
      <a:accent6>
        <a:srgbClr val="DAE0EE"/>
      </a:accent6>
      <a:hlink>
        <a:srgbClr val="0A4AB3"/>
      </a:hlink>
      <a:folHlink>
        <a:srgbClr val="0A49B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d576d9-b13a-4fd5-898a-452976d6d77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C9F4596B6A7E14AB1056BCC9C9D7FA2" ma:contentTypeVersion="7" ma:contentTypeDescription="새 문서를 만듭니다." ma:contentTypeScope="" ma:versionID="9afac64a7aa97301af73c04370fca3c2">
  <xsd:schema xmlns:xsd="http://www.w3.org/2001/XMLSchema" xmlns:xs="http://www.w3.org/2001/XMLSchema" xmlns:p="http://schemas.microsoft.com/office/2006/metadata/properties" xmlns:ns3="b4d576d9-b13a-4fd5-898a-452976d6d774" targetNamespace="http://schemas.microsoft.com/office/2006/metadata/properties" ma:root="true" ma:fieldsID="958354a71270ddf5f774943f6454880a" ns3:_="">
    <xsd:import namespace="b4d576d9-b13a-4fd5-898a-452976d6d77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d576d9-b13a-4fd5-898a-452976d6d7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6E5AF1-EC7D-47CB-81A3-A02A93109C96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b4d576d9-b13a-4fd5-898a-452976d6d774"/>
  </ds:schemaRefs>
</ds:datastoreItem>
</file>

<file path=customXml/itemProps2.xml><?xml version="1.0" encoding="utf-8"?>
<ds:datastoreItem xmlns:ds="http://schemas.openxmlformats.org/officeDocument/2006/customXml" ds:itemID="{98DDBED1-DE0A-4ADB-A993-1993EA5432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d576d9-b13a-4fd5-898a-452976d6d7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79AC4D7-9EE8-4DFA-B22C-A98EBA8A4D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72711</TotalTime>
  <Words>7002</Words>
  <Application>Microsoft Office PowerPoint</Application>
  <PresentationFormat>와이드스크린</PresentationFormat>
  <Paragraphs>1114</Paragraphs>
  <Slides>18</Slides>
  <Notes>15</Notes>
  <HiddenSlides>0</HiddenSlides>
  <MMClips>3</MMClips>
  <ScaleCrop>false</ScaleCrop>
  <HeadingPairs>
    <vt:vector size="6" baseType="variant">
      <vt:variant>
        <vt:lpstr>사용한 글꼴</vt:lpstr>
      </vt:variant>
      <vt:variant>
        <vt:i4>23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42" baseType="lpstr">
      <vt:lpstr>Pretendard SemiBold</vt:lpstr>
      <vt:lpstr>Freesentation 4 Regular</vt:lpstr>
      <vt:lpstr>MS Mincho</vt:lpstr>
      <vt:lpstr>Courier New</vt:lpstr>
      <vt:lpstr>Paperlogy 5 Medium</vt:lpstr>
      <vt:lpstr>Times New Roman</vt:lpstr>
      <vt:lpstr>Paperlogy 6 SemiBold</vt:lpstr>
      <vt:lpstr>페이퍼로지 5 Medium</vt:lpstr>
      <vt:lpstr>Cambria Math</vt:lpstr>
      <vt:lpstr>Pretendard Light</vt:lpstr>
      <vt:lpstr>Pretendard</vt:lpstr>
      <vt:lpstr>Noto Sans KR</vt:lpstr>
      <vt:lpstr>Arial</vt:lpstr>
      <vt:lpstr>Aptos</vt:lpstr>
      <vt:lpstr>Paperlogy 4 Regular</vt:lpstr>
      <vt:lpstr>Wingdings</vt:lpstr>
      <vt:lpstr>HancomEQN</vt:lpstr>
      <vt:lpstr>Pretendard Medium</vt:lpstr>
      <vt:lpstr>KoPubWorld돋움체 Bold</vt:lpstr>
      <vt:lpstr>Paperlogy 7 Bold</vt:lpstr>
      <vt:lpstr>12롯데마트드림Bold</vt:lpstr>
      <vt:lpstr>맑은 고딕</vt:lpstr>
      <vt:lpstr>페이퍼로지 7 Bold</vt:lpstr>
      <vt:lpstr>1_Office Theme</vt:lpstr>
      <vt:lpstr>PowerPoint 프레젠테이션</vt:lpstr>
      <vt:lpstr>PowerPoint 프레젠테이션</vt:lpstr>
      <vt:lpstr>연구개발과제의 필요성</vt:lpstr>
      <vt:lpstr>연구성과 목표</vt:lpstr>
      <vt:lpstr>연구수행 내용</vt:lpstr>
      <vt:lpstr>연구수행 내용</vt:lpstr>
      <vt:lpstr>연구수행 내용</vt:lpstr>
      <vt:lpstr>연구수행 내용</vt:lpstr>
      <vt:lpstr>향후 계획</vt:lpstr>
      <vt:lpstr>향후 계획</vt:lpstr>
      <vt:lpstr>향후 계획</vt:lpstr>
      <vt:lpstr>향후 계획</vt:lpstr>
      <vt:lpstr>향후 계획</vt:lpstr>
      <vt:lpstr>향후 계획</vt:lpstr>
      <vt:lpstr>향후 계획</vt:lpstr>
      <vt:lpstr>PowerPoint 프레젠테이션</vt:lpstr>
      <vt:lpstr>참고문헌</vt:lpstr>
      <vt:lpstr>부록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선우린</dc:creator>
  <cp:lastModifiedBy>A</cp:lastModifiedBy>
  <cp:revision>688</cp:revision>
  <cp:lastPrinted>2026-09-15T09:08:13Z</cp:lastPrinted>
  <dcterms:created xsi:type="dcterms:W3CDTF">2025-01-10T01:03:53Z</dcterms:created>
  <dcterms:modified xsi:type="dcterms:W3CDTF">2026-09-17T08:31:40Z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0x010100AC9F4596B6A7E14AB1056BCC9C9D7FA2</vt:lpwstr>
  </property>
</Properties>
</file>