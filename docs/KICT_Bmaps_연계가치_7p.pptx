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①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왜 결합해야 하는가 — B-Maps 가 보는 것, 아직 못 보는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연계 가치 1/2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969264"/>
            <a:ext cx="5547208" cy="19019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69264"/>
            <a:ext cx="5547208" cy="384048"/>
          </a:xfrm>
          <a:prstGeom prst="rect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969264"/>
            <a:ext cx="514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B-Maps 가 이미 가진 것 — 공간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17904"/>
            <a:ext cx="5144872" cy="1216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100" b="1">
                <a:solidFill>
                  <a:srgbClr val="102A43"/>
                </a:solidFill>
                <a:latin typeface="맑은 고딕"/>
              </a:rPr>
              <a:t>전국 교량 대장·도면 </a:t>
            </a:r>
            <a:r>
              <a:rPr sz="1100" b="0">
                <a:solidFill>
                  <a:srgbClr val="102A43"/>
                </a:solidFill>
                <a:latin typeface="맑은 고딕"/>
              </a:rPr>
              <a:t>— 어디에 무엇이 있는지</a:t>
            </a:r>
          </a:p>
          <a:p>
            <a:pPr algn="l">
              <a:lnSpc>
                <a:spcPct val="142000"/>
              </a:lnSpc>
            </a:pPr>
            <a:r>
              <a:rPr sz="11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100" b="1">
                <a:solidFill>
                  <a:srgbClr val="102A43"/>
                </a:solidFill>
                <a:latin typeface="맑은 고딕"/>
              </a:rPr>
              <a:t>IFC 기반 자산 모델 </a:t>
            </a:r>
            <a:r>
              <a:rPr sz="1100" b="0">
                <a:solidFill>
                  <a:srgbClr val="102A43"/>
                </a:solidFill>
                <a:latin typeface="맑은 고딕"/>
              </a:rPr>
              <a:t>— 부재 단위로 식별되는 구조</a:t>
            </a:r>
          </a:p>
          <a:p>
            <a:pPr algn="l">
              <a:lnSpc>
                <a:spcPct val="142000"/>
              </a:lnSpc>
            </a:pPr>
            <a:r>
              <a:rPr sz="11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100" b="1">
                <a:solidFill>
                  <a:srgbClr val="102A43"/>
                </a:solidFill>
                <a:latin typeface="맑은 고딕"/>
              </a:rPr>
              <a:t>좌표계·플랫폼·사용자 </a:t>
            </a:r>
            <a:r>
              <a:rPr sz="1100" b="0">
                <a:solidFill>
                  <a:srgbClr val="102A43"/>
                </a:solidFill>
                <a:latin typeface="맑은 고딕"/>
              </a:rPr>
              <a:t>— 결과를 받아 쓸 자리가 이미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8" y="969264"/>
            <a:ext cx="5547208" cy="19019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8" y="969264"/>
            <a:ext cx="5547208" cy="384048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4176" y="969264"/>
            <a:ext cx="514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지금 비어 있는 칸 — 시간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4176" y="1517904"/>
            <a:ext cx="5144872" cy="1216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100" b="1">
                <a:solidFill>
                  <a:srgbClr val="102A43"/>
                </a:solidFill>
                <a:latin typeface="맑은 고딕"/>
              </a:rPr>
              <a:t>지어진 뒤 무슨 일이 있었나 </a:t>
            </a:r>
            <a:r>
              <a:rPr sz="1100" b="0">
                <a:solidFill>
                  <a:srgbClr val="102A43"/>
                </a:solidFill>
                <a:latin typeface="맑은 고딕"/>
              </a:rPr>
              <a:t>— 준공 도면은 그날의 기록이다</a:t>
            </a:r>
          </a:p>
          <a:p>
            <a:pPr algn="l">
              <a:lnSpc>
                <a:spcPct val="142000"/>
              </a:lnSpc>
            </a:pPr>
            <a:r>
              <a:rPr sz="11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100" b="1">
                <a:solidFill>
                  <a:srgbClr val="102A43"/>
                </a:solidFill>
                <a:latin typeface="맑은 고딕"/>
              </a:rPr>
              <a:t>점검과 점검 사이 </a:t>
            </a:r>
            <a:r>
              <a:rPr sz="1100" b="0">
                <a:solidFill>
                  <a:srgbClr val="102A43"/>
                </a:solidFill>
                <a:latin typeface="맑은 고딕"/>
              </a:rPr>
              <a:t>— 사람이 간 날만 관측이 있다</a:t>
            </a:r>
          </a:p>
          <a:p>
            <a:pPr algn="l">
              <a:lnSpc>
                <a:spcPct val="142000"/>
              </a:lnSpc>
            </a:pPr>
            <a:r>
              <a:rPr sz="11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100" b="1">
                <a:solidFill>
                  <a:srgbClr val="102A43"/>
                </a:solidFill>
                <a:latin typeface="맑은 고딕"/>
              </a:rPr>
              <a:t>계측기가 없는 교량 </a:t>
            </a:r>
            <a:r>
              <a:rPr sz="1100" b="0">
                <a:solidFill>
                  <a:srgbClr val="102A43"/>
                </a:solidFill>
                <a:latin typeface="맑은 고딕"/>
              </a:rPr>
              <a:t>— 전국 교량 대부분이 여기 해당한다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999232"/>
            <a:ext cx="2773604" cy="11704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999232"/>
            <a:ext cx="50292" cy="117043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45536"/>
            <a:ext cx="249928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2018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년 6월~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584448"/>
            <a:ext cx="24992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위성 관측이 이미 쌓여 있다
소급해서 과거를 볼 수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6524" y="2999232"/>
            <a:ext cx="2773604" cy="11704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76524" y="2999232"/>
            <a:ext cx="50292" cy="1170432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9404" y="3145536"/>
            <a:ext cx="249928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12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9404" y="3584448"/>
            <a:ext cx="24992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재방문 주기
사람이 가지 않아도 갱신된다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1568" y="2999232"/>
            <a:ext cx="2773604" cy="11704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1568" y="2999232"/>
            <a:ext cx="50292" cy="117043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24448" y="3145536"/>
            <a:ext cx="249928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0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4448" y="3584448"/>
            <a:ext cx="24992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현장 설치 장비
교량에 손대지 않는다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611" y="2999232"/>
            <a:ext cx="2773604" cy="11704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06611" y="2999232"/>
            <a:ext cx="50292" cy="1170432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9491" y="3145536"/>
            <a:ext cx="249928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전량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무상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491" y="3584448"/>
            <a:ext cx="24992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Sentinel-1 공개 자료
관측 비용이 교량 수에 비례하지 않는다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407408"/>
            <a:ext cx="11368735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" y="4407408"/>
            <a:ext cx="249995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58323" y="4407408"/>
            <a:ext cx="338813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지금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11053" y="4407408"/>
            <a:ext cx="498686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결합하면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" y="4718304"/>
            <a:ext cx="249995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2A43"/>
                </a:solidFill>
                <a:latin typeface="맑은 고딕"/>
              </a:rPr>
              <a:t>계측기가 달린 교량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58323" y="4718304"/>
            <a:ext cx="338813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02A43"/>
                </a:solidFill>
                <a:latin typeface="맑은 고딕"/>
              </a:rPr>
              <a:t>상시 감시 — 붙인 지점만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11053" y="4718304"/>
            <a:ext cx="498686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02A43"/>
                </a:solidFill>
                <a:latin typeface="맑은 고딕"/>
              </a:rPr>
              <a:t>위성으로 교차검증 · 나머지 구간까지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029200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029200"/>
            <a:ext cx="11368735" cy="310896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6" y="5029200"/>
            <a:ext cx="249995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2A43"/>
                </a:solidFill>
                <a:latin typeface="맑은 고딕"/>
              </a:rPr>
              <a:t>계측기가 없는 교량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8323" y="5029200"/>
            <a:ext cx="338813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02A43"/>
                </a:solidFill>
                <a:latin typeface="맑은 고딕"/>
              </a:rPr>
              <a:t>점검 간 것으로 판단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11053" y="5029200"/>
            <a:ext cx="498686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02A43"/>
                </a:solidFill>
                <a:latin typeface="맑은 고딕"/>
              </a:rPr>
              <a:t>12일마다 전 구간 변위가 갱신된다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340096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3776" y="5340096"/>
            <a:ext cx="249995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2A43"/>
                </a:solidFill>
                <a:latin typeface="맑은 고딕"/>
              </a:rPr>
              <a:t>과거 이력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58323" y="5340096"/>
            <a:ext cx="338813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02A43"/>
                </a:solidFill>
                <a:latin typeface="맑은 고딕"/>
              </a:rPr>
              <a:t>점검 기록이 전부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11053" y="5340096"/>
            <a:ext cx="498686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02A43"/>
                </a:solidFill>
                <a:latin typeface="맑은 고딕"/>
              </a:rPr>
              <a:t>2018년 6월까지 소급해 다시 본다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5650992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11480" y="5705856"/>
            <a:ext cx="11368735" cy="566928"/>
          </a:xfrm>
          <a:prstGeom prst="roundRect">
            <a:avLst/>
          </a:prstGeom>
          <a:solidFill>
            <a:srgbClr val="E7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5705856"/>
            <a:ext cx="108749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02A43"/>
                </a:solidFill>
                <a:latin typeface="맑은 고딕"/>
              </a:rPr>
              <a:t>B-Maps 는 '무엇이 어디에 있는가'를, Inframon 은 '그것이 그동안 어떻게 움직였는가'를 가진다 — 둘은 겹치지 않고, 서로가 없으면 반쪽이다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※ 관측 기간·주기는 실제 처리한 스택에서 옮겼다(2018-06-19 ~ 2025-12-27). 현장 설치 0 은 InSAR 가 기존 산란체를 쓰기 때문이며, 그래서 산란체가 없는 교량은 점이 적다 — 장점과 한계가 같은 뿌리다.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②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붙일 자리는 이미 맞춰져 있다 — 새로 만들 것이 아니라 잇는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연계 가치 2/2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969264"/>
            <a:ext cx="1841449" cy="804672"/>
          </a:xfrm>
          <a:prstGeom prst="homePlat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14984"/>
            <a:ext cx="13988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좌표 1개</a:t>
            </a:r>
          </a:p>
          <a:p>
            <a:pPr algn="ctr">
              <a:lnSpc>
                <a:spcPct val="100000"/>
              </a:lnSpc>
            </a:pPr>
            <a:r>
              <a:rPr sz="819" b="0">
                <a:solidFill>
                  <a:srgbClr val="D6E6F3"/>
                </a:solidFill>
                <a:latin typeface="맑은 고딕"/>
              </a:rPr>
              <a:t>위경도만 입력</a:t>
            </a:r>
          </a:p>
        </p:txBody>
      </p:sp>
      <p:sp>
        <p:nvSpPr>
          <p:cNvPr id="8" name="Chevron 7"/>
          <p:cNvSpPr/>
          <p:nvPr/>
        </p:nvSpPr>
        <p:spPr>
          <a:xfrm>
            <a:off x="2316937" y="969264"/>
            <a:ext cx="1841449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19273" y="1014984"/>
            <a:ext cx="1036777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Sentinel-1 SLC</a:t>
            </a:r>
          </a:p>
          <a:p>
            <a:pPr algn="ctr">
              <a:lnSpc>
                <a:spcPct val="100000"/>
              </a:lnSpc>
            </a:pPr>
            <a:r>
              <a:rPr sz="819" b="0">
                <a:solidFill>
                  <a:srgbClr val="D6E6F3"/>
                </a:solidFill>
                <a:latin typeface="맑은 고딕"/>
              </a:rPr>
              <a:t>내려받기·정합</a:t>
            </a:r>
          </a:p>
          <a:p>
            <a:pPr algn="ctr">
              <a:lnSpc>
                <a:spcPct val="100000"/>
              </a:lnSpc>
            </a:pPr>
            <a:r>
              <a:rPr sz="819" b="0">
                <a:solidFill>
                  <a:srgbClr val="D6E6F3"/>
                </a:solidFill>
                <a:latin typeface="맑은 고딕"/>
              </a:rPr>
              <a:t>자동</a:t>
            </a:r>
          </a:p>
        </p:txBody>
      </p:sp>
      <p:sp>
        <p:nvSpPr>
          <p:cNvPr id="10" name="Chevron 9"/>
          <p:cNvSpPr/>
          <p:nvPr/>
        </p:nvSpPr>
        <p:spPr>
          <a:xfrm>
            <a:off x="4222394" y="969264"/>
            <a:ext cx="1841449" cy="804672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4730" y="1014984"/>
            <a:ext cx="1036777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PS/DS 시계열</a:t>
            </a:r>
          </a:p>
          <a:p>
            <a:pPr algn="ctr">
              <a:lnSpc>
                <a:spcPct val="100000"/>
              </a:lnSpc>
            </a:pPr>
            <a:r>
              <a:rPr sz="819" b="0">
                <a:solidFill>
                  <a:srgbClr val="D6E6F3"/>
                </a:solidFill>
                <a:latin typeface="맑은 고딕"/>
              </a:rPr>
              <a:t>점별 변위</a:t>
            </a:r>
          </a:p>
          <a:p>
            <a:pPr algn="ctr">
              <a:lnSpc>
                <a:spcPct val="100000"/>
              </a:lnSpc>
            </a:pPr>
            <a:r>
              <a:rPr sz="819" b="0">
                <a:solidFill>
                  <a:srgbClr val="D6E6F3"/>
                </a:solidFill>
                <a:latin typeface="맑은 고딕"/>
              </a:rPr>
              <a:t>mm 단위</a:t>
            </a:r>
          </a:p>
        </p:txBody>
      </p:sp>
      <p:sp>
        <p:nvSpPr>
          <p:cNvPr id="12" name="Chevron 11"/>
          <p:cNvSpPr/>
          <p:nvPr/>
        </p:nvSpPr>
        <p:spPr>
          <a:xfrm>
            <a:off x="6127852" y="969264"/>
            <a:ext cx="1841449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0188" y="1014984"/>
            <a:ext cx="1036777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PINN 역산</a:t>
            </a:r>
          </a:p>
          <a:p>
            <a:pPr algn="ctr">
              <a:lnSpc>
                <a:spcPct val="100000"/>
              </a:lnSpc>
            </a:pPr>
            <a:r>
              <a:rPr sz="819" b="0">
                <a:solidFill>
                  <a:srgbClr val="D6E6F3"/>
                </a:solidFill>
                <a:latin typeface="맑은 고딕"/>
              </a:rPr>
              <a:t>강성·처짐</a:t>
            </a:r>
          </a:p>
          <a:p>
            <a:pPr algn="ctr">
              <a:lnSpc>
                <a:spcPct val="100000"/>
              </a:lnSpc>
            </a:pPr>
            <a:r>
              <a:rPr sz="819" b="0">
                <a:solidFill>
                  <a:srgbClr val="D6E6F3"/>
                </a:solidFill>
                <a:latin typeface="맑은 고딕"/>
              </a:rPr>
              <a:t>물리식 구속</a:t>
            </a:r>
          </a:p>
        </p:txBody>
      </p:sp>
      <p:sp>
        <p:nvSpPr>
          <p:cNvPr id="14" name="Chevron 13"/>
          <p:cNvSpPr/>
          <p:nvPr/>
        </p:nvSpPr>
        <p:spPr>
          <a:xfrm>
            <a:off x="8033309" y="969264"/>
            <a:ext cx="1841449" cy="804672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5645" y="1014984"/>
            <a:ext cx="1036777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IFC · CRI 트윈</a:t>
            </a:r>
          </a:p>
          <a:p>
            <a:pPr algn="ctr">
              <a:lnSpc>
                <a:spcPct val="100000"/>
              </a:lnSpc>
            </a:pPr>
            <a:r>
              <a:rPr sz="819" b="0">
                <a:solidFill>
                  <a:srgbClr val="D6E6F3"/>
                </a:solidFill>
                <a:latin typeface="맑은 고딕"/>
              </a:rPr>
              <a:t>부재에 값이 붙는다</a:t>
            </a:r>
          </a:p>
        </p:txBody>
      </p:sp>
      <p:sp>
        <p:nvSpPr>
          <p:cNvPr id="16" name="Chevron 15"/>
          <p:cNvSpPr/>
          <p:nvPr/>
        </p:nvSpPr>
        <p:spPr>
          <a:xfrm>
            <a:off x="9938766" y="969264"/>
            <a:ext cx="1841449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41102" y="1014984"/>
            <a:ext cx="1036777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B-Maps</a:t>
            </a:r>
          </a:p>
          <a:p>
            <a:pPr algn="ctr">
              <a:lnSpc>
                <a:spcPct val="100000"/>
              </a:lnSpc>
            </a:pPr>
            <a:r>
              <a:rPr sz="819" b="0">
                <a:solidFill>
                  <a:srgbClr val="D6E6F3"/>
                </a:solidFill>
                <a:latin typeface="맑은 고딕"/>
              </a:rPr>
              <a:t>REST 로 그대로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029968"/>
            <a:ext cx="6903720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2029968"/>
            <a:ext cx="115339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접점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1759" y="2029968"/>
            <a:ext cx="265965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Inframon 이 내는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6008" y="2029968"/>
            <a:ext cx="2596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B-Maps 가 받는 방식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" y="2340864"/>
            <a:ext cx="115339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2A43"/>
                </a:solidFill>
                <a:latin typeface="맑은 고딕"/>
              </a:rPr>
              <a:t>자산 모델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1759" y="2340864"/>
            <a:ext cx="2659657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IfcBridge proxy (.ifc) · 부재 GUID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6008" y="2340864"/>
            <a:ext cx="25968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기존 IFC 파이프라인 그대로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670048"/>
            <a:ext cx="6903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2670048"/>
            <a:ext cx="690372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" y="2670048"/>
            <a:ext cx="115339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2A43"/>
                </a:solidFill>
                <a:latin typeface="맑은 고딕"/>
              </a:rPr>
              <a:t>3D 타일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1759" y="2670048"/>
            <a:ext cx="2659657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tileset.json · glTF(twin.glb)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6008" y="2670048"/>
            <a:ext cx="25968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지도 위 3D 레이어로 적재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2999232"/>
            <a:ext cx="6903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" y="2999232"/>
            <a:ext cx="115339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2A43"/>
                </a:solidFill>
                <a:latin typeface="맑은 고딕"/>
              </a:rPr>
              <a:t>좌표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11759" y="2999232"/>
            <a:ext cx="2659657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CRI 전역 좌표 · 교축 측점(m)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36008" y="2999232"/>
            <a:ext cx="25968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대장 좌표와 직접 대응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328416"/>
            <a:ext cx="6903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" y="3328416"/>
            <a:ext cx="690372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" y="3328416"/>
            <a:ext cx="115339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2A43"/>
                </a:solidFill>
                <a:latin typeface="맑은 고딕"/>
              </a:rPr>
              <a:t>도로망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11759" y="3328416"/>
            <a:ext cx="2659657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OSM 500 m 반경 도로 링크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36008" y="3328416"/>
            <a:ext cx="25968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교통·우회 분석에 연결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657600"/>
            <a:ext cx="6903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3776" y="3657600"/>
            <a:ext cx="115339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2A43"/>
                </a:solidFill>
                <a:latin typeface="맑은 고딕"/>
              </a:rPr>
              <a:t>시계열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1759" y="3657600"/>
            <a:ext cx="2659657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REST /api/v1 · 점·부재 단위 변위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36008" y="3657600"/>
            <a:ext cx="25968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대시보드·경보 규칙에 투입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986784"/>
            <a:ext cx="6903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635240" y="2029968"/>
            <a:ext cx="4144975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635240" y="2029968"/>
            <a:ext cx="4144975" cy="384048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36408" y="2029968"/>
            <a:ext cx="3840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역할이 겹치지 않는다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36408" y="2578608"/>
            <a:ext cx="3749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0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50" b="1">
                <a:solidFill>
                  <a:srgbClr val="102A43"/>
                </a:solidFill>
                <a:latin typeface="맑은 고딕"/>
              </a:rPr>
              <a:t>KICT B-Maps </a:t>
            </a:r>
            <a:r>
              <a:rPr sz="1050" b="0">
                <a:solidFill>
                  <a:srgbClr val="102A43"/>
                </a:solidFill>
                <a:latin typeface="맑은 고딕"/>
              </a:rPr>
              <a:t>— 자산·도면·플랫폼·사용자</a:t>
            </a:r>
          </a:p>
          <a:p>
            <a:pPr algn="l">
              <a:lnSpc>
                <a:spcPct val="138000"/>
              </a:lnSpc>
            </a:pPr>
            <a:r>
              <a:rPr sz="10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50" b="1">
                <a:solidFill>
                  <a:srgbClr val="102A43"/>
                </a:solidFill>
                <a:latin typeface="맑은 고딕"/>
              </a:rPr>
              <a:t>Inframon </a:t>
            </a:r>
            <a:r>
              <a:rPr sz="1050" b="0">
                <a:solidFill>
                  <a:srgbClr val="102A43"/>
                </a:solidFill>
                <a:latin typeface="맑은 고딕"/>
              </a:rPr>
              <a:t>— 시계열 변위·물성 역산·위험 지수</a:t>
            </a:r>
          </a:p>
          <a:p>
            <a:pPr algn="l">
              <a:lnSpc>
                <a:spcPct val="138000"/>
              </a:lnSpc>
            </a:pPr>
            <a:r>
              <a:rPr sz="10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50" b="1">
                <a:solidFill>
                  <a:srgbClr val="102A43"/>
                </a:solidFill>
                <a:latin typeface="맑은 고딕"/>
              </a:rPr>
              <a:t>공통 </a:t>
            </a:r>
            <a:r>
              <a:rPr sz="1050" b="0">
                <a:solidFill>
                  <a:srgbClr val="102A43"/>
                </a:solidFill>
                <a:latin typeface="맑은 고딕"/>
              </a:rPr>
              <a:t>— IFC 부재 GUID 하나로 묶인다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1480" y="4498848"/>
            <a:ext cx="11368735" cy="914400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4553712"/>
            <a:ext cx="108749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E06C2C"/>
                </a:solidFill>
                <a:latin typeface="맑은 고딕"/>
              </a:rPr>
              <a:t>왜 지금인가</a:t>
            </a:r>
          </a:p>
          <a:p>
            <a:pPr algn="l">
              <a:lnSpc>
                <a:spcPct val="130000"/>
              </a:lnSpc>
            </a:pPr>
            <a:r>
              <a:rPr sz="1080" b="0">
                <a:solidFill>
                  <a:srgbClr val="102A43"/>
                </a:solidFill>
                <a:latin typeface="맑은 고딕"/>
              </a:rPr>
              <a:t>Sentinel-1 아카이브는 이미 2018년부터 쌓여 있다. 지금 붙이면 '앞으로 쌓을 자료'가 아니라 '이미 쌓인 7년치'를 B-Maps 가 바로 갖게 된다. 계측기를 새로 달아 7년을 기다리는 길과, 있는 자료를 읽는 길의 차이다.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" y="5559552"/>
            <a:ext cx="11368735" cy="566928"/>
          </a:xfrm>
          <a:prstGeom prst="roundRect">
            <a:avLst/>
          </a:prstGeom>
          <a:solidFill>
            <a:srgbClr val="E7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5559552"/>
            <a:ext cx="108749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02A43"/>
                </a:solidFill>
                <a:latin typeface="맑은 고딕"/>
              </a:rPr>
              <a:t>연계에 필요한 신규 개발은 거의 없다 — IFC·3D Tiles·REST 로 이미 내보내고 있고, 남은 것은 어느 필드를 어느 화면에 붙일지 정하는 일이다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※ 엔드포인트·산출 파일명은 코드와 실제 교량 폴더에서 확인한 것이다. 합의가 필요한 항목(갱신 주기·경보 임계·권한)은 별도 협의 안건으로 둔다.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③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성능 산출물 ① — GNSS 기반 InSAR 변위 정확도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성능 산출물 1/4</a:t>
            </a:r>
          </a:p>
        </p:txBody>
      </p:sp>
      <p:pic>
        <p:nvPicPr>
          <p:cNvPr id="6" name="Picture 5" descr="연주기_점별상관_분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48" y="932688"/>
            <a:ext cx="7281104" cy="3703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01000" y="932688"/>
            <a:ext cx="3779215" cy="3703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1000" y="932688"/>
            <a:ext cx="3779215" cy="384048"/>
          </a:xfrm>
          <a:prstGeom prst="rect">
            <a:avLst/>
          </a:prstGeom>
          <a:solidFill>
            <a:srgbClr val="C03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932688"/>
            <a:ext cx="34747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지금 수준을 있는 그대로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80" y="1481328"/>
            <a:ext cx="341345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19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19" b="1">
                <a:solidFill>
                  <a:srgbClr val="102A43"/>
                </a:solidFill>
                <a:latin typeface="맑은 고딕"/>
              </a:rPr>
              <a:t>월별 R² </a:t>
            </a:r>
            <a:r>
              <a:rPr sz="1019" b="0">
                <a:solidFill>
                  <a:srgbClr val="102A43"/>
                </a:solidFill>
                <a:latin typeface="맑은 고딕"/>
              </a:rPr>
              <a:t>0.13 ~ 0.88 (교량 6개소)</a:t>
            </a:r>
          </a:p>
          <a:p>
            <a:pPr algn="l">
              <a:lnSpc>
                <a:spcPct val="132000"/>
              </a:lnSpc>
            </a:pPr>
            <a:r>
              <a:rPr sz="1019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19" b="1">
                <a:solidFill>
                  <a:srgbClr val="102A43"/>
                </a:solidFill>
                <a:latin typeface="맑은 고딕"/>
              </a:rPr>
              <a:t>우연 기준선을 넘은 칸 </a:t>
            </a:r>
            <a:r>
              <a:rPr sz="1019" b="0">
                <a:solidFill>
                  <a:srgbClr val="102A43"/>
                </a:solidFill>
                <a:latin typeface="맑은 고딕"/>
              </a:rPr>
              <a:t>0/24 — 평활·누적·연주기로 숫자를 올려도 우연 기준선이 같이 오른다</a:t>
            </a:r>
          </a:p>
          <a:p>
            <a:pPr algn="l">
              <a:lnSpc>
                <a:spcPct val="132000"/>
              </a:lnSpc>
            </a:pPr>
            <a:r>
              <a:rPr sz="1019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19" b="1">
                <a:solidFill>
                  <a:srgbClr val="102A43"/>
                </a:solidFill>
                <a:latin typeface="맑은 고딕"/>
              </a:rPr>
              <a:t>가장 중요한 발견 </a:t>
            </a:r>
            <a:r>
              <a:rPr sz="1019" b="0">
                <a:solidFill>
                  <a:srgbClr val="102A43"/>
                </a:solidFill>
                <a:latin typeface="맑은 고딕"/>
              </a:rPr>
              <a:t>한 교량 안에 r ≒ +1 인 점과 r ≒ −1 인 점이 둘 다 있다. 점들의 중앙값은 0 근처다</a:t>
            </a:r>
          </a:p>
          <a:p>
            <a:pPr algn="l">
              <a:lnSpc>
                <a:spcPct val="132000"/>
              </a:lnSpc>
            </a:pPr>
            <a:r>
              <a:rPr sz="1019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19" b="1">
                <a:solidFill>
                  <a:srgbClr val="102A43"/>
                </a:solidFill>
                <a:latin typeface="맑은 고딕"/>
              </a:rPr>
              <a:t>즉 </a:t>
            </a:r>
            <a:r>
              <a:rPr sz="1019" b="0">
                <a:solidFill>
                  <a:srgbClr val="102A43"/>
                </a:solidFill>
                <a:latin typeface="맑은 고딕"/>
              </a:rPr>
              <a:t>'가장 닮은 점'을 고르는 순간 원하는 답이 나온다 — 4/6 이 정반대로 보였던 것도 교량이 아니라 고르기 때문이다</a:t>
            </a:r>
          </a:p>
          <a:p>
            <a:pPr algn="l">
              <a:lnSpc>
                <a:spcPct val="132000"/>
              </a:lnSpc>
            </a:pPr>
            <a:r>
              <a:rPr sz="1019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19" b="1">
                <a:solidFill>
                  <a:srgbClr val="102A43"/>
                </a:solidFill>
                <a:latin typeface="맑은 고딕"/>
              </a:rPr>
              <a:t>원인 </a:t>
            </a:r>
            <a:r>
              <a:rPr sz="1019" b="0">
                <a:solidFill>
                  <a:srgbClr val="102A43"/>
                </a:solidFill>
                <a:latin typeface="맑은 고딕"/>
              </a:rPr>
              <a:t>교면 PS 밀도(20,000점 중 20~237점) · 12일 관측을 월로 묶은 재표본 · 계측기 정확 위치 미제공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773168"/>
            <a:ext cx="11368735" cy="1078992"/>
          </a:xfrm>
          <a:prstGeom prst="roundRect">
            <a:avLst/>
          </a:prstGeom>
          <a:solidFill>
            <a:srgbClr val="F2F4F6"/>
          </a:solidFill>
          <a:ln w="15240">
            <a:solidFill>
              <a:srgbClr val="E06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846320"/>
            <a:ext cx="1087495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E06C2C"/>
                </a:solidFill>
                <a:latin typeface="맑은 고딕"/>
              </a:rPr>
              <a:t>숫자를 감추지 않는 이유</a:t>
            </a:r>
          </a:p>
          <a:p>
            <a:pPr algn="l">
              <a:lnSpc>
                <a:spcPct val="130000"/>
              </a:lnSpc>
            </a:pPr>
            <a:r>
              <a:rPr sz="1080" b="0">
                <a:solidFill>
                  <a:srgbClr val="102A43"/>
                </a:solidFill>
                <a:latin typeface="맑은 고딕"/>
              </a:rPr>
              <a:t>정확도는 아직 낮다. 시스템이 완성되지 않았으니 당연한 결과다. 여기서 낸 것은 높은 R² 가 아니라 '높은 R² 를 믿으면 안 되는 이유'다 — 점을 골라 숫자를 만드는 함정을 먼저 막아 두는 체계. 이게 있어야 다음에 올라간 숫자가 진짜인지 판별할 수 있다. 목적은 분명하다: 계측기 없는 교량에도 같은 판을 깔고, 검증 기준을 먼저 세워 두는 것.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※ 우연 기준선 = 위성 월값을 무작위로 섞어 같은 계산을 200회 돌린 값의 95 백분위. 다음 단계는 점을 고르지 않는 것 — 계측기 설치 위치를 받아 그 옆 점만 미리 정해 놓고 보면 이 함정이 사라진다. 원자료: 24년 한강온라인 최종보고(서울시·㈜유신·㈜일신이앤씨).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④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성능 산출물 ② — 한강 교량 7개소 적용 현황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성능 산출물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9264"/>
            <a:ext cx="7040880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969264"/>
            <a:ext cx="114646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FFFFFF"/>
                </a:solidFill>
                <a:latin typeface="맑은 고딕"/>
              </a:rPr>
              <a:t>교량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4836" y="969264"/>
            <a:ext cx="66089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FFFF"/>
                </a:solidFill>
                <a:latin typeface="맑은 고딕"/>
              </a:rPr>
              <a:t>연장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30319" y="969264"/>
            <a:ext cx="66089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FFFF"/>
                </a:solidFill>
                <a:latin typeface="맑은 고딕"/>
              </a:rPr>
              <a:t>형식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5801" y="969264"/>
            <a:ext cx="41810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FFFF"/>
                </a:solidFill>
                <a:latin typeface="맑은 고딕"/>
              </a:rPr>
              <a:t>에폭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8495" y="969264"/>
            <a:ext cx="61233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FFFF"/>
                </a:solidFill>
                <a:latin typeface="맑은 고딕"/>
              </a:rPr>
              <a:t>데크 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5420" y="969264"/>
            <a:ext cx="95223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FFFF"/>
                </a:solidFill>
                <a:latin typeface="맑은 고딕"/>
              </a:rPr>
              <a:t>속도 중앙값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2249" y="969264"/>
            <a:ext cx="51521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FFFF"/>
                </a:solidFill>
                <a:latin typeface="맑은 고딕"/>
              </a:rPr>
              <a:t>CRI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2058" y="969264"/>
            <a:ext cx="75800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FFFF"/>
                </a:solidFill>
                <a:latin typeface="맑은 고딕"/>
              </a:rPr>
              <a:t>감사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1280160"/>
            <a:ext cx="114646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02A43"/>
                </a:solidFill>
                <a:latin typeface="맑은 고딕"/>
              </a:rPr>
              <a:t>가양대교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4836" y="1280160"/>
            <a:ext cx="660890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1,700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0319" y="1280160"/>
            <a:ext cx="660890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박스거더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5801" y="1280160"/>
            <a:ext cx="418102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38495" y="1280160"/>
            <a:ext cx="612333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167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5420" y="1280160"/>
            <a:ext cx="952237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+0.17 mm/년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32249" y="1280160"/>
            <a:ext cx="515217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0.866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12058" y="1280160"/>
            <a:ext cx="758006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1595628"/>
            <a:ext cx="704088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1595628"/>
            <a:ext cx="7040880" cy="315468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1595628"/>
            <a:ext cx="114646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02A43"/>
                </a:solidFill>
                <a:latin typeface="맑은 고딕"/>
              </a:rPr>
              <a:t>원효대교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04836" y="1595628"/>
            <a:ext cx="660890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2,171 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30319" y="1595628"/>
            <a:ext cx="660890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박스거더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5801" y="1595628"/>
            <a:ext cx="418102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38495" y="1595628"/>
            <a:ext cx="612333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5420" y="1595628"/>
            <a:ext cx="952237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-0.36 mm/년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32249" y="1595628"/>
            <a:ext cx="515217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0.832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12058" y="1595628"/>
            <a:ext cx="758006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1911096"/>
            <a:ext cx="704088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" y="1911096"/>
            <a:ext cx="114646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02A43"/>
                </a:solidFill>
                <a:latin typeface="맑은 고딕"/>
              </a:rPr>
              <a:t>올림픽대교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04836" y="1911096"/>
            <a:ext cx="660890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1,470 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30319" y="1911096"/>
            <a:ext cx="660890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사장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55801" y="1911096"/>
            <a:ext cx="418102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101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38495" y="1911096"/>
            <a:ext cx="612333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15420" y="1911096"/>
            <a:ext cx="952237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-1.38 mm/년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32249" y="1911096"/>
            <a:ext cx="515217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0.914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12058" y="1911096"/>
            <a:ext cx="758006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2226564"/>
            <a:ext cx="704088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1480" y="2226564"/>
            <a:ext cx="7040880" cy="315468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" y="2226564"/>
            <a:ext cx="114646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02A43"/>
                </a:solidFill>
                <a:latin typeface="맑은 고딕"/>
              </a:rPr>
              <a:t>청담대교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04836" y="2226564"/>
            <a:ext cx="660890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982 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30319" y="2226564"/>
            <a:ext cx="660890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거더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55801" y="2226564"/>
            <a:ext cx="418102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495" y="2226564"/>
            <a:ext cx="612333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15420" y="2226564"/>
            <a:ext cx="952237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-0.99 mm/년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32249" y="2226564"/>
            <a:ext cx="515217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0.786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12058" y="2226564"/>
            <a:ext cx="758006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2542032"/>
            <a:ext cx="704088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3776" y="2542032"/>
            <a:ext cx="114646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02A43"/>
                </a:solidFill>
                <a:latin typeface="맑은 고딕"/>
              </a:rPr>
              <a:t>천호대교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04836" y="2542032"/>
            <a:ext cx="660890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1,149 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30319" y="2542032"/>
            <a:ext cx="660890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박스거더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55801" y="2542032"/>
            <a:ext cx="418102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38495" y="2542032"/>
            <a:ext cx="612333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15420" y="2542032"/>
            <a:ext cx="952237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-0.66 mm/년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32249" y="2542032"/>
            <a:ext cx="515217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0.854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12058" y="2542032"/>
            <a:ext cx="758006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2857500"/>
            <a:ext cx="704088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2857500"/>
            <a:ext cx="7040880" cy="315468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93776" y="2857500"/>
            <a:ext cx="114646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02A43"/>
                </a:solidFill>
                <a:latin typeface="맑은 고딕"/>
              </a:rPr>
              <a:t>암사대교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804836" y="2857500"/>
            <a:ext cx="660890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1,136 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30319" y="2857500"/>
            <a:ext cx="660890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아치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55801" y="2857500"/>
            <a:ext cx="418102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38495" y="2857500"/>
            <a:ext cx="612333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237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15420" y="2857500"/>
            <a:ext cx="952237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-0.23 mm/년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32249" y="2857500"/>
            <a:ext cx="515217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0.809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12058" y="2857500"/>
            <a:ext cx="758006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1480" y="3172968"/>
            <a:ext cx="704088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93776" y="3172968"/>
            <a:ext cx="114646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02A43"/>
                </a:solidFill>
                <a:latin typeface="맑은 고딕"/>
              </a:rPr>
              <a:t>월드컵대교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4836" y="3172968"/>
            <a:ext cx="660890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1,492 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630319" y="3172968"/>
            <a:ext cx="660890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사장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55801" y="3172968"/>
            <a:ext cx="418102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29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38495" y="3172968"/>
            <a:ext cx="612333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82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15420" y="3172968"/>
            <a:ext cx="952237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-4.26 mm/년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32249" y="3172968"/>
            <a:ext cx="515217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0.929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12058" y="3172968"/>
            <a:ext cx="758006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11480" y="3488436"/>
            <a:ext cx="704088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hangang_지도_화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272941"/>
            <a:ext cx="4144975" cy="2181566"/>
          </a:xfrm>
          <a:prstGeom prst="rect">
            <a:avLst/>
          </a:prstGeom>
        </p:spPr>
      </p:pic>
      <p:sp>
        <p:nvSpPr>
          <p:cNvPr id="82" name="Rounded Rectangle 81"/>
          <p:cNvSpPr/>
          <p:nvPr/>
        </p:nvSpPr>
        <p:spPr>
          <a:xfrm>
            <a:off x="7635240" y="3886200"/>
            <a:ext cx="4144975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635240" y="3886200"/>
            <a:ext cx="4144975" cy="365760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818120" y="3886200"/>
            <a:ext cx="3840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맑은 고딕"/>
              </a:rPr>
              <a:t>7개소를 고른 기준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18120" y="4370832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00" b="0">
                <a:solidFill>
                  <a:srgbClr val="102A43"/>
                </a:solidFill>
                <a:latin typeface="맑은 고딕"/>
              </a:rPr>
              <a:t>보고서에 GNSS 현장 계측이 실린 교량</a:t>
            </a:r>
          </a:p>
          <a:p>
            <a:pPr algn="l">
              <a:lnSpc>
                <a:spcPct val="130000"/>
              </a:lnSpc>
            </a:pPr>
            <a:r>
              <a:rPr sz="10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00" b="0">
                <a:solidFill>
                  <a:srgbClr val="102A43"/>
                </a:solidFill>
                <a:latin typeface="맑은 고딕"/>
              </a:rPr>
              <a:t>즉, 답을 맞춰 볼 수 있는 곳만 골랐다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11480" y="3593592"/>
            <a:ext cx="7040880" cy="17007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11480" y="3593592"/>
            <a:ext cx="7040880" cy="3657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12648" y="3593592"/>
            <a:ext cx="6675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맑은 고딕"/>
              </a:rPr>
              <a:t>교량 1개소당 자동으로 나오는 것 — 사람이 손대는 단계가 없다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2648" y="4069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98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80" b="1">
                <a:solidFill>
                  <a:srgbClr val="102A43"/>
                </a:solidFill>
                <a:latin typeface="맑은 고딕"/>
              </a:rPr>
              <a:t>project.h5 </a:t>
            </a:r>
            <a:r>
              <a:rPr sz="980" b="0">
                <a:solidFill>
                  <a:srgbClr val="102A43"/>
                </a:solidFill>
                <a:latin typeface="맑은 고딕"/>
              </a:rPr>
              <a:t>— 점별 변위 시계열 · 속도 · CRI · PINN</a:t>
            </a:r>
          </a:p>
          <a:p>
            <a:pPr algn="l">
              <a:lnSpc>
                <a:spcPct val="134000"/>
              </a:lnSpc>
            </a:pPr>
            <a:r>
              <a:rPr sz="98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80" b="1">
                <a:solidFill>
                  <a:srgbClr val="102A43"/>
                </a:solidFill>
                <a:latin typeface="맑은 고딕"/>
              </a:rPr>
              <a:t>&lt;교량&gt;_proxy.ifc </a:t>
            </a:r>
            <a:r>
              <a:rPr sz="980" b="0">
                <a:solidFill>
                  <a:srgbClr val="102A43"/>
                </a:solidFill>
                <a:latin typeface="맑은 고딕"/>
              </a:rPr>
              <a:t>— 부재 GUID 가 붙은 IFC</a:t>
            </a:r>
          </a:p>
          <a:p>
            <a:pPr algn="l">
              <a:lnSpc>
                <a:spcPct val="134000"/>
              </a:lnSpc>
            </a:pPr>
            <a:r>
              <a:rPr sz="98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80" b="1">
                <a:solidFill>
                  <a:srgbClr val="102A43"/>
                </a:solidFill>
                <a:latin typeface="맑은 고딕"/>
              </a:rPr>
              <a:t>twin.glb · tileset.json </a:t>
            </a:r>
            <a:r>
              <a:rPr sz="980" b="0">
                <a:solidFill>
                  <a:srgbClr val="102A43"/>
                </a:solidFill>
                <a:latin typeface="맑은 고딕"/>
              </a:rPr>
              <a:t>— 3D 타일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78808" y="4069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98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80" b="1">
                <a:solidFill>
                  <a:srgbClr val="102A43"/>
                </a:solidFill>
                <a:latin typeface="맑은 고딕"/>
              </a:rPr>
              <a:t>brief.png · chain.png </a:t>
            </a:r>
            <a:r>
              <a:rPr sz="980" b="0">
                <a:solidFill>
                  <a:srgbClr val="102A43"/>
                </a:solidFill>
                <a:latin typeface="맑은 고딕"/>
              </a:rPr>
              <a:t>— 평면 · 종단 · 측점</a:t>
            </a:r>
          </a:p>
          <a:p>
            <a:pPr algn="l">
              <a:lnSpc>
                <a:spcPct val="134000"/>
              </a:lnSpc>
            </a:pPr>
            <a:r>
              <a:rPr sz="98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80" b="1">
                <a:solidFill>
                  <a:srgbClr val="102A43"/>
                </a:solidFill>
                <a:latin typeface="맑은 고딕"/>
              </a:rPr>
              <a:t>osm_roads_500m.json </a:t>
            </a:r>
            <a:r>
              <a:rPr sz="980" b="0">
                <a:solidFill>
                  <a:srgbClr val="102A43"/>
                </a:solidFill>
                <a:latin typeface="맑은 고딕"/>
              </a:rPr>
              <a:t>— 반경 도로망</a:t>
            </a:r>
          </a:p>
          <a:p>
            <a:pPr algn="l">
              <a:lnSpc>
                <a:spcPct val="134000"/>
              </a:lnSpc>
            </a:pPr>
            <a:r>
              <a:rPr sz="98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80" b="1">
                <a:solidFill>
                  <a:srgbClr val="102A43"/>
                </a:solidFill>
                <a:latin typeface="맑은 고딕"/>
              </a:rPr>
              <a:t>결과.md </a:t>
            </a:r>
            <a:r>
              <a:rPr sz="980" b="0">
                <a:solidFill>
                  <a:srgbClr val="102A43"/>
                </a:solidFill>
                <a:latin typeface="맑은 고딕"/>
              </a:rPr>
              <a:t>— 출처·적용값·감사 판정을 문장으로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11480" y="5504688"/>
            <a:ext cx="11368735" cy="566928"/>
          </a:xfrm>
          <a:prstGeom prst="round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5504688"/>
            <a:ext cx="108749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감사 결과가 '보고 불가'인 곳이 더 많다 — 숨기지 않는다. 판정을 자동으로 붙이는 것 자체가 산출물이고, 어디를 먼저 보강해야 하는지가 여기서 나온다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※ 표의 모든 값은 각 교량 폴더의 bridge.json · 결과.md · project.h5 에서 직접 읽었다. '감사' 는 관측 조건이 기준 학습 조건과 얼마나 다른지를 보고 자동으로 붙는 판정이며, 구조 상태 등급이 아니다.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⑤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성능 산출물 ③ — 교량별 IFC 모델과 평면·입면 산출물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성능 산출물 3/4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96112"/>
            <a:ext cx="7406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올림픽대교 — IFC 부재로 세운 평면 · 입면 · 3D 트윈</a:t>
            </a:r>
          </a:p>
        </p:txBody>
      </p:sp>
      <p:pic>
        <p:nvPicPr>
          <p:cNvPr id="7" name="Picture 6" descr="IFC_평면입면_올림픽대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84010"/>
            <a:ext cx="7406640" cy="264522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01000" y="932688"/>
            <a:ext cx="3779215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01000" y="932688"/>
            <a:ext cx="3779215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93268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도면이 없어도 모델이 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481328"/>
            <a:ext cx="32918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0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00" b="1">
                <a:solidFill>
                  <a:srgbClr val="102A43"/>
                </a:solidFill>
                <a:latin typeface="맑은 고딕"/>
              </a:rPr>
              <a:t>입력 </a:t>
            </a:r>
            <a:r>
              <a:rPr sz="1000" b="0">
                <a:solidFill>
                  <a:srgbClr val="102A43"/>
                </a:solidFill>
                <a:latin typeface="맑은 고딕"/>
              </a:rPr>
              <a:t>위경도 1개 — 제원은 공공데이터·OSM 에서 자동 수집</a:t>
            </a:r>
          </a:p>
          <a:p>
            <a:pPr algn="l">
              <a:lnSpc>
                <a:spcPct val="134000"/>
              </a:lnSpc>
            </a:pPr>
            <a:r>
              <a:rPr sz="10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00" b="1">
                <a:solidFill>
                  <a:srgbClr val="102A43"/>
                </a:solidFill>
                <a:latin typeface="맑은 고딕"/>
              </a:rPr>
              <a:t>출력 </a:t>
            </a:r>
            <a:r>
              <a:rPr sz="1000" b="0">
                <a:solidFill>
                  <a:srgbClr val="102A43"/>
                </a:solidFill>
                <a:latin typeface="맑은 고딕"/>
              </a:rPr>
              <a:t>IfcBridge proxy · glTF · 3D Tiles · 평면/종단 도면</a:t>
            </a:r>
          </a:p>
          <a:p>
            <a:pPr algn="l">
              <a:lnSpc>
                <a:spcPct val="134000"/>
              </a:lnSpc>
            </a:pPr>
            <a:r>
              <a:rPr sz="10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00" b="1">
                <a:solidFill>
                  <a:srgbClr val="102A43"/>
                </a:solidFill>
                <a:latin typeface="맑은 고딕"/>
              </a:rPr>
              <a:t>결합 </a:t>
            </a:r>
            <a:r>
              <a:rPr sz="1000" b="0">
                <a:solidFill>
                  <a:srgbClr val="102A43"/>
                </a:solidFill>
                <a:latin typeface="맑은 고딕"/>
              </a:rPr>
              <a:t>PS 점을 부재 GlobalId 에 묶는다 — 좌표가 아니라 부재로 말한다</a:t>
            </a:r>
          </a:p>
          <a:p>
            <a:pPr algn="l">
              <a:lnSpc>
                <a:spcPct val="134000"/>
              </a:lnSpc>
            </a:pPr>
            <a:r>
              <a:rPr sz="10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00" b="1">
                <a:solidFill>
                  <a:srgbClr val="102A43"/>
                </a:solidFill>
                <a:latin typeface="맑은 고딕"/>
              </a:rPr>
              <a:t>검증 </a:t>
            </a:r>
            <a:r>
              <a:rPr sz="1000" b="0">
                <a:solidFill>
                  <a:srgbClr val="102A43"/>
                </a:solidFill>
                <a:latin typeface="맑은 고딕"/>
              </a:rPr>
              <a:t>실측 CSV·표준데이터와 대조해 차이를 결과.md 에 남긴다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370832"/>
            <a:ext cx="11368735" cy="274320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4370832"/>
            <a:ext cx="320392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FFFFFF"/>
                </a:solidFill>
                <a:latin typeface="맑은 고딕"/>
              </a:rPr>
              <a:t>교량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62290" y="4370832"/>
            <a:ext cx="1730197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FFFF"/>
                </a:solidFill>
                <a:latin typeface="맑은 고딕"/>
              </a:rPr>
              <a:t>IFC 부재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57079" y="4370832"/>
            <a:ext cx="194072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FFFF"/>
                </a:solidFill>
                <a:latin typeface="맑은 고딕"/>
              </a:rPr>
              <a:t>형식(PDE)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2401" y="4370832"/>
            <a:ext cx="130913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FFFF"/>
                </a:solidFill>
                <a:latin typeface="맑은 고딕"/>
              </a:rPr>
              <a:t>재질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6126" y="4370832"/>
            <a:ext cx="109860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FFFF"/>
                </a:solidFill>
                <a:latin typeface="맑은 고딕"/>
              </a:rPr>
              <a:t>경간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9318" y="4370832"/>
            <a:ext cx="109860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>
                <a:solidFill>
                  <a:srgbClr val="FFFFFF"/>
                </a:solidFill>
                <a:latin typeface="맑은 고딕"/>
              </a:rPr>
              <a:t>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4645152"/>
            <a:ext cx="320392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02A43"/>
                </a:solidFill>
                <a:latin typeface="맑은 고딕"/>
              </a:rPr>
              <a:t>가양대교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62290" y="4645152"/>
            <a:ext cx="1730197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61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57079" y="4645152"/>
            <a:ext cx="1940729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박스거더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2401" y="4645152"/>
            <a:ext cx="1309133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6126" y="4645152"/>
            <a:ext cx="1098601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99318" y="4645152"/>
            <a:ext cx="1098601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34 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892040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4892040"/>
            <a:ext cx="11368735" cy="246888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" y="4892040"/>
            <a:ext cx="320392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02A43"/>
                </a:solidFill>
                <a:latin typeface="맑은 고딕"/>
              </a:rPr>
              <a:t>원효대교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2290" y="4892040"/>
            <a:ext cx="1730197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57079" y="4892040"/>
            <a:ext cx="1940729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박스거더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2401" y="4892040"/>
            <a:ext cx="1309133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PSC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36126" y="4892040"/>
            <a:ext cx="1098601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72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9318" y="4892040"/>
            <a:ext cx="1098601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20 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5138928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" y="5138928"/>
            <a:ext cx="320392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02A43"/>
                </a:solidFill>
                <a:latin typeface="맑은 고딕"/>
              </a:rPr>
              <a:t>올림픽대교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62290" y="5138928"/>
            <a:ext cx="1730197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637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57079" y="5138928"/>
            <a:ext cx="1940729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사장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2401" y="5138928"/>
            <a:ext cx="1309133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36126" y="5138928"/>
            <a:ext cx="1098601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99318" y="5138928"/>
            <a:ext cx="1098601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30 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385816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1480" y="5385816"/>
            <a:ext cx="11368735" cy="246888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3776" y="5385816"/>
            <a:ext cx="320392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02A43"/>
                </a:solidFill>
                <a:latin typeface="맑은 고딕"/>
              </a:rPr>
              <a:t>청담대교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62290" y="5385816"/>
            <a:ext cx="1730197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67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57079" y="5385816"/>
            <a:ext cx="1940729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거더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2401" y="5385816"/>
            <a:ext cx="1309133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36126" y="5385816"/>
            <a:ext cx="1098601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33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99318" y="5385816"/>
            <a:ext cx="1098601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14 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563270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3776" y="5632704"/>
            <a:ext cx="320392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02A43"/>
                </a:solidFill>
                <a:latin typeface="맑은 고딕"/>
              </a:rPr>
              <a:t>천호대교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62290" y="5632704"/>
            <a:ext cx="1730197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57079" y="5632704"/>
            <a:ext cx="1940729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박스거더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2401" y="5632704"/>
            <a:ext cx="1309133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36126" y="5632704"/>
            <a:ext cx="1098601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38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99318" y="5632704"/>
            <a:ext cx="1098601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35 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5879592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1480" y="5879592"/>
            <a:ext cx="11368735" cy="246888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3776" y="5879592"/>
            <a:ext cx="320392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02A43"/>
                </a:solidFill>
                <a:latin typeface="맑은 고딕"/>
              </a:rPr>
              <a:t>암사대교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62290" y="5879592"/>
            <a:ext cx="1730197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77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57079" y="5879592"/>
            <a:ext cx="1940729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아치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2401" y="5879592"/>
            <a:ext cx="1309133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36126" y="5879592"/>
            <a:ext cx="1098601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38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99318" y="5879592"/>
            <a:ext cx="1098601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28 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6126480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3776" y="6126480"/>
            <a:ext cx="320392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02A43"/>
                </a:solidFill>
                <a:latin typeface="맑은 고딕"/>
              </a:rPr>
              <a:t>월드컵대교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62290" y="6126480"/>
            <a:ext cx="1730197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101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757079" y="6126480"/>
            <a:ext cx="1940729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사장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62401" y="6126480"/>
            <a:ext cx="1309133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36126" y="6126480"/>
            <a:ext cx="1098601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50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99318" y="6126480"/>
            <a:ext cx="1098601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31 m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6373368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※ proxy 는 준공도면 대체물이 아니라 '위성 점을 부재에 붙이기 위한 기하'다. 실제 IFC 가 B-Maps 에 있으면 그것을 쓰는 편이 낫고, 없을 때 빈칸을 메우는 용도다 — 전국 단위로 갈 때 이 차이가 크다.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⑥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성능 산출물 ④ — 변위 속도 · FRAM 공명 위험 지수 3D 시각화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성능 산출물 4/4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96112"/>
            <a:ext cx="55472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교량 변위 속도 — 색은 LOS 속도</a:t>
            </a:r>
          </a:p>
        </p:txBody>
      </p:sp>
      <p:pic>
        <p:nvPicPr>
          <p:cNvPr id="7" name="Picture 6" descr="3D_변위속도_올림픽대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5846"/>
            <a:ext cx="5547208" cy="24557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8" y="896112"/>
            <a:ext cx="55472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FRAM 공명 위험 지수 — 색은 CRI</a:t>
            </a:r>
          </a:p>
        </p:txBody>
      </p:sp>
      <p:pic>
        <p:nvPicPr>
          <p:cNvPr id="9" name="Picture 8" descr="3D_FRAM_CRI_올림픽대교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8" y="1295846"/>
            <a:ext cx="5547208" cy="245579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11480" y="4005072"/>
            <a:ext cx="11368735" cy="1874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4005072"/>
            <a:ext cx="11368735" cy="384048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05072"/>
            <a:ext cx="1091153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왜 3D 여야 하나 — 같은 기하 위에 색만 바꿔 얹는다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535424"/>
            <a:ext cx="5208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019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19" b="1">
                <a:solidFill>
                  <a:srgbClr val="102A43"/>
                </a:solidFill>
                <a:latin typeface="맑은 고딕"/>
              </a:rPr>
              <a:t>부재에 붙는다 </a:t>
            </a:r>
            <a:r>
              <a:rPr sz="1019" b="0">
                <a:solidFill>
                  <a:srgbClr val="102A43"/>
                </a:solidFill>
                <a:latin typeface="맑은 고딕"/>
              </a:rPr>
              <a:t>— 점이 어느 경간·어느 주탑인지 좌표가 아니라 부재 이름으로 말할 수 있다</a:t>
            </a:r>
          </a:p>
          <a:p>
            <a:pPr algn="l">
              <a:lnSpc>
                <a:spcPct val="136000"/>
              </a:lnSpc>
            </a:pPr>
            <a:r>
              <a:rPr sz="1019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19" b="1">
                <a:solidFill>
                  <a:srgbClr val="102A43"/>
                </a:solidFill>
                <a:latin typeface="맑은 고딕"/>
              </a:rPr>
              <a:t>두 장이 같은 기하 </a:t>
            </a:r>
            <a:r>
              <a:rPr sz="1019" b="0">
                <a:solidFill>
                  <a:srgbClr val="102A43"/>
                </a:solidFill>
                <a:latin typeface="맑은 고딕"/>
              </a:rPr>
              <a:t>— 속도는 잠잠한데 공명 지수만 높은 구간이 눈으로 잡힌다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5848" y="4535424"/>
            <a:ext cx="5208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019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19" b="1">
                <a:solidFill>
                  <a:srgbClr val="102A43"/>
                </a:solidFill>
                <a:latin typeface="맑은 고딕"/>
              </a:rPr>
              <a:t>B-Maps 화면 그대로 </a:t>
            </a:r>
            <a:r>
              <a:rPr sz="1019" b="0">
                <a:solidFill>
                  <a:srgbClr val="102A43"/>
                </a:solidFill>
                <a:latin typeface="맑은 고딕"/>
              </a:rPr>
              <a:t>— glTF·3D Tiles 로 내보내므로 지도 위에 레이어 하나 더 얹는 일이다</a:t>
            </a:r>
          </a:p>
          <a:p>
            <a:pPr algn="l">
              <a:lnSpc>
                <a:spcPct val="136000"/>
              </a:lnSpc>
            </a:pPr>
            <a:r>
              <a:rPr sz="1019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19" b="1">
                <a:solidFill>
                  <a:srgbClr val="102A43"/>
                </a:solidFill>
                <a:latin typeface="맑은 고딕"/>
              </a:rPr>
              <a:t>CRI 는 등급이 아니다 </a:t>
            </a:r>
            <a:r>
              <a:rPr sz="1019" b="0">
                <a:solidFill>
                  <a:srgbClr val="102A43"/>
                </a:solidFill>
                <a:latin typeface="맑은 고딕"/>
              </a:rPr>
              <a:t>— '같이 움직이는 구간'을 짚어 주는 지표이며, 관측 조건이 다르면 잠정으로 표시된다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※ 올림픽대교 예시. 두 그림 모두 project.h5 의 insar/velocity_mm_yr · fram/CRI 를 그대로 읽어 그렸고, 회색 윤곽은 같은 좌표계의 IFC 부재다. CRI 색 위끝은 자료에 맞춰 잡았다(0~1 고정 아님).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⑦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결론 — B-Maps 제공 서비스에 Inframon 이 더하는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결합 시너지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969264"/>
            <a:ext cx="3637178" cy="2761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69264"/>
            <a:ext cx="3637178" cy="42062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969264"/>
            <a:ext cx="330799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노후도 평가 및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36192"/>
            <a:ext cx="3271418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019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19" b="1">
                <a:solidFill>
                  <a:srgbClr val="102A43"/>
                </a:solidFill>
                <a:latin typeface="맑은 고딕"/>
              </a:rPr>
              <a:t>지금 </a:t>
            </a:r>
            <a:r>
              <a:rPr sz="1019" b="0">
                <a:solidFill>
                  <a:srgbClr val="102A43"/>
                </a:solidFill>
                <a:latin typeface="맑은 고딕"/>
              </a:rPr>
              <a:t>준공연도·점검 이력·재질로 추정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19" b="1">
                <a:solidFill>
                  <a:srgbClr val="102A43"/>
                </a:solidFill>
                <a:latin typeface="맑은 고딕"/>
              </a:rPr>
              <a:t>더해지는 것 </a:t>
            </a:r>
            <a:r>
              <a:rPr sz="1019" b="0">
                <a:solidFill>
                  <a:srgbClr val="102A43"/>
                </a:solidFill>
                <a:latin typeface="맑은 고딕"/>
              </a:rPr>
              <a:t>7년치 실제 변위 속도와 그 신뢰구간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19" b="1">
                <a:solidFill>
                  <a:srgbClr val="102A43"/>
                </a:solidFill>
                <a:latin typeface="맑은 고딕"/>
              </a:rPr>
              <a:t>달라지는 것 </a:t>
            </a:r>
            <a:r>
              <a:rPr sz="1019" b="0">
                <a:solidFill>
                  <a:srgbClr val="102A43"/>
                </a:solidFill>
                <a:latin typeface="맑은 고딕"/>
              </a:rPr>
              <a:t>'몇 년 됐으니 노후'가 아니라 '실제로 얼마나 움직였는가'로 바뀐다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19" b="1">
                <a:solidFill>
                  <a:srgbClr val="102A43"/>
                </a:solidFill>
                <a:latin typeface="맑은 고딕"/>
              </a:rPr>
              <a:t>근거 파일 </a:t>
            </a:r>
            <a:r>
              <a:rPr sz="1019" b="0">
                <a:solidFill>
                  <a:srgbClr val="102A43"/>
                </a:solidFill>
                <a:latin typeface="맑은 고딕"/>
              </a:rPr>
              <a:t>project.h5 · insar/velocity_mm_yr + 95% CI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7258" y="969264"/>
            <a:ext cx="3637178" cy="2761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7258" y="969264"/>
            <a:ext cx="3637178" cy="420624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1850" y="969264"/>
            <a:ext cx="330799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교량 안정성 추정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0138" y="1536192"/>
            <a:ext cx="3271418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019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19" b="1">
                <a:solidFill>
                  <a:srgbClr val="102A43"/>
                </a:solidFill>
                <a:latin typeface="맑은 고딕"/>
              </a:rPr>
              <a:t>지금 </a:t>
            </a:r>
            <a:r>
              <a:rPr sz="1019" b="0">
                <a:solidFill>
                  <a:srgbClr val="102A43"/>
                </a:solidFill>
                <a:latin typeface="맑은 고딕"/>
              </a:rPr>
              <a:t>설계 제원과 점검 등급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19" b="1">
                <a:solidFill>
                  <a:srgbClr val="102A43"/>
                </a:solidFill>
                <a:latin typeface="맑은 고딕"/>
              </a:rPr>
              <a:t>더해지는 것 </a:t>
            </a:r>
            <a:r>
              <a:rPr sz="1019" b="0">
                <a:solidFill>
                  <a:srgbClr val="102A43"/>
                </a:solidFill>
                <a:latin typeface="맑은 고딕"/>
              </a:rPr>
              <a:t>PINN 역산 강성·처짐 · FRAM 공명 지수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19" b="1">
                <a:solidFill>
                  <a:srgbClr val="102A43"/>
                </a:solidFill>
                <a:latin typeface="맑은 고딕"/>
              </a:rPr>
              <a:t>달라지는 것 </a:t>
            </a:r>
            <a:r>
              <a:rPr sz="1019" b="0">
                <a:solidFill>
                  <a:srgbClr val="102A43"/>
                </a:solidFill>
                <a:latin typeface="맑은 고딕"/>
              </a:rPr>
              <a:t>전 구간을 같은 잣대로 훑고, 이상 구간만 사람이 확인하러 간다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19" b="1">
                <a:solidFill>
                  <a:srgbClr val="102A43"/>
                </a:solidFill>
                <a:latin typeface="맑은 고딕"/>
              </a:rPr>
              <a:t>근거 파일 </a:t>
            </a:r>
            <a:r>
              <a:rPr sz="1019" b="0">
                <a:solidFill>
                  <a:srgbClr val="102A43"/>
                </a:solidFill>
                <a:latin typeface="맑은 고딕"/>
              </a:rPr>
              <a:t>project.h5 · pinn/EI · fram/CRI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3037" y="969264"/>
            <a:ext cx="3637178" cy="2761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43037" y="969264"/>
            <a:ext cx="3637178" cy="420624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7629" y="969264"/>
            <a:ext cx="330799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유지관리 시나리오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5917" y="1536192"/>
            <a:ext cx="3271418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019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19" b="1">
                <a:solidFill>
                  <a:srgbClr val="102A43"/>
                </a:solidFill>
                <a:latin typeface="맑은 고딕"/>
              </a:rPr>
              <a:t>지금 </a:t>
            </a:r>
            <a:r>
              <a:rPr sz="1019" b="0">
                <a:solidFill>
                  <a:srgbClr val="102A43"/>
                </a:solidFill>
                <a:latin typeface="맑은 고딕"/>
              </a:rPr>
              <a:t>주기·예산 기준의 계획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19" b="1">
                <a:solidFill>
                  <a:srgbClr val="102A43"/>
                </a:solidFill>
                <a:latin typeface="맑은 고딕"/>
              </a:rPr>
              <a:t>더해지는 것 </a:t>
            </a:r>
            <a:r>
              <a:rPr sz="1019" b="0">
                <a:solidFill>
                  <a:srgbClr val="102A43"/>
                </a:solidFill>
                <a:latin typeface="맑은 고딕"/>
              </a:rPr>
              <a:t>교량 간 비교 가능한 변위 순위와 추세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19" b="1">
                <a:solidFill>
                  <a:srgbClr val="102A43"/>
                </a:solidFill>
                <a:latin typeface="맑은 고딕"/>
              </a:rPr>
              <a:t>달라지는 것 </a:t>
            </a:r>
            <a:r>
              <a:rPr sz="1019" b="0">
                <a:solidFill>
                  <a:srgbClr val="102A43"/>
                </a:solidFill>
                <a:latin typeface="맑은 고딕"/>
              </a:rPr>
              <a:t>어디를 먼저 볼지 근거로 정한다 — 순서가 바뀌면 같은 예산으로 더 막는다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1019" b="1">
                <a:solidFill>
                  <a:srgbClr val="102A43"/>
                </a:solidFill>
                <a:latin typeface="맑은 고딕"/>
              </a:rPr>
              <a:t>근거 파일 </a:t>
            </a:r>
            <a:r>
              <a:rPr sz="1019" b="0">
                <a:solidFill>
                  <a:srgbClr val="102A43"/>
                </a:solidFill>
                <a:latin typeface="맑은 고딕"/>
              </a:rPr>
              <a:t>결과.md 의 감사 판정 · 16개소 전수 대조표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041648"/>
            <a:ext cx="11368735" cy="1234440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114800"/>
            <a:ext cx="1087495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1">
                <a:solidFill>
                  <a:srgbClr val="E06C2C"/>
                </a:solidFill>
                <a:latin typeface="맑은 고딕"/>
              </a:rPr>
              <a:t>결합 시너지 — 한 문장으로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102A43"/>
                </a:solidFill>
                <a:latin typeface="맑은 고딕"/>
              </a:rPr>
              <a:t>B-Maps 는 전국 교량을 '어디에 무엇이 있는가'로 이미 덮고 있고, Inframon 은 그 위에 '그동안 어떻게 움직였는가'를 계측기 없이 얹는다. 둘이 붙으면 계측기가 달린 소수의 교량만 감시하던 체계가, 계측기가 없는 대다수 교량까지 같은 잣대로 들여다보는 체계로 바뀐다. 이것이 성능 지표보다 먼저 합의할 값이다.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440680"/>
            <a:ext cx="11368735" cy="566928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440680"/>
            <a:ext cx="108749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지금 성능 지표는 낮다 — 완성 전이니 당연하다. 그러나 목적과 붙일 자리는 이미 분명하다: 계측기 없는 교량에 같은 판을 깔고, 올라가는 숫자를 검증할 체계를 먼저 세우는 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※ 협의 제안: ① 시범 대상 교량 선정 ② B-Maps 화면에 붙일 필드 확정 ③ 갱신 주기·경보 임계 합의 ④ 검증용 계측 위치·부호 규약 공유. ④ 가 되면 정확도 검증이 지금보다 크게 올라간다.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