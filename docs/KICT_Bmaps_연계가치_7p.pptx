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9788"/>
            <a:ext cx="12191695" cy="32004"/>
          </a:xfrm>
          <a:prstGeom prst="rect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" y="13716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"/>
            <a:ext cx="18288" cy="320040"/>
          </a:xfrm>
          <a:prstGeom prst="rect">
            <a:avLst/>
          </a:prstGeom>
          <a:solidFill>
            <a:srgbClr val="4A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8016"/>
            <a:ext cx="859536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왜 결합해야 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137160"/>
            <a:ext cx="2377440" cy="347472"/>
          </a:xfrm>
          <a:prstGeom prst="rect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137160"/>
            <a:ext cx="2377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B6C4"/>
                </a:solidFill>
                <a:latin typeface="Paperlogy 5 Medium"/>
                <a:ea typeface="Paperlogy 5 Medium"/>
                <a:cs typeface="Paperlogy 5 Medium"/>
              </a:rPr>
              <a:t>Inframon × B-Maps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" y="758952"/>
            <a:ext cx="50292" cy="274320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B-Maps 는 '무엇이 어디에 있는가'를 덮고, Inframon 은 '그것이 그동안 어떻게 움직였는가'를 채운다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389888"/>
            <a:ext cx="5547208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51762" y="1248156"/>
            <a:ext cx="2866644" cy="283464"/>
          </a:xfrm>
          <a:prstGeom prst="rect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51762" y="1248156"/>
            <a:ext cx="286664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B-Maps 가 이미 가진 것 — 공간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700784"/>
            <a:ext cx="50534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08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전국 교량 대장·도면 </a:t>
            </a:r>
            <a:r>
              <a:rPr sz="10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— 어디에 무엇이 있는지</a:t>
            </a:r>
          </a:p>
          <a:p>
            <a:pPr algn="l">
              <a:lnSpc>
                <a:spcPct val="142000"/>
              </a:lnSpc>
            </a:pPr>
            <a:r>
              <a:rPr sz="108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IFC 기반 자산 모델 </a:t>
            </a:r>
            <a:r>
              <a:rPr sz="10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— 부재 단위로 식별되는 구조</a:t>
            </a:r>
          </a:p>
          <a:p>
            <a:pPr algn="l">
              <a:lnSpc>
                <a:spcPct val="142000"/>
              </a:lnSpc>
            </a:pPr>
            <a:r>
              <a:rPr sz="108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좌표계·플랫폼·사용자 </a:t>
            </a:r>
            <a:r>
              <a:rPr sz="10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— 결과를 받아 쓸 자리가 이미 있다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33008" y="1389888"/>
            <a:ext cx="5547208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43621" y="1248156"/>
            <a:ext cx="2125980" cy="283464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43621" y="1248156"/>
            <a:ext cx="212598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지금 비어 있는 칸 — 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9896" y="1700784"/>
            <a:ext cx="505343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08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지어진 뒤 무슨 일이 있었나 </a:t>
            </a:r>
            <a:r>
              <a:rPr sz="10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— 준공 도면은 그날의 기록이다</a:t>
            </a:r>
          </a:p>
          <a:p>
            <a:pPr algn="l">
              <a:lnSpc>
                <a:spcPct val="142000"/>
              </a:lnSpc>
            </a:pPr>
            <a:r>
              <a:rPr sz="108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점검과 점검 사이 </a:t>
            </a:r>
            <a:r>
              <a:rPr sz="10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— 사람이 간 날만 관측이 있다</a:t>
            </a:r>
          </a:p>
          <a:p>
            <a:pPr algn="l">
              <a:lnSpc>
                <a:spcPct val="142000"/>
              </a:lnSpc>
            </a:pPr>
            <a:r>
              <a:rPr sz="108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계측기가 없는 교량 </a:t>
            </a:r>
            <a:r>
              <a:rPr sz="10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— 전국 교량 대부분이 여기 해당한다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273552"/>
            <a:ext cx="2773604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273552"/>
            <a:ext cx="2773604" cy="45720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438144"/>
            <a:ext cx="24535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2018</a:t>
            </a:r>
            <a:r>
              <a:rPr sz="10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  년 6월~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877056"/>
            <a:ext cx="24535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위성 관측이 이미 쌓여 있다
소급해서 과거를 볼 수 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76524" y="3273552"/>
            <a:ext cx="2773604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76524" y="3273552"/>
            <a:ext cx="2773604" cy="45720"/>
          </a:xfrm>
          <a:prstGeom prst="rect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59404" y="3438144"/>
            <a:ext cx="24535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12</a:t>
            </a:r>
            <a:r>
              <a:rPr sz="10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  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59404" y="3877056"/>
            <a:ext cx="24535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재방문 주기
사람이 가지 않아도 갱신된다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1568" y="3273552"/>
            <a:ext cx="2773604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1568" y="3273552"/>
            <a:ext cx="2773604" cy="45720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4448" y="3438144"/>
            <a:ext cx="24535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0</a:t>
            </a:r>
            <a:r>
              <a:rPr sz="10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  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4448" y="3877056"/>
            <a:ext cx="24535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현장 설치 장비
교량에 손대지 않는다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6611" y="3273552"/>
            <a:ext cx="2773604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06611" y="3273552"/>
            <a:ext cx="2773604" cy="45720"/>
          </a:xfrm>
          <a:prstGeom prst="rect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491" y="3438144"/>
            <a:ext cx="2453564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전량</a:t>
            </a:r>
            <a:r>
              <a:rPr sz="10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  무상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491" y="3877056"/>
            <a:ext cx="24535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Sentinel-1 공개 자료
관측 비용이 교량 수에 비례하지 않는다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535424"/>
            <a:ext cx="11368735" cy="301752"/>
          </a:xfrm>
          <a:prstGeom prst="rect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" y="4535424"/>
            <a:ext cx="2499955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8323" y="4535424"/>
            <a:ext cx="3388138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지금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11053" y="4535424"/>
            <a:ext cx="4986866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결합하면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" y="4837176"/>
            <a:ext cx="2499955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계측기가 달린 교량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8323" y="4837176"/>
            <a:ext cx="3388138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상시 감시 — 붙인 지점만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11053" y="4837176"/>
            <a:ext cx="4986866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위성으로 교차검증 · 나머지 구간까지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5134356"/>
            <a:ext cx="11368735" cy="7315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" y="5134356"/>
            <a:ext cx="11368735" cy="29718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" y="5134356"/>
            <a:ext cx="2499955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계측기가 없는 교량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58323" y="5134356"/>
            <a:ext cx="3388138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점검 간 것으로 판단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11053" y="5134356"/>
            <a:ext cx="4986866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12일마다 전 구간 변위가 갱신된다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5431536"/>
            <a:ext cx="11368735" cy="7315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3776" y="5431536"/>
            <a:ext cx="2499955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과거 이력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58323" y="5431536"/>
            <a:ext cx="3388138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점검 기록이 전부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11053" y="5431536"/>
            <a:ext cx="4986866" cy="297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2018년 6월까지 소급해 다시 본다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11480" y="5728716"/>
            <a:ext cx="11368735" cy="7315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11480" y="5788152"/>
            <a:ext cx="11368735" cy="475488"/>
          </a:xfrm>
          <a:prstGeom prst="rect">
            <a:avLst/>
          </a:prstGeom>
          <a:solidFill>
            <a:srgbClr val="E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1480" y="5788152"/>
            <a:ext cx="50292" cy="475488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5788152"/>
            <a:ext cx="10874959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둘은 겹치지 않는다 — 서로가 없으면 반쪽이다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35508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※ 관측 기간·주기는 실제 처리한 스택에서 옮겼다(2018-06-19 ~ 2025-12-27). 현장 설치 0 은 InSAR 가 기존 산란체를 쓰기 때문이며, 그래서 산란체가 없는 교량은 점이 적다 — 장점과 한계가 같은 뿌리다.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656832"/>
            <a:ext cx="2743200" cy="201168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728" y="6656832"/>
            <a:ext cx="2560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10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45752" y="6638544"/>
            <a:ext cx="26517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9788"/>
            <a:ext cx="12191695" cy="32004"/>
          </a:xfrm>
          <a:prstGeom prst="rect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" y="13716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"/>
            <a:ext cx="18288" cy="320040"/>
          </a:xfrm>
          <a:prstGeom prst="rect">
            <a:avLst/>
          </a:prstGeom>
          <a:solidFill>
            <a:srgbClr val="4A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8016"/>
            <a:ext cx="859536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붙일 자리는 이미 맞춰져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137160"/>
            <a:ext cx="2377440" cy="347472"/>
          </a:xfrm>
          <a:prstGeom prst="rect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137160"/>
            <a:ext cx="2377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B6C4"/>
                </a:solidFill>
                <a:latin typeface="Paperlogy 5 Medium"/>
                <a:ea typeface="Paperlogy 5 Medium"/>
                <a:cs typeface="Paperlogy 5 Medium"/>
              </a:rPr>
              <a:t>Inframon × B-Maps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" y="758952"/>
            <a:ext cx="50292" cy="274320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새로 만들 것이 아니라 잇는 것 — IFC · 3D Tiles · REST 로 이미 내보내고 있다</a:t>
            </a:r>
          </a:p>
        </p:txBody>
      </p:sp>
      <p:sp>
        <p:nvSpPr>
          <p:cNvPr id="11" name="Pentagon 10"/>
          <p:cNvSpPr/>
          <p:nvPr/>
        </p:nvSpPr>
        <p:spPr>
          <a:xfrm>
            <a:off x="411480" y="1207008"/>
            <a:ext cx="1841449" cy="786384"/>
          </a:xfrm>
          <a:prstGeom prst="homePlate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252728"/>
            <a:ext cx="1408938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좌표 1개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FE0EC"/>
                </a:solidFill>
                <a:latin typeface="Paperlogy 5 Medium"/>
                <a:ea typeface="Paperlogy 5 Medium"/>
                <a:cs typeface="Paperlogy 5 Medium"/>
              </a:rPr>
              <a:t>위경도만 입력</a:t>
            </a:r>
          </a:p>
        </p:txBody>
      </p:sp>
      <p:sp>
        <p:nvSpPr>
          <p:cNvPr id="13" name="Chevron 12"/>
          <p:cNvSpPr/>
          <p:nvPr/>
        </p:nvSpPr>
        <p:spPr>
          <a:xfrm>
            <a:off x="2316937" y="1207008"/>
            <a:ext cx="1841449" cy="786384"/>
          </a:xfrm>
          <a:prstGeom prst="chevron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10129" y="1252728"/>
            <a:ext cx="105506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Sentinel-1 SLC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FE0EC"/>
                </a:solidFill>
                <a:latin typeface="Paperlogy 5 Medium"/>
                <a:ea typeface="Paperlogy 5 Medium"/>
                <a:cs typeface="Paperlogy 5 Medium"/>
              </a:rPr>
              <a:t>내려받기·정합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FE0EC"/>
                </a:solidFill>
                <a:latin typeface="Paperlogy 5 Medium"/>
                <a:ea typeface="Paperlogy 5 Medium"/>
                <a:cs typeface="Paperlogy 5 Medium"/>
              </a:rPr>
              <a:t>자동</a:t>
            </a:r>
          </a:p>
        </p:txBody>
      </p:sp>
      <p:sp>
        <p:nvSpPr>
          <p:cNvPr id="15" name="Chevron 14"/>
          <p:cNvSpPr/>
          <p:nvPr/>
        </p:nvSpPr>
        <p:spPr>
          <a:xfrm>
            <a:off x="4222394" y="1207008"/>
            <a:ext cx="1841449" cy="786384"/>
          </a:xfrm>
          <a:prstGeom prst="chevron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5586" y="1252728"/>
            <a:ext cx="105506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PS/DS 시계열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FE0EC"/>
                </a:solidFill>
                <a:latin typeface="Paperlogy 5 Medium"/>
                <a:ea typeface="Paperlogy 5 Medium"/>
                <a:cs typeface="Paperlogy 5 Medium"/>
              </a:rPr>
              <a:t>점별 변위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FE0EC"/>
                </a:solidFill>
                <a:latin typeface="Paperlogy 5 Medium"/>
                <a:ea typeface="Paperlogy 5 Medium"/>
                <a:cs typeface="Paperlogy 5 Medium"/>
              </a:rPr>
              <a:t>mm 단위</a:t>
            </a:r>
          </a:p>
        </p:txBody>
      </p:sp>
      <p:sp>
        <p:nvSpPr>
          <p:cNvPr id="17" name="Chevron 16"/>
          <p:cNvSpPr/>
          <p:nvPr/>
        </p:nvSpPr>
        <p:spPr>
          <a:xfrm>
            <a:off x="6127852" y="1207008"/>
            <a:ext cx="1841449" cy="786384"/>
          </a:xfrm>
          <a:prstGeom prst="chevron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1044" y="1252728"/>
            <a:ext cx="105506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PINN 역산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FE0EC"/>
                </a:solidFill>
                <a:latin typeface="Paperlogy 5 Medium"/>
                <a:ea typeface="Paperlogy 5 Medium"/>
                <a:cs typeface="Paperlogy 5 Medium"/>
              </a:rPr>
              <a:t>강성·처짐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FE0EC"/>
                </a:solidFill>
                <a:latin typeface="Paperlogy 5 Medium"/>
                <a:ea typeface="Paperlogy 5 Medium"/>
                <a:cs typeface="Paperlogy 5 Medium"/>
              </a:rPr>
              <a:t>물리식 구속</a:t>
            </a:r>
          </a:p>
        </p:txBody>
      </p:sp>
      <p:sp>
        <p:nvSpPr>
          <p:cNvPr id="19" name="Chevron 18"/>
          <p:cNvSpPr/>
          <p:nvPr/>
        </p:nvSpPr>
        <p:spPr>
          <a:xfrm>
            <a:off x="8033309" y="1207008"/>
            <a:ext cx="1841449" cy="786384"/>
          </a:xfrm>
          <a:prstGeom prst="chevron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26501" y="1252728"/>
            <a:ext cx="105506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IFC · CRI 트윈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FE0EC"/>
                </a:solidFill>
                <a:latin typeface="Paperlogy 5 Medium"/>
                <a:ea typeface="Paperlogy 5 Medium"/>
                <a:cs typeface="Paperlogy 5 Medium"/>
              </a:rPr>
              <a:t>부재에 값이 붙는다</a:t>
            </a:r>
          </a:p>
        </p:txBody>
      </p:sp>
      <p:sp>
        <p:nvSpPr>
          <p:cNvPr id="21" name="Chevron 20"/>
          <p:cNvSpPr/>
          <p:nvPr/>
        </p:nvSpPr>
        <p:spPr>
          <a:xfrm>
            <a:off x="9938766" y="1207008"/>
            <a:ext cx="1841449" cy="786384"/>
          </a:xfrm>
          <a:prstGeom prst="chevron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1958" y="1252728"/>
            <a:ext cx="1055065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B-Maps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FE0EC"/>
                </a:solidFill>
                <a:latin typeface="Paperlogy 5 Medium"/>
                <a:ea typeface="Paperlogy 5 Medium"/>
                <a:cs typeface="Paperlogy 5 Medium"/>
              </a:rPr>
              <a:t>REST 로 그대로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359152"/>
            <a:ext cx="6903720" cy="310896"/>
          </a:xfrm>
          <a:prstGeom prst="rect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3776" y="2359152"/>
            <a:ext cx="115339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접점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11759" y="2359152"/>
            <a:ext cx="265965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Inframon 이 내는 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2359152"/>
            <a:ext cx="2596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B-Maps 가 받는 방식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" y="2670048"/>
            <a:ext cx="1153391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자산 모델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11759" y="2670048"/>
            <a:ext cx="2659657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IfcBridge proxy (.ifc) · 부재 GUID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8" y="2670048"/>
            <a:ext cx="2596896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기존 IFC 파이프라인 그대로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990088"/>
            <a:ext cx="6903720" cy="7315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2990088"/>
            <a:ext cx="6903720" cy="32004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" y="2990088"/>
            <a:ext cx="1153391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3D 타일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11759" y="2990088"/>
            <a:ext cx="2659657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tileset.json · glTF(twin.glb)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36008" y="2990088"/>
            <a:ext cx="2596896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지도 위 3D 레이어로 적재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3310128"/>
            <a:ext cx="6903720" cy="7315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" y="3310128"/>
            <a:ext cx="1153391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좌표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11759" y="3310128"/>
            <a:ext cx="2659657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CRI 전역 좌표 · 교축 측점(m)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36008" y="3310128"/>
            <a:ext cx="2596896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대장 좌표와 직접 대응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3630168"/>
            <a:ext cx="6903720" cy="7315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3630168"/>
            <a:ext cx="6903720" cy="32004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" y="3630168"/>
            <a:ext cx="1153391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도로망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11759" y="3630168"/>
            <a:ext cx="2659657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OSM 500 m 반경 도로 링크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6008" y="3630168"/>
            <a:ext cx="2596896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교통·우회 분석에 연결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3950208"/>
            <a:ext cx="6903720" cy="7315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3776" y="3950208"/>
            <a:ext cx="1153391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시계열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11759" y="3950208"/>
            <a:ext cx="2659657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REST /api/v1 · 점·부재 단위 변위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36008" y="3950208"/>
            <a:ext cx="2596896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대시보드·경보 규칙에 투입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1480" y="4270248"/>
            <a:ext cx="6903720" cy="7315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635240" y="2359152"/>
            <a:ext cx="4144975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891626" y="2217420"/>
            <a:ext cx="1632204" cy="283464"/>
          </a:xfrm>
          <a:prstGeom prst="rect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91626" y="2217420"/>
            <a:ext cx="163220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역할이 겹치지 않는다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670048"/>
            <a:ext cx="3749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5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KICT B-Maps </a:t>
            </a:r>
            <a:r>
              <a:rPr sz="105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— 자산·도면·플랫폼·사용자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5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Inframon </a:t>
            </a:r>
            <a:r>
              <a:rPr sz="105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— 시계열 변위·물성 역산·위험 지수</a:t>
            </a:r>
          </a:p>
          <a:p>
            <a:pPr algn="l">
              <a:lnSpc>
                <a:spcPct val="140000"/>
              </a:lnSpc>
            </a:pPr>
            <a:r>
              <a:rPr sz="105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5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공통 </a:t>
            </a:r>
            <a:r>
              <a:rPr sz="105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— IFC 부재 GUID 하나로 묶인다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4617720"/>
            <a:ext cx="11368735" cy="932688"/>
          </a:xfrm>
          <a:prstGeom prst="rect">
            <a:avLst/>
          </a:prstGeom>
          <a:solidFill>
            <a:srgbClr val="F5F7F9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11480" y="4617720"/>
            <a:ext cx="50292" cy="932688"/>
          </a:xfrm>
          <a:prstGeom prst="rect">
            <a:avLst/>
          </a:prstGeom>
          <a:solidFill>
            <a:srgbClr val="ED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4681728"/>
            <a:ext cx="1087495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ED6C00"/>
                </a:solidFill>
                <a:latin typeface="Paperlogy 7 Bold"/>
                <a:ea typeface="Paperlogy 7 Bold"/>
                <a:cs typeface="Paperlogy 7 Bold"/>
              </a:rPr>
              <a:t>왜 지금인가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Sentinel-1 아카이브는 이미 2018년부터 쌓여 있다. 지금 붙이면 '앞으로 쌓을 자료'가 아니라 '이미 쌓인 7년치'를 B-Maps 가 바로 갖게 된다. 계측기를 새로 달아 7년을 기다리는 길과, 있는 자료를 읽는 길의 차이다.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5687568"/>
            <a:ext cx="11368735" cy="566928"/>
          </a:xfrm>
          <a:prstGeom prst="rect">
            <a:avLst/>
          </a:prstGeom>
          <a:solidFill>
            <a:srgbClr val="ED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11480" y="5687568"/>
            <a:ext cx="50292" cy="566928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5687568"/>
            <a:ext cx="108749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남은 것은 어느 필드를 어느 화면에 붙일지 정하는 일이다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" y="635508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※ 엔드포인트·산출 파일명은 코드와 실제 교량 폴더에서 확인한 것이다. 합의가 필요한 항목(갱신 주기·경보 임계·권한)은 별도 협의 안건으로 둔다.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656832"/>
            <a:ext cx="2743200" cy="201168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9728" y="6656832"/>
            <a:ext cx="2560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10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45752" y="6638544"/>
            <a:ext cx="26517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9788"/>
            <a:ext cx="12191695" cy="32004"/>
          </a:xfrm>
          <a:prstGeom prst="rect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" y="13716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"/>
            <a:ext cx="18288" cy="320040"/>
          </a:xfrm>
          <a:prstGeom prst="rect">
            <a:avLst/>
          </a:prstGeom>
          <a:solidFill>
            <a:srgbClr val="4A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8016"/>
            <a:ext cx="859536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성능 산출물 ① — GNSS 기반 InSAR 변위 정확도 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137160"/>
            <a:ext cx="2377440" cy="347472"/>
          </a:xfrm>
          <a:prstGeom prst="rect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137160"/>
            <a:ext cx="2377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B6C4"/>
                </a:solidFill>
                <a:latin typeface="Paperlogy 5 Medium"/>
                <a:ea typeface="Paperlogy 5 Medium"/>
                <a:cs typeface="Paperlogy 5 Medium"/>
              </a:rPr>
              <a:t>Inframon × B-Maps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" y="758952"/>
            <a:ext cx="50292" cy="274320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지금 낸 것은 '높은 R²' 가 아니라 '높은 R² 를 믿으면 안 되는 이유'다</a:t>
            </a:r>
          </a:p>
        </p:txBody>
      </p:sp>
      <p:pic>
        <p:nvPicPr>
          <p:cNvPr id="11" name="Picture 10" descr="연주기_점별상관_분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52" y="1243584"/>
            <a:ext cx="6795697" cy="345643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001000" y="1243584"/>
            <a:ext cx="3779215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51062" y="1101852"/>
            <a:ext cx="1879092" cy="2834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1062" y="1101852"/>
            <a:ext cx="1879092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지금 수준을 있는 그대로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1554480"/>
            <a:ext cx="3376879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19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19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월별 R² </a:t>
            </a:r>
            <a:r>
              <a:rPr sz="1019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0.13 ~ 0.88 (교량 6개소)</a:t>
            </a:r>
          </a:p>
          <a:p>
            <a:pPr algn="l">
              <a:lnSpc>
                <a:spcPct val="130000"/>
              </a:lnSpc>
            </a:pPr>
            <a:r>
              <a:rPr sz="1019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19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우연 기준선을 넘은 칸 </a:t>
            </a:r>
            <a:r>
              <a:rPr sz="1019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0/24 — 평활·누적·연주기로 숫자를 올려도 우연 기준선이 같이 오른다</a:t>
            </a:r>
          </a:p>
          <a:p>
            <a:pPr algn="l">
              <a:lnSpc>
                <a:spcPct val="130000"/>
              </a:lnSpc>
            </a:pPr>
            <a:r>
              <a:rPr sz="1019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19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가장 중요한 발견 </a:t>
            </a:r>
            <a:r>
              <a:rPr sz="1019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한 교량 안에 r 이 +1 에 가까운 점과 -1 에 가까운 점이 둘 다 있다. 점들의 중앙값은 0 근처다</a:t>
            </a:r>
          </a:p>
          <a:p>
            <a:pPr algn="l">
              <a:lnSpc>
                <a:spcPct val="130000"/>
              </a:lnSpc>
            </a:pPr>
            <a:r>
              <a:rPr sz="1019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19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즉 </a:t>
            </a:r>
            <a:r>
              <a:rPr sz="1019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'가장 닮은 점'을 고르는 순간 원하는 답이 나온다 — 4/6 이 정반대로 보였던 것도 교량이 아니라 고르기 때문이다</a:t>
            </a:r>
          </a:p>
          <a:p>
            <a:pPr algn="l">
              <a:lnSpc>
                <a:spcPct val="130000"/>
              </a:lnSpc>
            </a:pPr>
            <a:r>
              <a:rPr sz="1019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19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원인 </a:t>
            </a:r>
            <a:r>
              <a:rPr sz="1019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교면 PS 밀도(20,000점 중 20~237점) · 12일 관측을 월로 묶은 재표본 · 계측기 정확 위치 미제공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864608"/>
            <a:ext cx="11368735" cy="1024128"/>
          </a:xfrm>
          <a:prstGeom prst="rect">
            <a:avLst/>
          </a:prstGeom>
          <a:solidFill>
            <a:srgbClr val="EDF5F8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864608"/>
            <a:ext cx="50292" cy="1024128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928616"/>
            <a:ext cx="10874959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숫자를 감추지 않는 이유</a:t>
            </a:r>
          </a:p>
          <a:p>
            <a:pPr algn="l">
              <a:lnSpc>
                <a:spcPct val="130000"/>
              </a:lnSpc>
            </a:pPr>
            <a:r>
              <a:rPr sz="10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정확도는 아직 낮다. 시스템이 완성되지 않았으니 당연한 결과다. 점을 골라 숫자를 만드는 함정을 먼저 막아 두는 체계 — 이게 있어야 다음에 올라간 숫자가 진짜인지 판별할 수 있다. 목적은 분명하다: 계측기 없는 교량에도 같은 판을 깔고, 검증 기준을 먼저 세워 두는 것.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35508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※ 우연 기준선 = 위성 월값을 무작위로 섞어 같은 계산을 200회 돌린 값의 95 백분위. 다음 단계는 점을 고르지 않는 것 — 계측기 설치 위치를 받아 그 옆 점만 미리 정해 놓고 보면 이 함정이 사라진다. 원자료: 24년 한강온라인 최종보고(서울시·㈜유신·㈜일신이앤씨).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56832"/>
            <a:ext cx="2743200" cy="201168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" y="6656832"/>
            <a:ext cx="2560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10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45752" y="6638544"/>
            <a:ext cx="26517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9788"/>
            <a:ext cx="12191695" cy="32004"/>
          </a:xfrm>
          <a:prstGeom prst="rect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" y="13716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"/>
            <a:ext cx="18288" cy="320040"/>
          </a:xfrm>
          <a:prstGeom prst="rect">
            <a:avLst/>
          </a:prstGeom>
          <a:solidFill>
            <a:srgbClr val="4A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8016"/>
            <a:ext cx="859536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성능 산출물 ② — 한강 교량 7개소 적용 현황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137160"/>
            <a:ext cx="2377440" cy="347472"/>
          </a:xfrm>
          <a:prstGeom prst="rect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137160"/>
            <a:ext cx="2377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B6C4"/>
                </a:solidFill>
                <a:latin typeface="Paperlogy 5 Medium"/>
                <a:ea typeface="Paperlogy 5 Medium"/>
                <a:cs typeface="Paperlogy 5 Medium"/>
              </a:rPr>
              <a:t>Inframon × B-Maps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" y="758952"/>
            <a:ext cx="50292" cy="274320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보고서에 GNSS 현장 계측이 실린 교량만 골랐다 — 답을 맞춰 볼 수 있는 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243584"/>
            <a:ext cx="7040880" cy="310896"/>
          </a:xfrm>
          <a:prstGeom prst="rect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" y="1243584"/>
            <a:ext cx="114646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교량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4836" y="1243584"/>
            <a:ext cx="66089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연장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0319" y="1243584"/>
            <a:ext cx="66089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형식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5801" y="1243584"/>
            <a:ext cx="41810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에폭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8495" y="1243584"/>
            <a:ext cx="61233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데크 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5420" y="1243584"/>
            <a:ext cx="95223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속도 중앙값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2249" y="1243584"/>
            <a:ext cx="51521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CRI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2058" y="1243584"/>
            <a:ext cx="75800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감사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1554480"/>
            <a:ext cx="1146468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가양대교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4836" y="1554480"/>
            <a:ext cx="660890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1,700 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0319" y="1554480"/>
            <a:ext cx="660890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박스거더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5801" y="1554480"/>
            <a:ext cx="418102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38495" y="1554480"/>
            <a:ext cx="612333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167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5420" y="1554480"/>
            <a:ext cx="95223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+0.17 mm/년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2249" y="1554480"/>
            <a:ext cx="51521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0.866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2058" y="1554480"/>
            <a:ext cx="758006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ED6C00"/>
                </a:solidFill>
                <a:latin typeface="Paperlogy 5 Medium"/>
                <a:ea typeface="Paperlogy 5 Medium"/>
                <a:cs typeface="Paperlogy 5 Medium"/>
              </a:rPr>
              <a:t>조건부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1860804"/>
            <a:ext cx="7040880" cy="7315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1860804"/>
            <a:ext cx="7040880" cy="30632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3776" y="1860804"/>
            <a:ext cx="1146468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원효대교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04836" y="1860804"/>
            <a:ext cx="660890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2,171 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30319" y="1860804"/>
            <a:ext cx="660890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박스거더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5801" y="1860804"/>
            <a:ext cx="418102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51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38495" y="1860804"/>
            <a:ext cx="612333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15420" y="1860804"/>
            <a:ext cx="95223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-0.36 mm/년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32249" y="1860804"/>
            <a:ext cx="51521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0.832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12058" y="1860804"/>
            <a:ext cx="758006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C0392B"/>
                </a:solidFill>
                <a:latin typeface="Paperlogy 5 Medium"/>
                <a:ea typeface="Paperlogy 5 Medium"/>
                <a:cs typeface="Paperlogy 5 Medium"/>
              </a:rPr>
              <a:t>보고 불가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2167128"/>
            <a:ext cx="7040880" cy="7315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" y="2167128"/>
            <a:ext cx="1146468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올림픽대교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04836" y="2167128"/>
            <a:ext cx="660890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1,470 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30319" y="2167128"/>
            <a:ext cx="660890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사장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55801" y="2167128"/>
            <a:ext cx="418102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101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38495" y="2167128"/>
            <a:ext cx="612333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56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15420" y="2167128"/>
            <a:ext cx="95223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-1.38 mm/년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32249" y="2167128"/>
            <a:ext cx="51521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0.914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12058" y="2167128"/>
            <a:ext cx="758006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C0392B"/>
                </a:solidFill>
                <a:latin typeface="Paperlogy 5 Medium"/>
                <a:ea typeface="Paperlogy 5 Medium"/>
                <a:cs typeface="Paperlogy 5 Medium"/>
              </a:rPr>
              <a:t>보고 불가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2473452"/>
            <a:ext cx="7040880" cy="7315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" y="2473452"/>
            <a:ext cx="7040880" cy="30632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" y="2473452"/>
            <a:ext cx="1146468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청담대교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04836" y="2473452"/>
            <a:ext cx="660890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982 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30319" y="2473452"/>
            <a:ext cx="660890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거더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55801" y="2473452"/>
            <a:ext cx="418102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51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38495" y="2473452"/>
            <a:ext cx="612333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15420" y="2473452"/>
            <a:ext cx="95223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-0.99 mm/년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32249" y="2473452"/>
            <a:ext cx="51521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0.786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12058" y="2473452"/>
            <a:ext cx="758006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C0392B"/>
                </a:solidFill>
                <a:latin typeface="Paperlogy 5 Medium"/>
                <a:ea typeface="Paperlogy 5 Medium"/>
                <a:cs typeface="Paperlogy 5 Medium"/>
              </a:rPr>
              <a:t>보고 불가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2779776"/>
            <a:ext cx="7040880" cy="7315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3776" y="2779776"/>
            <a:ext cx="1146468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천호대교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04836" y="2779776"/>
            <a:ext cx="660890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1,149 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30319" y="2779776"/>
            <a:ext cx="660890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박스거더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55801" y="2779776"/>
            <a:ext cx="418102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51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38495" y="2779776"/>
            <a:ext cx="612333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54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15420" y="2779776"/>
            <a:ext cx="95223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-0.66 mm/년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32249" y="2779776"/>
            <a:ext cx="51521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0.854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12058" y="2779776"/>
            <a:ext cx="758006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C0392B"/>
                </a:solidFill>
                <a:latin typeface="Paperlogy 5 Medium"/>
                <a:ea typeface="Paperlogy 5 Medium"/>
                <a:cs typeface="Paperlogy 5 Medium"/>
              </a:rPr>
              <a:t>보고 불가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3086100"/>
            <a:ext cx="7040880" cy="7315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11480" y="3086100"/>
            <a:ext cx="7040880" cy="306324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93776" y="3086100"/>
            <a:ext cx="1146468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암사대교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04836" y="3086100"/>
            <a:ext cx="660890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1,136 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30319" y="3086100"/>
            <a:ext cx="660890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아치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55801" y="3086100"/>
            <a:ext cx="418102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51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038495" y="3086100"/>
            <a:ext cx="612333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237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15420" y="3086100"/>
            <a:ext cx="95223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-0.23 mm/년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932249" y="3086100"/>
            <a:ext cx="51521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0.809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612058" y="3086100"/>
            <a:ext cx="758006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ED6C00"/>
                </a:solidFill>
                <a:latin typeface="Paperlogy 5 Medium"/>
                <a:ea typeface="Paperlogy 5 Medium"/>
                <a:cs typeface="Paperlogy 5 Medium"/>
              </a:rPr>
              <a:t>조건부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3392424"/>
            <a:ext cx="7040880" cy="7315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93776" y="3392424"/>
            <a:ext cx="1146468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월드컵대교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04836" y="3392424"/>
            <a:ext cx="660890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1,492 m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30319" y="3392424"/>
            <a:ext cx="660890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사장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55801" y="3392424"/>
            <a:ext cx="418102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29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038495" y="3392424"/>
            <a:ext cx="612333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82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15420" y="3392424"/>
            <a:ext cx="95223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-4.26 mm/년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32249" y="3392424"/>
            <a:ext cx="515217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0.929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12058" y="3392424"/>
            <a:ext cx="758006" cy="3063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80" b="0">
                <a:solidFill>
                  <a:srgbClr val="C0392B"/>
                </a:solidFill>
                <a:latin typeface="Paperlogy 5 Medium"/>
                <a:ea typeface="Paperlogy 5 Medium"/>
                <a:cs typeface="Paperlogy 5 Medium"/>
              </a:rPr>
              <a:t>보고 불가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11480" y="3698748"/>
            <a:ext cx="7040880" cy="7315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635240" y="1243584"/>
            <a:ext cx="4144975" cy="2615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hangang_지도_화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1494081"/>
            <a:ext cx="4016959" cy="2114189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11480" y="3867912"/>
            <a:ext cx="704088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634490" y="3726180"/>
            <a:ext cx="4594860" cy="283464"/>
          </a:xfrm>
          <a:prstGeom prst="rect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634490" y="3726180"/>
            <a:ext cx="459486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교량 1개소당 자동으로 나오는 것 — 사람이 손대는 단계가 없다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8368" y="4178808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98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9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project.h5 </a:t>
            </a: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— 점별 변위 시계열 · 속도 · CRI · PINN</a:t>
            </a:r>
          </a:p>
          <a:p>
            <a:pPr algn="l">
              <a:lnSpc>
                <a:spcPct val="134000"/>
              </a:lnSpc>
            </a:pPr>
            <a:r>
              <a:rPr sz="98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9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&lt;교량&gt;_proxy.ifc </a:t>
            </a: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— 부재 GUID 가 붙은 IFC</a:t>
            </a:r>
          </a:p>
          <a:p>
            <a:pPr algn="l">
              <a:lnSpc>
                <a:spcPct val="134000"/>
              </a:lnSpc>
            </a:pPr>
            <a:r>
              <a:rPr sz="98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9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twin.glb · tileset.json </a:t>
            </a: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— 3D 타일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24528" y="4178808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98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9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brief.png · chain.png </a:t>
            </a: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— 평면 · 종단 · 측점</a:t>
            </a:r>
          </a:p>
          <a:p>
            <a:pPr algn="l">
              <a:lnSpc>
                <a:spcPct val="134000"/>
              </a:lnSpc>
            </a:pPr>
            <a:r>
              <a:rPr sz="98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9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osm_roads_500m.json </a:t>
            </a: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— 반경 도로망</a:t>
            </a:r>
          </a:p>
          <a:p>
            <a:pPr algn="l">
              <a:lnSpc>
                <a:spcPct val="134000"/>
              </a:lnSpc>
            </a:pPr>
            <a:r>
              <a:rPr sz="98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9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결과.md </a:t>
            </a:r>
            <a:r>
              <a:rPr sz="98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— 출처·적용값·감사 판정을 문장으로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635240" y="4160520"/>
            <a:ext cx="4144975" cy="1335024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953348" y="4018788"/>
            <a:ext cx="1508760" cy="283464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953348" y="4018788"/>
            <a:ext cx="150876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7개소를 고른 기준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63840" y="4453128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00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0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보고서에 GNSS 현장 계측이 실린 교량</a:t>
            </a:r>
          </a:p>
          <a:p>
            <a:pPr algn="l">
              <a:lnSpc>
                <a:spcPct val="132000"/>
              </a:lnSpc>
            </a:pPr>
            <a:r>
              <a:rPr sz="100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0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즉, 답을 맞춰 볼 수 있는 곳만 골랐다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11480" y="5669280"/>
            <a:ext cx="11368735" cy="566928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11480" y="5669280"/>
            <a:ext cx="50292" cy="566928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58368" y="5669280"/>
            <a:ext cx="108749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감사 결과가 '보고 불가'인 곳이 더 많다 — 숨기지 않는다. 판정을 자동으로 붙이는 것 자체가 산출물이다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11480" y="635508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※ 표의 모든 값은 각 교량 폴더의 bridge.json · 결과.md · project.h5 에서 직접 읽었다. '감사' 는 관측 조건이 기준 학습 조건과 얼마나 다른지를 보고 자동으로 붙는 판정이며, 구조 상태 등급이 아니다.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0" y="6656832"/>
            <a:ext cx="2743200" cy="201168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9728" y="6656832"/>
            <a:ext cx="2560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10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445752" y="6638544"/>
            <a:ext cx="26517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9788"/>
            <a:ext cx="12191695" cy="32004"/>
          </a:xfrm>
          <a:prstGeom prst="rect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" y="13716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"/>
            <a:ext cx="18288" cy="320040"/>
          </a:xfrm>
          <a:prstGeom prst="rect">
            <a:avLst/>
          </a:prstGeom>
          <a:solidFill>
            <a:srgbClr val="4A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8016"/>
            <a:ext cx="859536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성능 산출물 ③ — 교량별 IFC 모델과 평면·입면 산출물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137160"/>
            <a:ext cx="2377440" cy="347472"/>
          </a:xfrm>
          <a:prstGeom prst="rect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137160"/>
            <a:ext cx="2377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B6C4"/>
                </a:solidFill>
                <a:latin typeface="Paperlogy 5 Medium"/>
                <a:ea typeface="Paperlogy 5 Medium"/>
                <a:cs typeface="Paperlogy 5 Medium"/>
              </a:rPr>
              <a:t>Inframon × B-Maps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" y="758952"/>
            <a:ext cx="50292" cy="274320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도면이 없어도 모델이 선다 — 위경도 1개에서 부재까지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243584"/>
            <a:ext cx="740664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FC_평면입면_올림픽대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46058"/>
            <a:ext cx="7315200" cy="261257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001000" y="1243584"/>
            <a:ext cx="3779215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12784" y="1101852"/>
            <a:ext cx="1755648" cy="283464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12784" y="1101852"/>
            <a:ext cx="1755648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무엇이 자동으로 서는가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554480"/>
            <a:ext cx="32918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00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입력 </a:t>
            </a:r>
            <a:r>
              <a:rPr sz="100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위경도 1개 — 제원은 공공데이터·OSM 에서 자동 수집</a:t>
            </a:r>
          </a:p>
          <a:p>
            <a:pPr algn="l">
              <a:lnSpc>
                <a:spcPct val="136000"/>
              </a:lnSpc>
            </a:pPr>
            <a:r>
              <a:rPr sz="100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출력 </a:t>
            </a:r>
            <a:r>
              <a:rPr sz="100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IfcBridge proxy · glTF · 3D Tiles · 평면/종단 도면</a:t>
            </a:r>
          </a:p>
          <a:p>
            <a:pPr algn="l">
              <a:lnSpc>
                <a:spcPct val="136000"/>
              </a:lnSpc>
            </a:pPr>
            <a:r>
              <a:rPr sz="100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결합 </a:t>
            </a:r>
            <a:r>
              <a:rPr sz="100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PS 점을 부재 GlobalId 에 묶는다 — 좌표가 아니라 부재로 말한다</a:t>
            </a:r>
          </a:p>
          <a:p>
            <a:pPr algn="l">
              <a:lnSpc>
                <a:spcPct val="136000"/>
              </a:lnSpc>
            </a:pPr>
            <a:r>
              <a:rPr sz="100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검증 </a:t>
            </a:r>
            <a:r>
              <a:rPr sz="100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실측 CSV·표준데이터와 대조해 차이를 결과.md 에 남긴다</a:t>
            </a:r>
          </a:p>
          <a:p>
            <a:pPr algn="l">
              <a:lnSpc>
                <a:spcPct val="136000"/>
              </a:lnSpc>
            </a:pPr>
            <a:r>
              <a:rPr sz="100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한계 </a:t>
            </a:r>
            <a:r>
              <a:rPr sz="100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준공도면 대체가 아니다 — 실제 IFC 가 있으면 그것을 쓴다</a:t>
            </a:r>
          </a:p>
          <a:p>
            <a:pPr algn="l">
              <a:lnSpc>
                <a:spcPct val="136000"/>
              </a:lnSpc>
            </a:pPr>
            <a:r>
              <a:rPr sz="100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쓸모 </a:t>
            </a:r>
            <a:r>
              <a:rPr sz="100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도면이 없는 교량의 빈칸을 메운다 — 전국 단위에서 이 차이가 크다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352544"/>
            <a:ext cx="11368735" cy="274320"/>
          </a:xfrm>
          <a:prstGeom prst="rect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4352544"/>
            <a:ext cx="320392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교량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62290" y="4352544"/>
            <a:ext cx="1730197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IFC 부재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57079" y="4352544"/>
            <a:ext cx="194072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형식(PDE)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2401" y="4352544"/>
            <a:ext cx="1309133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재질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126" y="4352544"/>
            <a:ext cx="109860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경간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99318" y="4352544"/>
            <a:ext cx="109860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" y="4626864"/>
            <a:ext cx="3203922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가양대교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62290" y="4626864"/>
            <a:ext cx="1730197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61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57079" y="4626864"/>
            <a:ext cx="1940729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박스거더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2401" y="4626864"/>
            <a:ext cx="1309133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36126" y="4626864"/>
            <a:ext cx="1098601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99318" y="4626864"/>
            <a:ext cx="1098601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34 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857293"/>
            <a:ext cx="11368735" cy="7315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4857293"/>
            <a:ext cx="11368735" cy="230429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" y="4857293"/>
            <a:ext cx="3203922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원효대교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62290" y="4857293"/>
            <a:ext cx="1730197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145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57079" y="4857293"/>
            <a:ext cx="1940729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박스거더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2401" y="4857293"/>
            <a:ext cx="1309133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PSC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36126" y="4857293"/>
            <a:ext cx="1098601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99318" y="4857293"/>
            <a:ext cx="1098601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20 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087722"/>
            <a:ext cx="11368735" cy="7315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" y="5087722"/>
            <a:ext cx="3203922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올림픽대교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62290" y="5087722"/>
            <a:ext cx="1730197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637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57079" y="5087722"/>
            <a:ext cx="1940729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사장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2401" y="5087722"/>
            <a:ext cx="1309133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36126" y="5087722"/>
            <a:ext cx="1098601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27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99318" y="5087722"/>
            <a:ext cx="1098601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30 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5318150"/>
            <a:ext cx="11368735" cy="7315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11480" y="5318150"/>
            <a:ext cx="11368735" cy="230429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" y="5318150"/>
            <a:ext cx="3203922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청담대교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62290" y="5318150"/>
            <a:ext cx="1730197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67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57079" y="5318150"/>
            <a:ext cx="1940729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거더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2401" y="5318150"/>
            <a:ext cx="1309133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36126" y="5318150"/>
            <a:ext cx="1098601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33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99318" y="5318150"/>
            <a:ext cx="1098601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14 m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548579"/>
            <a:ext cx="11368735" cy="7315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93776" y="5548579"/>
            <a:ext cx="3203922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천호대교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862290" y="5548579"/>
            <a:ext cx="1730197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77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57079" y="5548579"/>
            <a:ext cx="1940729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박스거더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62401" y="5548579"/>
            <a:ext cx="1309133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36126" y="5548579"/>
            <a:ext cx="1098601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38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99318" y="5548579"/>
            <a:ext cx="1098601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35 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1480" y="5779008"/>
            <a:ext cx="11368735" cy="7315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11480" y="5779008"/>
            <a:ext cx="11368735" cy="230429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93776" y="5779008"/>
            <a:ext cx="3203922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암사대교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62290" y="5779008"/>
            <a:ext cx="1730197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77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57079" y="5779008"/>
            <a:ext cx="1940729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아치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62401" y="5779008"/>
            <a:ext cx="1309133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36126" y="5779008"/>
            <a:ext cx="1098601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38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599318" y="5779008"/>
            <a:ext cx="1098601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28 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6009437"/>
            <a:ext cx="11368735" cy="7315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3776" y="6009437"/>
            <a:ext cx="3203922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월드컵대교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62290" y="6009437"/>
            <a:ext cx="1730197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101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757079" y="6009437"/>
            <a:ext cx="1940729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사장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62401" y="6009437"/>
            <a:ext cx="1309133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336126" y="6009437"/>
            <a:ext cx="1098601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50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99318" y="6009437"/>
            <a:ext cx="1098601" cy="23042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31 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6239866"/>
            <a:ext cx="11368735" cy="7315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635508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※ proxy 는 준공도면 대체물이 아니라 '위성 점을 부재에 붙이기 위한 기하'다. 실제 IFC 가 B-Maps 에 있으면 그것을 쓰는 편이 낫고, 없을 때 빈칸을 메우는 용도다 — 전국 단위로 갈 때 이 차이가 크다.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0" y="6656832"/>
            <a:ext cx="2743200" cy="201168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9728" y="6656832"/>
            <a:ext cx="2560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79" name="Rectangle 78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10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445752" y="6638544"/>
            <a:ext cx="26517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9788"/>
            <a:ext cx="12191695" cy="32004"/>
          </a:xfrm>
          <a:prstGeom prst="rect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" y="13716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"/>
            <a:ext cx="18288" cy="320040"/>
          </a:xfrm>
          <a:prstGeom prst="rect">
            <a:avLst/>
          </a:prstGeom>
          <a:solidFill>
            <a:srgbClr val="4A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8016"/>
            <a:ext cx="859536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성능 산출물 ④ — 변위 속도 · FRAM 공명 위험 지수 3D 시각화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137160"/>
            <a:ext cx="2377440" cy="347472"/>
          </a:xfrm>
          <a:prstGeom prst="rect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137160"/>
            <a:ext cx="2377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B6C4"/>
                </a:solidFill>
                <a:latin typeface="Paperlogy 5 Medium"/>
                <a:ea typeface="Paperlogy 5 Medium"/>
                <a:cs typeface="Paperlogy 5 Medium"/>
              </a:rPr>
              <a:t>Inframon × B-Maps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" y="758952"/>
            <a:ext cx="50292" cy="274320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같은 기하 위에 색만 바꿔 얹는다 — B-Maps 지도에 레이어 하나 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225296"/>
            <a:ext cx="5547208" cy="292608"/>
          </a:xfrm>
          <a:prstGeom prst="rect">
            <a:avLst/>
          </a:prstGeom>
          <a:solidFill>
            <a:srgbClr val="DA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7784" y="1225296"/>
            <a:ext cx="525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교량 변위 속도 — 색은 LOS 속도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1517904"/>
            <a:ext cx="5547208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3D_변위속도_올림픽대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20" y="1563624"/>
            <a:ext cx="5411527" cy="2395728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233008" y="1225296"/>
            <a:ext cx="5547208" cy="292608"/>
          </a:xfrm>
          <a:prstGeom prst="rect">
            <a:avLst/>
          </a:prstGeom>
          <a:solidFill>
            <a:srgbClr val="DA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9312" y="1225296"/>
            <a:ext cx="5254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FRAM 공명 위험 지수 — 색은 CRI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8" y="1517904"/>
            <a:ext cx="5547208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3D_FRAM_CRI_올림픽대교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848" y="1563624"/>
            <a:ext cx="5411527" cy="239572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11480" y="4315968"/>
            <a:ext cx="11368735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41468" y="4174236"/>
            <a:ext cx="1508760" cy="283464"/>
          </a:xfrm>
          <a:prstGeom prst="rect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41468" y="4174236"/>
            <a:ext cx="1508760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왜 3D 여야 하나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4626864"/>
            <a:ext cx="520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019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19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부재에 붙는다 </a:t>
            </a:r>
            <a:r>
              <a:rPr sz="1019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— 점이 어느 경간·어느 주탑인지 좌표가 아니라 부재 이름으로 말할 수 있다</a:t>
            </a:r>
          </a:p>
          <a:p>
            <a:pPr algn="l">
              <a:lnSpc>
                <a:spcPct val="136000"/>
              </a:lnSpc>
            </a:pPr>
            <a:r>
              <a:rPr sz="1019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19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두 장이 같은 기하 </a:t>
            </a:r>
            <a:r>
              <a:rPr sz="1019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— 속도는 잠잠한데 공명 지수만 높은 구간이 눈으로 잡힌다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5848" y="4626864"/>
            <a:ext cx="520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6000"/>
              </a:lnSpc>
            </a:pPr>
            <a:r>
              <a:rPr sz="1019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19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B-Maps 화면 그대로 </a:t>
            </a:r>
            <a:r>
              <a:rPr sz="1019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— glTF·3D Tiles 로 내보내므로 지도 위에 레이어 하나 더 얹는 일이다</a:t>
            </a:r>
          </a:p>
          <a:p>
            <a:pPr algn="l">
              <a:lnSpc>
                <a:spcPct val="136000"/>
              </a:lnSpc>
            </a:pPr>
            <a:r>
              <a:rPr sz="1019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19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CRI 는 등급이 아니다 </a:t>
            </a:r>
            <a:r>
              <a:rPr sz="1019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— '같이 움직이는 구간'을 짚어 주는 지표이며, 관측 조건이 다르면 잠정으로 표시된다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35508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※ 올림픽대교 예시. 두 그림 모두 project.h5 의 insar/velocity_mm_yr · fram/CRI 를 그대로 읽어 그렸고, 회색 윤곽은 같은 좌표계의 IFC 부재다. CRI 색 위끝은 자료에 맞춰 잡았다(0~1 고정 아님).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56832"/>
            <a:ext cx="2743200" cy="201168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" y="6656832"/>
            <a:ext cx="2560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10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45752" y="6638544"/>
            <a:ext cx="26517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0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89788"/>
            <a:ext cx="12191695" cy="32004"/>
          </a:xfrm>
          <a:prstGeom prst="rect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" y="13716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55448"/>
            <a:ext cx="18288" cy="320040"/>
          </a:xfrm>
          <a:prstGeom prst="rect">
            <a:avLst/>
          </a:prstGeom>
          <a:solidFill>
            <a:srgbClr val="4A53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28016"/>
            <a:ext cx="8595360" cy="466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결론 — B-Maps 제공 서비스에 Inframon 이 더하는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137160"/>
            <a:ext cx="2377440" cy="347472"/>
          </a:xfrm>
          <a:prstGeom prst="rect">
            <a:avLst/>
          </a:prstGeom>
          <a:solidFill>
            <a:srgbClr val="1B2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0" y="137160"/>
            <a:ext cx="2377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A9B6C4"/>
                </a:solidFill>
                <a:latin typeface="Paperlogy 5 Medium"/>
                <a:ea typeface="Paperlogy 5 Medium"/>
                <a:cs typeface="Paperlogy 5 Medium"/>
              </a:rPr>
              <a:t>Inframon × B-Maps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" y="758952"/>
            <a:ext cx="50292" cy="274320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722376"/>
            <a:ext cx="113385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성능 지표보다 먼저 합의할 값: 계측기 없는 교량까지 같은 잣대로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417320"/>
            <a:ext cx="3637178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413967" y="1275588"/>
            <a:ext cx="1632204" cy="283464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3967" y="1275588"/>
            <a:ext cx="1632204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노후도 평가 및 예측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1728216"/>
            <a:ext cx="3234842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019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19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지금 </a:t>
            </a:r>
            <a:r>
              <a:rPr sz="1019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준공연도·점검 이력·재질로 추정</a:t>
            </a:r>
          </a:p>
          <a:p>
            <a:pPr algn="l">
              <a:lnSpc>
                <a:spcPct val="134000"/>
              </a:lnSpc>
            </a:pPr>
            <a:r>
              <a:rPr sz="1019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19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더해지는 것 </a:t>
            </a:r>
            <a:r>
              <a:rPr sz="1019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7년치 실제 변위 속도와 그 신뢰구간</a:t>
            </a:r>
          </a:p>
          <a:p>
            <a:pPr algn="l">
              <a:lnSpc>
                <a:spcPct val="134000"/>
              </a:lnSpc>
            </a:pPr>
            <a:r>
              <a:rPr sz="1019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19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달라지는 것 </a:t>
            </a:r>
            <a:r>
              <a:rPr sz="1019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'몇 년 됐으니 노후'가 아니라 '실제로 얼마나 움직였는가'로 바뀐다</a:t>
            </a:r>
          </a:p>
          <a:p>
            <a:pPr algn="l">
              <a:lnSpc>
                <a:spcPct val="134000"/>
              </a:lnSpc>
            </a:pPr>
            <a:r>
              <a:rPr sz="1019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19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근거 파일 </a:t>
            </a:r>
            <a:r>
              <a:rPr sz="1019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project.h5 · insar/velocity_mm_yr + 95% CI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7258" y="1417320"/>
            <a:ext cx="3637178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3190" y="1275588"/>
            <a:ext cx="1385316" cy="283464"/>
          </a:xfrm>
          <a:prstGeom prst="rect">
            <a:avLst/>
          </a:prstGeom>
          <a:solidFill>
            <a:srgbClr val="373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3190" y="1275588"/>
            <a:ext cx="1385316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교량 안정성 추정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8426" y="1728216"/>
            <a:ext cx="3234842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019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19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지금 </a:t>
            </a:r>
            <a:r>
              <a:rPr sz="1019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설계 제원과 점검 등급</a:t>
            </a:r>
          </a:p>
          <a:p>
            <a:pPr algn="l">
              <a:lnSpc>
                <a:spcPct val="134000"/>
              </a:lnSpc>
            </a:pPr>
            <a:r>
              <a:rPr sz="1019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19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더해지는 것 </a:t>
            </a:r>
            <a:r>
              <a:rPr sz="1019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PINN 역산 강성·처짐 · FRAM 공명 지수</a:t>
            </a:r>
          </a:p>
          <a:p>
            <a:pPr algn="l">
              <a:lnSpc>
                <a:spcPct val="134000"/>
              </a:lnSpc>
            </a:pPr>
            <a:r>
              <a:rPr sz="1019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19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달라지는 것 </a:t>
            </a:r>
            <a:r>
              <a:rPr sz="1019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전 구간을 같은 잣대로 훑고, 이상 구간만 사람이 확인하러 간다</a:t>
            </a:r>
          </a:p>
          <a:p>
            <a:pPr algn="l">
              <a:lnSpc>
                <a:spcPct val="134000"/>
              </a:lnSpc>
            </a:pPr>
            <a:r>
              <a:rPr sz="1019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19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근거 파일 </a:t>
            </a:r>
            <a:r>
              <a:rPr sz="1019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project.h5 · pinn/EI · fram/CRI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3037" y="1417320"/>
            <a:ext cx="3637178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68968" y="1275588"/>
            <a:ext cx="1385316" cy="283464"/>
          </a:xfrm>
          <a:prstGeom prst="rect">
            <a:avLst/>
          </a:prstGeom>
          <a:solidFill>
            <a:srgbClr val="ED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8968" y="1275588"/>
            <a:ext cx="1385316" cy="2834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유지관리 시나리오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4205" y="1728216"/>
            <a:ext cx="3234842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</a:pPr>
            <a:r>
              <a:rPr sz="1019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19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지금 </a:t>
            </a:r>
            <a:r>
              <a:rPr sz="1019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주기·예산 기준의 계획</a:t>
            </a:r>
          </a:p>
          <a:p>
            <a:pPr algn="l">
              <a:lnSpc>
                <a:spcPct val="134000"/>
              </a:lnSpc>
            </a:pPr>
            <a:r>
              <a:rPr sz="1019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19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더해지는 것 </a:t>
            </a:r>
            <a:r>
              <a:rPr sz="1019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교량 간 비교 가능한 변위 순위와 추세</a:t>
            </a:r>
          </a:p>
          <a:p>
            <a:pPr algn="l">
              <a:lnSpc>
                <a:spcPct val="134000"/>
              </a:lnSpc>
            </a:pPr>
            <a:r>
              <a:rPr sz="1019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19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달라지는 것 </a:t>
            </a:r>
            <a:r>
              <a:rPr sz="1019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어디를 먼저 볼지 근거로 정한다 — 순서가 바뀌면 같은 예산으로 더 막는다</a:t>
            </a:r>
          </a:p>
          <a:p>
            <a:pPr algn="l">
              <a:lnSpc>
                <a:spcPct val="134000"/>
              </a:lnSpc>
            </a:pPr>
            <a:r>
              <a:rPr sz="1019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· </a:t>
            </a:r>
            <a:r>
              <a:rPr sz="1019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근거 파일 </a:t>
            </a:r>
            <a:r>
              <a:rPr sz="1019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결과.md 의 감사 판정 · 16개소 전수 대조표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767328"/>
            <a:ext cx="11368735" cy="1188720"/>
          </a:xfrm>
          <a:prstGeom prst="rect">
            <a:avLst/>
          </a:prstGeom>
          <a:solidFill>
            <a:srgbClr val="F5F7F9"/>
          </a:solidFill>
          <a:ln w="12700">
            <a:solidFill>
              <a:srgbClr val="E9EB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767328"/>
            <a:ext cx="50292" cy="1188720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840480"/>
            <a:ext cx="10874959" cy="1060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1">
                <a:solidFill>
                  <a:srgbClr val="1C5B8A"/>
                </a:solidFill>
                <a:latin typeface="Paperlogy 7 Bold"/>
                <a:ea typeface="Paperlogy 7 Bold"/>
                <a:cs typeface="Paperlogy 7 Bold"/>
              </a:rPr>
              <a:t>결합 시너지 — 한 문장으로</a:t>
            </a:r>
          </a:p>
          <a:p>
            <a:pPr algn="l">
              <a:lnSpc>
                <a:spcPct val="132000"/>
              </a:lnSpc>
            </a:pPr>
            <a:r>
              <a:rPr sz="1100" b="0">
                <a:solidFill>
                  <a:srgbClr val="373D47"/>
                </a:solidFill>
                <a:latin typeface="Paperlogy 5 Medium"/>
                <a:ea typeface="Paperlogy 5 Medium"/>
                <a:cs typeface="Paperlogy 5 Medium"/>
              </a:rPr>
              <a:t>B-Maps 는 전국 교량을 '어디에 무엇이 있는가'로 이미 덮고 있고, Inframon 은 그 위에 '그동안 어떻게 움직였는가'를 계측기 없이 얹는다. 둘이 붙으면 계측기가 달린 소수의 교량만 감시하던 체계가, 계측기가 없는 대다수 교량까지 같은 잣대로 들여다보는 체계로 바뀐다.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230368"/>
            <a:ext cx="11368735" cy="566928"/>
          </a:xfrm>
          <a:prstGeom prst="rect">
            <a:avLst/>
          </a:prstGeom>
          <a:solidFill>
            <a:srgbClr val="10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5230368"/>
            <a:ext cx="50292" cy="566928"/>
          </a:xfrm>
          <a:prstGeom prst="rect">
            <a:avLst/>
          </a:prstGeom>
          <a:solidFill>
            <a:srgbClr val="1C5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5230368"/>
            <a:ext cx="1087495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aperlogy 7 Bold"/>
                <a:ea typeface="Paperlogy 7 Bold"/>
                <a:cs typeface="Paperlogy 7 Bold"/>
              </a:rPr>
              <a:t>지금 성능 지표는 낮다 — 완성 전이니 당연하다. 그러나 목적과 붙일 자리는 이미 분명하다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355080"/>
            <a:ext cx="113687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0">
                <a:solidFill>
                  <a:srgbClr val="6B7480"/>
                </a:solidFill>
                <a:latin typeface="Paperlogy 5 Medium"/>
                <a:ea typeface="Paperlogy 5 Medium"/>
                <a:cs typeface="Paperlogy 5 Medium"/>
              </a:rPr>
              <a:t>※ 협의 제안: ① 시범 대상 교량 선정 ② B-Maps 화면에 붙일 필드 확정 ③ 갱신 주기·경보 임계 합의 ④ 검증용 계측 위치·부호 규약 공유. ④ 가 되면 정확도 검증이 지금보다 크게 올라간다.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56832"/>
            <a:ext cx="2743200" cy="201168"/>
          </a:xfrm>
          <a:prstGeom prst="rect">
            <a:avLst/>
          </a:prstGeom>
          <a:solidFill>
            <a:srgbClr val="E9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" y="6656832"/>
            <a:ext cx="256032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2026 KAIA 자문회의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816852"/>
            <a:ext cx="12191695" cy="41148"/>
          </a:xfrm>
          <a:prstGeom prst="rect">
            <a:avLst/>
          </a:prstGeom>
          <a:solidFill>
            <a:srgbClr val="101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45752" y="6638544"/>
            <a:ext cx="265176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373D47"/>
                </a:solidFill>
                <a:latin typeface="Paperlogy 7 Bold"/>
                <a:ea typeface="Paperlogy 7 Bold"/>
                <a:cs typeface="Paperlogy 7 Bold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