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92" r:id="rId4"/>
  </p:sldMasterIdLst>
  <p:notesMasterIdLst>
    <p:notesMasterId r:id="rId12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7104063" cy="10234613"/>
  <p:embeddedFontLst>
    <p:embeddedFont>
      <p:font typeface="12롯데마트드림Bold" panose="020B0600000101010101" charset="-127"/>
      <p:regular r:id="rId13"/>
    </p:embeddedFont>
    <p:embeddedFont>
      <p:font typeface="Pretendard" panose="020B0600000101010101" charset="-127"/>
      <p:regular r:id="rId14"/>
      <p:bold r:id="rId15"/>
    </p:embeddedFont>
    <p:embeddedFont>
      <p:font typeface="Paperlogy 4 Regular" pitchFamily="2" charset="-127"/>
      <p:regular r:id="rId16"/>
    </p:embeddedFont>
    <p:embeddedFont>
      <p:font typeface="Paperlogy 5 Medium" pitchFamily="2" charset="-127"/>
      <p:regular r:id="rId17"/>
    </p:embeddedFont>
    <p:embeddedFont>
      <p:font typeface="Paperlogy 7 Bold" pitchFamily="2" charset="-127"/>
      <p:bold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8A0B6F17-C26F-43FB-831C-EA58927E2B26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서식" id="{DDF278CF-ADA6-4C98-B57F-8DA450EC3DB7}">
          <p14:sldIdLst/>
        </p14:section>
        <p14:section name="본문" id="{28065E0A-B8FD-4313-8E73-291547E2D5D1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411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9316FB6-C249-FF8E-3EAB-EBF74372A5C7}" name="선우린" initials="우선" userId="S::lynn@smartinside.ai::8266e99a-492c-4aeb-b0bf-c7bb5c4f60e9" providerId="AD"/>
  <p188:author id="{EA59F4CB-818A-144A-B007-87B8AD83CA12}" name="김한선" initials="" userId="S::butan90@o365.skku.edu::317d3101-5e51-4b24-877b-583fa87dbda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7F9"/>
    <a:srgbClr val="1C5B8A"/>
    <a:srgbClr val="BBD9F7"/>
    <a:srgbClr val="D6E8FA"/>
    <a:srgbClr val="EAF3FC"/>
    <a:srgbClr val="FFDE75"/>
    <a:srgbClr val="3B95F7"/>
    <a:srgbClr val="074FA1"/>
    <a:srgbClr val="7EB9FA"/>
    <a:srgbClr val="B7D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336" autoAdjust="0"/>
  </p:normalViewPr>
  <p:slideViewPr>
    <p:cSldViewPr snapToGrid="0">
      <p:cViewPr varScale="1">
        <p:scale>
          <a:sx n="105" d="100"/>
          <a:sy n="105" d="100"/>
        </p:scale>
        <p:origin x="750" y="102"/>
      </p:cViewPr>
      <p:guideLst>
        <p:guide orient="horz" pos="411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79" d="100"/>
          <a:sy n="79" d="100"/>
        </p:scale>
        <p:origin x="3966" y="12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customXml" Target="../customXml/item2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font" Target="fonts/font3.fntdata"/><Relationship Id="rId49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9039" tIns="49520" rIns="99039" bIns="49520" rtlCol="0"/>
          <a:lstStyle>
            <a:lvl1pPr algn="l">
              <a:defRPr sz="1300">
                <a:latin typeface="12롯데마트드림Bold" panose="02020603020101020101" pitchFamily="18" charset="-127"/>
              </a:defRPr>
            </a:lvl1pPr>
          </a:lstStyle>
          <a:p>
            <a:endParaRPr lang="en-KR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9039" tIns="49520" rIns="99039" bIns="49520" rtlCol="0"/>
          <a:lstStyle>
            <a:lvl1pPr algn="r">
              <a:defRPr sz="1300">
                <a:latin typeface="12롯데마트드림Bold" panose="02020603020101020101" pitchFamily="18" charset="-127"/>
              </a:defRPr>
            </a:lvl1pPr>
          </a:lstStyle>
          <a:p>
            <a:fld id="{B86E2F54-72BD-6E42-AEBA-33695E9DE06A}" type="datetimeFigureOut">
              <a:rPr lang="en-KR" smtClean="0"/>
              <a:pPr/>
              <a:t>09/20/2026</a:t>
            </a:fld>
            <a:endParaRPr lang="en-KR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20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39" tIns="49520" rIns="99039" bIns="49520" rtlCol="0" anchor="ctr"/>
          <a:lstStyle/>
          <a:p>
            <a:endParaRPr lang="en-KR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1"/>
            <a:ext cx="5683250" cy="4029879"/>
          </a:xfrm>
          <a:prstGeom prst="rect">
            <a:avLst/>
          </a:prstGeom>
        </p:spPr>
        <p:txBody>
          <a:bodyPr vert="horz" lIns="99039" tIns="49520" rIns="99039" bIns="495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K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9039" tIns="49520" rIns="99039" bIns="49520" rtlCol="0" anchor="b"/>
          <a:lstStyle>
            <a:lvl1pPr algn="l">
              <a:defRPr sz="1300">
                <a:latin typeface="12롯데마트드림Bold" panose="02020603020101020101" pitchFamily="18" charset="-127"/>
              </a:defRPr>
            </a:lvl1pPr>
          </a:lstStyle>
          <a:p>
            <a:endParaRPr lang="en-K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9039" tIns="49520" rIns="99039" bIns="49520" rtlCol="0" anchor="b"/>
          <a:lstStyle>
            <a:lvl1pPr algn="r">
              <a:defRPr sz="1300">
                <a:latin typeface="12롯데마트드림Bold" panose="02020603020101020101" pitchFamily="18" charset="-127"/>
              </a:defRPr>
            </a:lvl1pPr>
          </a:lstStyle>
          <a:p>
            <a:fld id="{4563FB02-C4B1-5640-BDA0-815292349273}" type="slidenum">
              <a:rPr lang="en-KR" smtClean="0"/>
              <a:pPr/>
              <a:t>‹#›</a:t>
            </a:fld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2292739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12롯데마트드림Bold" panose="02020603020101020101" pitchFamily="18" charset="-127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12롯데마트드림Bold" panose="02020603020101020101" pitchFamily="18" charset="-127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12롯데마트드림Bold" panose="02020603020101020101" pitchFamily="18" charset="-127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12롯데마트드림Bold" panose="02020603020101020101" pitchFamily="18" charset="-127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12롯데마트드림Bold" panose="02020603020101020101" pitchFamily="18" charset="-12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EF8A8-4175-A74C-BC57-4E521DAE3076}" type="datetimeFigureOut">
              <a:rPr lang="en-KR" smtClean="0"/>
              <a:t>09/20/2026</a:t>
            </a:fld>
            <a:endParaRPr lang="en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465EA-CDEC-9F4B-A010-46B24FB0110C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765845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대목차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background with many lines&#10;&#10;AI-generated content may be incorrect.">
            <a:extLst>
              <a:ext uri="{FF2B5EF4-FFF2-40B4-BE49-F238E27FC236}">
                <a16:creationId xmlns:a16="http://schemas.microsoft.com/office/drawing/2014/main" id="{E46BFB2A-D3E3-1988-0826-A62EFF769F0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alphaModFix amt="51000"/>
          </a:blip>
          <a:srcRect l="23064"/>
          <a:stretch/>
        </p:blipFill>
        <p:spPr>
          <a:xfrm>
            <a:off x="1" y="0"/>
            <a:ext cx="9380107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C9BD490-65BD-A1DF-FD80-8CE57CE3D033}"/>
              </a:ext>
            </a:extLst>
          </p:cNvPr>
          <p:cNvSpPr/>
          <p:nvPr userDrawn="1"/>
        </p:nvSpPr>
        <p:spPr>
          <a:xfrm>
            <a:off x="0" y="6635413"/>
            <a:ext cx="12192000" cy="222587"/>
          </a:xfrm>
          <a:prstGeom prst="rect">
            <a:avLst/>
          </a:prstGeom>
          <a:solidFill>
            <a:schemeClr val="tx1">
              <a:lumMod val="10000"/>
              <a:lumOff val="90000"/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KR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36CC81-4EAC-80DA-7B8E-AAB7CDEED1BD}"/>
              </a:ext>
            </a:extLst>
          </p:cNvPr>
          <p:cNvSpPr/>
          <p:nvPr userDrawn="1"/>
        </p:nvSpPr>
        <p:spPr>
          <a:xfrm>
            <a:off x="0" y="6812286"/>
            <a:ext cx="12192000" cy="4571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155"/>
            <a:endParaRPr lang="en-KR" sz="1800" kern="0">
              <a:solidFill>
                <a:srgbClr val="FFFFFF"/>
              </a:solidFill>
              <a:latin typeface="Aptos" panose="02110004020202020204"/>
            </a:endParaRPr>
          </a:p>
        </p:txBody>
      </p:sp>
      <p:sp>
        <p:nvSpPr>
          <p:cNvPr id="5" name="Round Diagonal Corner Rectangle 4">
            <a:extLst>
              <a:ext uri="{FF2B5EF4-FFF2-40B4-BE49-F238E27FC236}">
                <a16:creationId xmlns:a16="http://schemas.microsoft.com/office/drawing/2014/main" id="{D6AB0EDE-1AAE-327B-32A0-6CAF21FB07B0}"/>
              </a:ext>
            </a:extLst>
          </p:cNvPr>
          <p:cNvSpPr/>
          <p:nvPr userDrawn="1"/>
        </p:nvSpPr>
        <p:spPr>
          <a:xfrm>
            <a:off x="11832000" y="6635413"/>
            <a:ext cx="360000" cy="222587"/>
          </a:xfrm>
          <a:prstGeom prst="round2DiagRect">
            <a:avLst>
              <a:gd name="adj1" fmla="val 32819"/>
              <a:gd name="adj2" fmla="val 0"/>
            </a:avLst>
          </a:prstGeom>
          <a:solidFill>
            <a:schemeClr val="tx1">
              <a:lumMod val="10000"/>
              <a:lumOff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155"/>
            <a:endParaRPr lang="en-KR" sz="1800" kern="0">
              <a:solidFill>
                <a:srgbClr val="FFFFFF"/>
              </a:solidFill>
              <a:latin typeface="Aptos" panose="02110004020202020204"/>
            </a:endParaRP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3E88D076-0591-2285-3ED6-1EDA9406B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56320"/>
            <a:ext cx="2743200" cy="365125"/>
          </a:xfrm>
          <a:prstGeom prst="rect">
            <a:avLst/>
          </a:prstGeom>
        </p:spPr>
        <p:txBody>
          <a:bodyPr/>
          <a:lstStyle/>
          <a:p>
            <a:fld id="{E1DA906B-CB66-1048-98AE-AAE046A9E502}" type="slidenum">
              <a:rPr lang="en-KR" smtClean="0"/>
              <a:pPr/>
              <a:t>‹#›</a:t>
            </a:fld>
            <a:endParaRPr lang="en-KR"/>
          </a:p>
        </p:txBody>
      </p:sp>
      <p:sp>
        <p:nvSpPr>
          <p:cNvPr id="12" name="Round Diagonal Corner Rectangle 17">
            <a:extLst>
              <a:ext uri="{FF2B5EF4-FFF2-40B4-BE49-F238E27FC236}">
                <a16:creationId xmlns:a16="http://schemas.microsoft.com/office/drawing/2014/main" id="{EE63A46E-225A-962A-89B1-6CED782929EA}"/>
              </a:ext>
            </a:extLst>
          </p:cNvPr>
          <p:cNvSpPr/>
          <p:nvPr userDrawn="1"/>
        </p:nvSpPr>
        <p:spPr>
          <a:xfrm flipH="1">
            <a:off x="-4" y="6635413"/>
            <a:ext cx="2864648" cy="222587"/>
          </a:xfrm>
          <a:prstGeom prst="round2DiagRect">
            <a:avLst>
              <a:gd name="adj1" fmla="val 32819"/>
              <a:gd name="adj2" fmla="val 0"/>
            </a:avLst>
          </a:prstGeom>
          <a:solidFill>
            <a:schemeClr val="tx1">
              <a:lumMod val="10000"/>
              <a:lumOff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155"/>
            <a:endParaRPr lang="en-KR" sz="1800" kern="0">
              <a:solidFill>
                <a:srgbClr val="FFFFFF"/>
              </a:solidFill>
              <a:latin typeface="Aptos" panose="02110004020202020204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EE78DA-40D7-951A-3166-C8E44AE31029}"/>
              </a:ext>
            </a:extLst>
          </p:cNvPr>
          <p:cNvSpPr txBox="1"/>
          <p:nvPr userDrawn="1"/>
        </p:nvSpPr>
        <p:spPr>
          <a:xfrm>
            <a:off x="-11998" y="6635314"/>
            <a:ext cx="2936173" cy="236915"/>
          </a:xfrm>
          <a:prstGeom prst="rect">
            <a:avLst/>
          </a:prstGeom>
          <a:noFill/>
        </p:spPr>
        <p:txBody>
          <a:bodyPr wrap="square" lIns="72000" tIns="36000" rIns="72000" bIns="36000" rtlCol="0">
            <a:spAutoFit/>
          </a:bodyPr>
          <a:lstStyle/>
          <a:p>
            <a:pPr>
              <a:defRPr/>
            </a:pPr>
            <a:r>
              <a:rPr kumimoji="1" lang="ko-KR" altLang="en-US" sz="1067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Paperlogy 4 Regular" pitchFamily="2" charset="-127"/>
                <a:ea typeface="Paperlogy 4 Regular" pitchFamily="2" charset="-127"/>
                <a:cs typeface="Pretendard" panose="02000503000000020004" pitchFamily="50" charset="-127"/>
              </a:rPr>
              <a:t>인공지능 플러스 </a:t>
            </a:r>
            <a:r>
              <a:rPr kumimoji="1" lang="en-US" altLang="ko-KR" sz="1067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Paperlogy 4 Regular" pitchFamily="2" charset="-127"/>
                <a:ea typeface="Paperlogy 4 Regular" pitchFamily="2" charset="-127"/>
                <a:cs typeface="Pretendard" panose="02000503000000020004" pitchFamily="50" charset="-127"/>
              </a:rPr>
              <a:t>K</a:t>
            </a:r>
            <a:r>
              <a:rPr kumimoji="1" lang="ko-KR" altLang="en-US" sz="1067" b="0" i="0" u="none" strike="noStrike" kern="0" cap="none" spc="0" normalizeH="0" baseline="0" noProof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Paperlogy 4 Regular" pitchFamily="2" charset="-127"/>
                <a:ea typeface="Paperlogy 4 Regular" pitchFamily="2" charset="-127"/>
                <a:cs typeface="Pretendard" panose="02000503000000020004" pitchFamily="50" charset="-127"/>
              </a:rPr>
              <a:t>건설인프라</a:t>
            </a:r>
            <a:r>
              <a:rPr kumimoji="1" lang="ko-KR" altLang="en-US" sz="1067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Paperlogy 4 Regular" pitchFamily="2" charset="-127"/>
                <a:ea typeface="Paperlogy 4 Regular" pitchFamily="2" charset="-127"/>
                <a:cs typeface="Pretendard" panose="02000503000000020004" pitchFamily="50" charset="-127"/>
              </a:rPr>
              <a:t> </a:t>
            </a:r>
            <a:r>
              <a:rPr kumimoji="1" lang="ko-KR" altLang="en-US" sz="1067" b="0" i="0" u="none" strike="noStrike" kern="0" cap="none" spc="0" normalizeH="0" baseline="0" noProof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Paperlogy 4 Regular" pitchFamily="2" charset="-127"/>
                <a:ea typeface="Paperlogy 4 Regular" pitchFamily="2" charset="-127"/>
                <a:cs typeface="Pretendard" panose="02000503000000020004" pitchFamily="50" charset="-127"/>
              </a:rPr>
              <a:t>레질리언스</a:t>
            </a:r>
            <a:r>
              <a:rPr kumimoji="1" lang="ko-KR" altLang="en-US" sz="1067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Paperlogy 4 Regular" pitchFamily="2" charset="-127"/>
                <a:ea typeface="Paperlogy 4 Regular" pitchFamily="2" charset="-127"/>
                <a:cs typeface="Pretendard" panose="02000503000000020004" pitchFamily="50" charset="-127"/>
              </a:rPr>
              <a:t> 연구센터 </a:t>
            </a:r>
          </a:p>
        </p:txBody>
      </p:sp>
    </p:spTree>
    <p:extLst>
      <p:ext uri="{BB962C8B-B14F-4D97-AF65-F5344CB8AC3E}">
        <p14:creationId xmlns:p14="http://schemas.microsoft.com/office/powerpoint/2010/main" val="1511730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5F6B0B0-CC67-00A4-D1D4-FFFFAD144F76}"/>
              </a:ext>
            </a:extLst>
          </p:cNvPr>
          <p:cNvSpPr/>
          <p:nvPr userDrawn="1"/>
        </p:nvSpPr>
        <p:spPr>
          <a:xfrm>
            <a:off x="0" y="0"/>
            <a:ext cx="12192000" cy="624691"/>
          </a:xfrm>
          <a:prstGeom prst="rect">
            <a:avLst/>
          </a:prstGeom>
          <a:solidFill>
            <a:srgbClr val="10171E">
              <a:lumMod val="10000"/>
              <a:lumOff val="90000"/>
              <a:alpha val="34000"/>
            </a:srgbClr>
          </a:solidFill>
          <a:ln w="19050" cap="flat" cmpd="sng" algn="ctr">
            <a:solidFill>
              <a:srgbClr val="FFFFFF">
                <a:lumMod val="9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KR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31DA194-CBAB-3778-F334-8CFC0F22B433}"/>
              </a:ext>
            </a:extLst>
          </p:cNvPr>
          <p:cNvSpPr/>
          <p:nvPr userDrawn="1"/>
        </p:nvSpPr>
        <p:spPr>
          <a:xfrm>
            <a:off x="0" y="588691"/>
            <a:ext cx="12192000" cy="36000"/>
          </a:xfrm>
          <a:prstGeom prst="roundRect">
            <a:avLst>
              <a:gd name="adj" fmla="val 0"/>
            </a:avLst>
          </a:prstGeom>
          <a:solidFill>
            <a:srgbClr val="10171E">
              <a:lumMod val="10000"/>
              <a:lumOff val="9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R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24" name="Round Same Side Corner Rectangle 23">
            <a:extLst>
              <a:ext uri="{FF2B5EF4-FFF2-40B4-BE49-F238E27FC236}">
                <a16:creationId xmlns:a16="http://schemas.microsoft.com/office/drawing/2014/main" id="{094134B1-D98C-B7C2-0CB9-BF20FB716CF3}"/>
              </a:ext>
            </a:extLst>
          </p:cNvPr>
          <p:cNvSpPr/>
          <p:nvPr userDrawn="1"/>
        </p:nvSpPr>
        <p:spPr>
          <a:xfrm rot="5400000">
            <a:off x="21379" y="-63640"/>
            <a:ext cx="479045" cy="897623"/>
          </a:xfrm>
          <a:prstGeom prst="round2SameRect">
            <a:avLst>
              <a:gd name="adj1" fmla="val 12189"/>
              <a:gd name="adj2" fmla="val 0"/>
            </a:avLst>
          </a:prstGeom>
          <a:solidFill>
            <a:schemeClr val="tx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lvl="0" algn="ctr" defTabSz="457155"/>
            <a:endParaRPr lang="en-KR" kern="0" noProof="0">
              <a:solidFill>
                <a:srgbClr val="FFFFFF"/>
              </a:solidFill>
              <a:latin typeface="Aptos" panose="02110004020202020204"/>
            </a:endParaRPr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62B8B964-5829-35DA-FFE9-B75B4560FED1}"/>
              </a:ext>
            </a:extLst>
          </p:cNvPr>
          <p:cNvSpPr/>
          <p:nvPr userDrawn="1"/>
        </p:nvSpPr>
        <p:spPr>
          <a:xfrm rot="5400000">
            <a:off x="238265" y="162517"/>
            <a:ext cx="36000" cy="888348"/>
          </a:xfrm>
          <a:custGeom>
            <a:avLst/>
            <a:gdLst>
              <a:gd name="connsiteX0" fmla="*/ 0 w 36000"/>
              <a:gd name="connsiteY0" fmla="*/ 888348 h 888348"/>
              <a:gd name="connsiteX1" fmla="*/ 0 w 36000"/>
              <a:gd name="connsiteY1" fmla="*/ 0 h 888348"/>
              <a:gd name="connsiteX2" fmla="*/ 18901 w 36000"/>
              <a:gd name="connsiteY2" fmla="*/ 7829 h 888348"/>
              <a:gd name="connsiteX3" fmla="*/ 31414 w 36000"/>
              <a:gd name="connsiteY3" fmla="*/ 26390 h 888348"/>
              <a:gd name="connsiteX4" fmla="*/ 36000 w 36000"/>
              <a:gd name="connsiteY4" fmla="*/ 49103 h 888348"/>
              <a:gd name="connsiteX5" fmla="*/ 36000 w 36000"/>
              <a:gd name="connsiteY5" fmla="*/ 888348 h 888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000" h="888348">
                <a:moveTo>
                  <a:pt x="0" y="888348"/>
                </a:moveTo>
                <a:lnTo>
                  <a:pt x="0" y="0"/>
                </a:lnTo>
                <a:lnTo>
                  <a:pt x="18901" y="7829"/>
                </a:lnTo>
                <a:cubicBezTo>
                  <a:pt x="24184" y="13113"/>
                  <a:pt x="28460" y="19404"/>
                  <a:pt x="31414" y="26390"/>
                </a:cubicBezTo>
                <a:lnTo>
                  <a:pt x="36000" y="49103"/>
                </a:lnTo>
                <a:lnTo>
                  <a:pt x="36000" y="888348"/>
                </a:lnTo>
                <a:close/>
              </a:path>
            </a:pathLst>
          </a:custGeom>
          <a:solidFill>
            <a:schemeClr val="tx2">
              <a:lumMod val="50000"/>
              <a:alpha val="5519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lvl="0" algn="ctr" defTabSz="457155"/>
            <a:endParaRPr lang="en-KR" kern="0" noProof="0">
              <a:solidFill>
                <a:srgbClr val="FFFFFF"/>
              </a:solidFill>
              <a:latin typeface="Aptos" panose="02110004020202020204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FF4A933-FE4E-10C0-1A56-8DB6665D3458}"/>
              </a:ext>
            </a:extLst>
          </p:cNvPr>
          <p:cNvSpPr/>
          <p:nvPr userDrawn="1"/>
        </p:nvSpPr>
        <p:spPr>
          <a:xfrm>
            <a:off x="0" y="6635413"/>
            <a:ext cx="12192000" cy="222587"/>
          </a:xfrm>
          <a:prstGeom prst="rect">
            <a:avLst/>
          </a:prstGeom>
          <a:solidFill>
            <a:schemeClr val="tx1">
              <a:lumMod val="10000"/>
              <a:lumOff val="90000"/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K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AD5E9E3-8815-B25B-782F-CF437DFB69C5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200"/>
            <a:endParaRPr lang="en-KR" kern="0">
              <a:solidFill>
                <a:srgbClr val="FFFFFF"/>
              </a:solidFill>
              <a:latin typeface="Aptos" panose="02110004020202020204"/>
            </a:endParaRPr>
          </a:p>
        </p:txBody>
      </p:sp>
      <p:sp>
        <p:nvSpPr>
          <p:cNvPr id="34" name="Round Diagonal Corner Rectangle 33">
            <a:extLst>
              <a:ext uri="{FF2B5EF4-FFF2-40B4-BE49-F238E27FC236}">
                <a16:creationId xmlns:a16="http://schemas.microsoft.com/office/drawing/2014/main" id="{1546BE10-9EC5-7A70-9059-5FDBB17D1541}"/>
              </a:ext>
            </a:extLst>
          </p:cNvPr>
          <p:cNvSpPr/>
          <p:nvPr userDrawn="1"/>
        </p:nvSpPr>
        <p:spPr>
          <a:xfrm>
            <a:off x="11832000" y="6635413"/>
            <a:ext cx="360000" cy="222587"/>
          </a:xfrm>
          <a:prstGeom prst="round2DiagRect">
            <a:avLst>
              <a:gd name="adj1" fmla="val 32819"/>
              <a:gd name="adj2" fmla="val 0"/>
            </a:avLst>
          </a:prstGeom>
          <a:solidFill>
            <a:schemeClr val="tx1">
              <a:lumMod val="10000"/>
              <a:lumOff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200"/>
            <a:endParaRPr lang="en-KR" kern="0">
              <a:solidFill>
                <a:srgbClr val="FFFFFF"/>
              </a:solidFill>
              <a:latin typeface="Aptos" panose="02110004020202020204"/>
            </a:endParaRP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A4F33486-4A06-6DB5-84CE-54833F86A165}"/>
              </a:ext>
            </a:extLst>
          </p:cNvPr>
          <p:cNvSpPr txBox="1">
            <a:spLocks/>
          </p:cNvSpPr>
          <p:nvPr userDrawn="1"/>
        </p:nvSpPr>
        <p:spPr>
          <a:xfrm>
            <a:off x="9448800" y="656414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DA906B-CB66-1048-98AE-AAE046A9E502}" type="slidenum">
              <a:rPr lang="en-KR" smtClean="0"/>
              <a:pPr/>
              <a:t>‹#›</a:t>
            </a:fld>
            <a:endParaRPr lang="en-KR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96175194-B9B3-FECC-547B-79C942CAA5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9713" y="127208"/>
            <a:ext cx="9188772" cy="465385"/>
          </a:xfrm>
        </p:spPr>
        <p:txBody>
          <a:bodyPr anchor="b">
            <a:normAutofit/>
          </a:bodyPr>
          <a:lstStyle>
            <a:lvl1pPr>
              <a:defRPr kumimoji="0" lang="en-KR" sz="1900" b="1" i="0" u="none" strike="noStrike" kern="1200" cap="none" spc="0" normalizeH="0" baseline="0" dirty="0">
                <a:ln>
                  <a:noFill/>
                </a:ln>
                <a:solidFill>
                  <a:srgbClr val="373D47"/>
                </a:solidFill>
                <a:effectLst/>
                <a:uLnTx/>
                <a:uFillTx/>
                <a:latin typeface="Paperlogy 7 Bold" pitchFamily="2" charset="-127"/>
                <a:ea typeface="Paperlogy 7 Bold" pitchFamily="2" charset="-127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페이지 타이틀</a:t>
            </a:r>
            <a:endParaRPr lang="en-KR" dirty="0"/>
          </a:p>
        </p:txBody>
      </p:sp>
      <p:sp>
        <p:nvSpPr>
          <p:cNvPr id="39" name="Round Diagonal Corner Rectangle 38">
            <a:extLst>
              <a:ext uri="{FF2B5EF4-FFF2-40B4-BE49-F238E27FC236}">
                <a16:creationId xmlns:a16="http://schemas.microsoft.com/office/drawing/2014/main" id="{0C16CA44-2417-8527-CD45-E3DEBB1290A2}"/>
              </a:ext>
            </a:extLst>
          </p:cNvPr>
          <p:cNvSpPr/>
          <p:nvPr userDrawn="1"/>
        </p:nvSpPr>
        <p:spPr>
          <a:xfrm flipH="1">
            <a:off x="-2" y="6635413"/>
            <a:ext cx="2743200" cy="222587"/>
          </a:xfrm>
          <a:prstGeom prst="round2DiagRect">
            <a:avLst>
              <a:gd name="adj1" fmla="val 32819"/>
              <a:gd name="adj2" fmla="val 0"/>
            </a:avLst>
          </a:prstGeom>
          <a:solidFill>
            <a:schemeClr val="tx1">
              <a:lumMod val="10000"/>
              <a:lumOff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200"/>
            <a:endParaRPr lang="en-KR" kern="0">
              <a:solidFill>
                <a:srgbClr val="FFFFFF"/>
              </a:solidFill>
              <a:latin typeface="Aptos" panose="02110004020202020204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F0F641F-5269-9EB0-7EAB-3DEDB0FDD2B3}"/>
              </a:ext>
            </a:extLst>
          </p:cNvPr>
          <p:cNvSpPr txBox="1"/>
          <p:nvPr userDrawn="1"/>
        </p:nvSpPr>
        <p:spPr>
          <a:xfrm>
            <a:off x="-11998" y="6625586"/>
            <a:ext cx="2743200" cy="226591"/>
          </a:xfrm>
          <a:prstGeom prst="rect">
            <a:avLst/>
          </a:prstGeom>
          <a:noFill/>
        </p:spPr>
        <p:txBody>
          <a:bodyPr wrap="square" lIns="72000" tIns="36000" rIns="72000" bIns="3600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Paperlogy 4 Regular" pitchFamily="2" charset="-127"/>
                <a:ea typeface="Paperlogy 4 Regular" pitchFamily="2" charset="-127"/>
                <a:cs typeface="Pretendard" panose="02000503000000020004" pitchFamily="50" charset="-127"/>
              </a:rPr>
              <a:t>인공지능 플러스 </a:t>
            </a:r>
            <a:r>
              <a:rPr kumimoji="1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Paperlogy 4 Regular" pitchFamily="2" charset="-127"/>
                <a:ea typeface="Paperlogy 4 Regular" pitchFamily="2" charset="-127"/>
                <a:cs typeface="Pretendard" panose="02000503000000020004" pitchFamily="50" charset="-127"/>
              </a:rPr>
              <a:t>K</a:t>
            </a:r>
            <a:r>
              <a:rPr kumimoji="1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Paperlogy 4 Regular" pitchFamily="2" charset="-127"/>
                <a:ea typeface="Paperlogy 4 Regular" pitchFamily="2" charset="-127"/>
                <a:cs typeface="Pretendard" panose="02000503000000020004" pitchFamily="50" charset="-127"/>
              </a:rPr>
              <a:t>건설인프라</a:t>
            </a:r>
            <a:r>
              <a:rPr kumimoji="1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Paperlogy 4 Regular" pitchFamily="2" charset="-127"/>
                <a:ea typeface="Paperlogy 4 Regular" pitchFamily="2" charset="-127"/>
                <a:cs typeface="Pretendard" panose="02000503000000020004" pitchFamily="50" charset="-127"/>
              </a:rPr>
              <a:t> </a:t>
            </a:r>
            <a:r>
              <a:rPr kumimoji="1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Paperlogy 4 Regular" pitchFamily="2" charset="-127"/>
                <a:ea typeface="Paperlogy 4 Regular" pitchFamily="2" charset="-127"/>
                <a:cs typeface="Pretendard" panose="02000503000000020004" pitchFamily="50" charset="-127"/>
              </a:rPr>
              <a:t>레질리언스</a:t>
            </a:r>
            <a:r>
              <a:rPr kumimoji="1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Paperlogy 4 Regular" pitchFamily="2" charset="-127"/>
                <a:ea typeface="Paperlogy 4 Regular" pitchFamily="2" charset="-127"/>
                <a:cs typeface="Pretendard" panose="02000503000000020004" pitchFamily="50" charset="-127"/>
              </a:rPr>
              <a:t> 연구센터 </a:t>
            </a:r>
          </a:p>
        </p:txBody>
      </p:sp>
      <p:pic>
        <p:nvPicPr>
          <p:cNvPr id="5" name="그림 4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DE6688C-5B2C-E1DE-498F-DD8F05D318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9573" b="6791"/>
          <a:stretch>
            <a:fillRect/>
          </a:stretch>
        </p:blipFill>
        <p:spPr>
          <a:xfrm>
            <a:off x="11045634" y="0"/>
            <a:ext cx="1146366" cy="58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1173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AF29C-DF81-4046-ACF8-D5C3F487D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F6AF9-4982-4C31-97AE-D209C6AEA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B8DF1-F1BB-42EA-BF89-835255F52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9F0E3-C562-498F-826B-D316EB0C04CD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65DADF-35E3-47B4-B06B-AC7A0B5DC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B03F33-8C12-4C31-85E0-493C6B012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EC6E0-099D-428C-8CCD-C52AB5491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753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0037" y="365125"/>
            <a:ext cx="11591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0037" y="1825625"/>
            <a:ext cx="11591925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EEF8A8-4175-A74C-BC57-4E521DAE3076}" type="datetimeFigureOut">
              <a:rPr lang="en-KR" smtClean="0"/>
              <a:t>09/20/2026</a:t>
            </a:fld>
            <a:endParaRPr lang="en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0465EA-CDEC-9F4B-A010-46B24FB0110C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244391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744" r:id="rId2"/>
    <p:sldLayoutId id="2147483704" r:id="rId3"/>
    <p:sldLayoutId id="2147483745" r:id="rId4"/>
  </p:sldLayoutIdLst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Paperlogy 5 Medium" pitchFamily="2" charset="-127"/>
          <a:ea typeface="Paperlogy 5 Medium" pitchFamily="2" charset="-127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lvl1pPr>
      <a:lvl2pPr marL="68575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lvl2pPr>
      <a:lvl3pPr marL="114291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lvl3pPr>
      <a:lvl4pPr marL="160008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lvl4pPr>
      <a:lvl5pPr marL="2057247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9" userDrawn="1">
          <p15:clr>
            <a:srgbClr val="F26B43"/>
          </p15:clr>
        </p15:guide>
        <p15:guide id="2" pos="7491" userDrawn="1">
          <p15:clr>
            <a:srgbClr val="F26B43"/>
          </p15:clr>
        </p15:guide>
        <p15:guide id="3" orient="horz" pos="52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02920"/>
            <a:ext cx="12191695" cy="2103120"/>
          </a:xfrm>
          <a:prstGeom prst="rect">
            <a:avLst/>
          </a:prstGeom>
          <a:solidFill>
            <a:srgbClr val="053B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76656" y="0"/>
            <a:ext cx="256032" cy="2606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10936224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300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위성 InSAR · PINN 기반 교량 변위 모니터링 플랫폼</a:t>
            </a:r>
          </a:p>
          <a:p>
            <a:pPr algn="ctr">
              <a:lnSpc>
                <a:spcPct val="112000"/>
              </a:lnSpc>
            </a:pPr>
            <a:r>
              <a:rPr sz="300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Inframon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24912"/>
            <a:ext cx="109362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좌표 하나로 위성 → 변위 → AI 해석 → 디지털 트윈 → B-Maps 까지 자동으로 잇는다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17520"/>
            <a:ext cx="1093622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B7480"/>
                </a:solidFill>
                <a:latin typeface="Paperlogy 5 Medium"/>
                <a:ea typeface="Paperlogy 5 Medium"/>
                <a:cs typeface="Paperlogy 5 Medium"/>
              </a:rPr>
              <a:t>KICT B-Maps 연계 · 2026 KAIA 자문회의 · 강원대학교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3456432"/>
            <a:ext cx="530352" cy="530352"/>
          </a:xfrm>
          <a:prstGeom prst="rect">
            <a:avLst/>
          </a:prstGeom>
          <a:solidFill>
            <a:srgbClr val="1C5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17320" y="3456432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3474720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연구개발과제의 필요성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3739896"/>
            <a:ext cx="81381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480"/>
                </a:solidFill>
                <a:latin typeface="Paperlogy 5 Medium"/>
                <a:ea typeface="Paperlogy 5 Medium"/>
                <a:cs typeface="Paperlogy 5 Medium"/>
              </a:rPr>
              <a:t>교량 유지관리 현황과 한계 · 위성 InSAR 와 B-Maps 연계의 필요성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5560" y="347472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1C5B8A"/>
                </a:solidFill>
                <a:latin typeface="Paperlogy 7 Bold"/>
                <a:ea typeface="Paperlogy 7 Bold"/>
                <a:cs typeface="Paperlogy 7 Bold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17320" y="4023360"/>
            <a:ext cx="9875520" cy="5486"/>
          </a:xfrm>
          <a:prstGeom prst="rect">
            <a:avLst/>
          </a:prstGeom>
          <a:solidFill>
            <a:srgbClr val="E9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417320" y="4078224"/>
            <a:ext cx="530352" cy="530352"/>
          </a:xfrm>
          <a:prstGeom prst="rect">
            <a:avLst/>
          </a:prstGeom>
          <a:solidFill>
            <a:srgbClr val="1C5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17320" y="4078224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4096512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연구성과 목표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4361688"/>
            <a:ext cx="81381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480"/>
                </a:solidFill>
                <a:latin typeface="Paperlogy 5 Medium"/>
                <a:ea typeface="Paperlogy 5 Medium"/>
                <a:cs typeface="Paperlogy 5 Medium"/>
              </a:rPr>
              <a:t>최종 목표 · 세부 목표 · 성과 지표와 지금 단계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95560" y="409651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1C5B8A"/>
                </a:solidFill>
                <a:latin typeface="Paperlogy 7 Bold"/>
                <a:ea typeface="Paperlogy 7 Bold"/>
                <a:cs typeface="Paperlogy 7 Bold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17320" y="4645152"/>
            <a:ext cx="9875520" cy="5486"/>
          </a:xfrm>
          <a:prstGeom prst="rect">
            <a:avLst/>
          </a:prstGeom>
          <a:solidFill>
            <a:srgbClr val="E9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417320" y="4700016"/>
            <a:ext cx="530352" cy="530352"/>
          </a:xfrm>
          <a:prstGeom prst="rect">
            <a:avLst/>
          </a:prstGeom>
          <a:solidFill>
            <a:srgbClr val="1C5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417320" y="4700016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4718304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연구수행 내용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4983480"/>
            <a:ext cx="81381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480"/>
                </a:solidFill>
                <a:latin typeface="Paperlogy 5 Medium"/>
                <a:ea typeface="Paperlogy 5 Medium"/>
                <a:cs typeface="Paperlogy 5 Medium"/>
              </a:rPr>
              <a:t>① Inframon 플랫폼 구성   ② 한강 교량 실증 · 디지털 트윈   ③ B-Maps 연동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5560" y="4718304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1C5B8A"/>
                </a:solidFill>
                <a:latin typeface="Paperlogy 7 Bold"/>
                <a:ea typeface="Paperlogy 7 Bold"/>
                <a:cs typeface="Paperlogy 7 Bold"/>
              </a:rPr>
              <a:t>4 – 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17320" y="5266944"/>
            <a:ext cx="9875520" cy="5486"/>
          </a:xfrm>
          <a:prstGeom prst="rect">
            <a:avLst/>
          </a:prstGeom>
          <a:solidFill>
            <a:srgbClr val="E9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417320" y="5321808"/>
            <a:ext cx="530352" cy="530352"/>
          </a:xfrm>
          <a:prstGeom prst="rect">
            <a:avLst/>
          </a:prstGeom>
          <a:solidFill>
            <a:srgbClr val="1C5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417320" y="5321808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48840" y="5340096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향후 계획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5605272"/>
            <a:ext cx="81381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480"/>
                </a:solidFill>
                <a:latin typeface="Paperlogy 5 Medium"/>
                <a:ea typeface="Paperlogy 5 Medium"/>
                <a:cs typeface="Paperlogy 5 Medium"/>
              </a:rPr>
              <a:t>단계별 추진 계획 · KICT 협의 요청 · 기대 효과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95560" y="5340096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1C5B8A"/>
                </a:solidFill>
                <a:latin typeface="Paperlogy 7 Bold"/>
                <a:ea typeface="Paperlogy 7 Bold"/>
                <a:cs typeface="Paperlogy 7 Bold"/>
              </a:rPr>
              <a:t>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17320" y="5888736"/>
            <a:ext cx="9875520" cy="5486"/>
          </a:xfrm>
          <a:prstGeom prst="rect">
            <a:avLst/>
          </a:prstGeom>
          <a:solidFill>
            <a:srgbClr val="E9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0" y="6556248"/>
            <a:ext cx="12191695" cy="26517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0" y="6556248"/>
            <a:ext cx="12191695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[소관부처] 국토교통부 │ [전문기관] 국토교통과학기술진흥원 │ [주관연구개발기관] 강원대학교 │ [공동연구개발기관] 스마트인사이드에이아이 │ [자문/협력기관] 한국건설기술연구원(KICT), 지티에스엔지니어링(GTS)</a:t>
            </a:r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61454C92-4033-49E2-B2C1-09DD358DE5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72" t="3853" r="1" b="13302"/>
          <a:stretch/>
        </p:blipFill>
        <p:spPr>
          <a:xfrm>
            <a:off x="3493022" y="6156956"/>
            <a:ext cx="1750000" cy="373000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868E8621-AA60-4329-967C-7F25628D8D7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EFF"/>
              </a:clrFrom>
              <a:clrTo>
                <a:srgbClr val="FFFEFF">
                  <a:alpha val="0"/>
                </a:srgbClr>
              </a:clrTo>
            </a:clrChange>
          </a:blip>
          <a:srcRect l="7928" t="23187" r="7294" b="30775"/>
          <a:stretch/>
        </p:blipFill>
        <p:spPr>
          <a:xfrm>
            <a:off x="5435737" y="6167744"/>
            <a:ext cx="1900000" cy="364000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F7260D33-D4A9-4A1C-8B1A-CAF057784EC4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528452" y="6034024"/>
            <a:ext cx="2000000" cy="514000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4E27C7AC-E359-478D-A946-08B0635CDD9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145" t="13062" r="981" b="11563"/>
          <a:stretch/>
        </p:blipFill>
        <p:spPr>
          <a:xfrm>
            <a:off x="1500307" y="6156948"/>
            <a:ext cx="1800000" cy="323000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74F4FF36-B51E-4619-93A1-75A29C925F5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8625" t="13629" r="9775" b="73103"/>
          <a:stretch/>
        </p:blipFill>
        <p:spPr>
          <a:xfrm>
            <a:off x="9721168" y="6238380"/>
            <a:ext cx="2200000" cy="289000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4745A96B-41D6-45F4-9A95-D7F03B96FFA1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8918" t="19544" r="54382" b="69823"/>
          <a:stretch/>
        </p:blipFill>
        <p:spPr>
          <a:xfrm>
            <a:off x="82550" y="6126142"/>
            <a:ext cx="1225042" cy="3896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500">
                <a:latin typeface="Paperlogy 7 Bold"/>
                <a:ea typeface="Paperlogy 7 Bold"/>
                <a:cs typeface="Paperlogy 7 Bold"/>
              </a:rPr>
              <a:t>연구개발과제의 필요성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48111" y="0"/>
            <a:ext cx="1206094" cy="592531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" y="168250"/>
            <a:ext cx="633679" cy="46543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2733142" cy="180137"/>
          </a:xfrm>
          <a:prstGeom prst="rect">
            <a:avLst/>
          </a:prstGeom>
          <a:solidFill>
            <a:srgbClr val="E9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" y="6656832"/>
            <a:ext cx="2560320" cy="18013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dirty="0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2026 KAIA </a:t>
            </a:r>
            <a:r>
              <a:rPr sz="1200" b="1" dirty="0" err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자문회의</a:t>
            </a:r>
            <a:endParaRPr sz="1200" b="1" dirty="0">
              <a:solidFill>
                <a:srgbClr val="373D47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2452" name="Shape 13"/>
          <p:cNvSpPr/>
          <p:nvPr/>
        </p:nvSpPr>
        <p:spPr>
          <a:xfrm>
            <a:off x="301752" y="758952"/>
            <a:ext cx="54864" cy="274320"/>
          </a:xfrm>
          <a:prstGeom prst="rect">
            <a:avLst/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</p:sp>
      <p:sp>
        <p:nvSpPr>
          <p:cNvPr id="2456" name="Text 14"/>
          <p:cNvSpPr txBox="1"/>
          <p:nvPr/>
        </p:nvSpPr>
        <p:spPr>
          <a:xfrm>
            <a:off x="438912" y="722376"/>
            <a:ext cx="11338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현장 계측은 일부 교량·지점에 </a:t>
            </a:r>
            <a:r>
              <a:rPr lang="en-US" sz="1450" dirty="0" err="1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머문다</a:t>
            </a:r>
            <a:r>
              <a:rPr lang="en-US" sz="145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- 위성으로 전 교량의 변위 이력을 채우고 B-Maps 에 연결해야 한다</a:t>
            </a:r>
            <a:endParaRPr lang="en-US" sz="1450" dirty="0"/>
          </a:p>
        </p:txBody>
      </p:sp>
      <p:sp>
        <p:nvSpPr>
          <p:cNvPr id="2476" name="Shape 19"/>
          <p:cNvSpPr/>
          <p:nvPr/>
        </p:nvSpPr>
        <p:spPr>
          <a:xfrm>
            <a:off x="411480" y="1371600"/>
            <a:ext cx="356616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480" name="Shape 20"/>
          <p:cNvSpPr/>
          <p:nvPr/>
        </p:nvSpPr>
        <p:spPr>
          <a:xfrm>
            <a:off x="1005840" y="1225296"/>
            <a:ext cx="2377440" cy="283464"/>
          </a:xfrm>
          <a:prstGeom prst="roundRect">
            <a:avLst>
              <a:gd name="adj" fmla="val 48387"/>
            </a:avLst>
          </a:prstGeom>
          <a:solidFill>
            <a:srgbClr val="373D47"/>
          </a:solidFill>
          <a:ln w="12700">
            <a:solidFill>
              <a:srgbClr val="373D47"/>
            </a:solidFill>
            <a:prstDash val="solid"/>
          </a:ln>
        </p:spPr>
      </p:sp>
      <p:sp>
        <p:nvSpPr>
          <p:cNvPr id="2484" name="Text 21"/>
          <p:cNvSpPr txBox="1"/>
          <p:nvPr/>
        </p:nvSpPr>
        <p:spPr>
          <a:xfrm>
            <a:off x="1005840" y="1225296"/>
            <a:ext cx="2377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① 유지관리 현황과 한계</a:t>
            </a:r>
            <a:endParaRPr lang="en-US" sz="1150" dirty="0"/>
          </a:p>
        </p:txBody>
      </p:sp>
      <p:sp>
        <p:nvSpPr>
          <p:cNvPr id="2488" name="Text 22"/>
          <p:cNvSpPr txBox="1"/>
          <p:nvPr/>
        </p:nvSpPr>
        <p:spPr>
          <a:xfrm>
            <a:off x="640080" y="1755648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상시 계측  </a:t>
            </a:r>
            <a:r>
              <a:rPr lang="en-US" sz="12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센서를 붙인 교량·지점만 본다</a:t>
            </a:r>
            <a:endParaRPr lang="en-US" sz="1200" dirty="0"/>
          </a:p>
          <a:p>
            <a:pPr marL="152400" indent="-1524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정기 점검  </a:t>
            </a:r>
            <a:r>
              <a:rPr lang="en-US" sz="12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점검과 점검 사이는 관측 공백</a:t>
            </a:r>
            <a:endParaRPr lang="en-US" sz="1200" dirty="0"/>
          </a:p>
          <a:p>
            <a:pPr marL="152400" indent="-1524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센서 미설치  </a:t>
            </a:r>
            <a:r>
              <a:rPr lang="en-US" sz="12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성수·한강대교도 처짐(경사) 센서 없음</a:t>
            </a:r>
            <a:endParaRPr lang="en-US" sz="1200" dirty="0"/>
          </a:p>
        </p:txBody>
      </p:sp>
      <p:sp>
        <p:nvSpPr>
          <p:cNvPr id="2492" name="Shape 23"/>
          <p:cNvSpPr/>
          <p:nvPr/>
        </p:nvSpPr>
        <p:spPr>
          <a:xfrm>
            <a:off x="4311396" y="1371600"/>
            <a:ext cx="356616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496" name="Shape 24"/>
          <p:cNvSpPr/>
          <p:nvPr/>
        </p:nvSpPr>
        <p:spPr>
          <a:xfrm>
            <a:off x="4905756" y="1225296"/>
            <a:ext cx="2377440" cy="283464"/>
          </a:xfrm>
          <a:prstGeom prst="roundRect">
            <a:avLst>
              <a:gd name="adj" fmla="val 48387"/>
            </a:avLst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</p:sp>
      <p:sp>
        <p:nvSpPr>
          <p:cNvPr id="2500" name="Text 25"/>
          <p:cNvSpPr txBox="1"/>
          <p:nvPr/>
        </p:nvSpPr>
        <p:spPr>
          <a:xfrm>
            <a:off x="4905756" y="1225296"/>
            <a:ext cx="2377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② 위성 InSAR 의 필요성</a:t>
            </a:r>
            <a:endParaRPr lang="en-US" sz="1150" dirty="0"/>
          </a:p>
        </p:txBody>
      </p:sp>
      <p:sp>
        <p:nvSpPr>
          <p:cNvPr id="2504" name="Text 26"/>
          <p:cNvSpPr txBox="1"/>
          <p:nvPr/>
        </p:nvSpPr>
        <p:spPr>
          <a:xfrm>
            <a:off x="4539996" y="1755648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소급 관측  </a:t>
            </a:r>
            <a:r>
              <a:rPr lang="en-US" sz="12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2018년부터 쌓인 공개 위성자료</a:t>
            </a:r>
            <a:endParaRPr lang="en-US" sz="1200" dirty="0"/>
          </a:p>
          <a:p>
            <a:pPr marL="152400" indent="-1524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무설치  </a:t>
            </a:r>
            <a:r>
              <a:rPr lang="en-US" sz="12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교량에 장비를 달지 않는다</a:t>
            </a:r>
            <a:endParaRPr lang="en-US" sz="1200" dirty="0"/>
          </a:p>
          <a:p>
            <a:pPr marL="152400" indent="-1524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확장성  </a:t>
            </a:r>
            <a:r>
              <a:rPr lang="en-US" sz="12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비용이 교량 수에 비례하지 않는다</a:t>
            </a:r>
            <a:endParaRPr lang="en-US" sz="1200" dirty="0"/>
          </a:p>
        </p:txBody>
      </p:sp>
      <p:sp>
        <p:nvSpPr>
          <p:cNvPr id="2508" name="Shape 27"/>
          <p:cNvSpPr/>
          <p:nvPr/>
        </p:nvSpPr>
        <p:spPr>
          <a:xfrm>
            <a:off x="8211312" y="1371600"/>
            <a:ext cx="356616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512" name="Shape 28"/>
          <p:cNvSpPr/>
          <p:nvPr/>
        </p:nvSpPr>
        <p:spPr>
          <a:xfrm>
            <a:off x="8805672" y="1225296"/>
            <a:ext cx="2377440" cy="283464"/>
          </a:xfrm>
          <a:prstGeom prst="roundRect">
            <a:avLst>
              <a:gd name="adj" fmla="val 48387"/>
            </a:avLst>
          </a:prstGeom>
          <a:solidFill>
            <a:srgbClr val="ED6C00"/>
          </a:solidFill>
          <a:ln w="12700">
            <a:solidFill>
              <a:srgbClr val="ED6C00"/>
            </a:solidFill>
            <a:prstDash val="solid"/>
          </a:ln>
        </p:spPr>
      </p:sp>
      <p:sp>
        <p:nvSpPr>
          <p:cNvPr id="2516" name="Text 29"/>
          <p:cNvSpPr txBox="1"/>
          <p:nvPr/>
        </p:nvSpPr>
        <p:spPr>
          <a:xfrm>
            <a:off x="8805672" y="1225296"/>
            <a:ext cx="2377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③ B-Maps 연계의 필요성</a:t>
            </a:r>
            <a:endParaRPr lang="en-US" sz="1150" dirty="0"/>
          </a:p>
        </p:txBody>
      </p:sp>
      <p:sp>
        <p:nvSpPr>
          <p:cNvPr id="2520" name="Text 30"/>
          <p:cNvSpPr txBox="1"/>
          <p:nvPr/>
        </p:nvSpPr>
        <p:spPr>
          <a:xfrm>
            <a:off x="8439912" y="1755648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ED6C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공간 + 시간  </a:t>
            </a:r>
            <a:r>
              <a:rPr lang="en-US" sz="12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자산·도면에 변위 이력을 더한다</a:t>
            </a:r>
            <a:endParaRPr lang="en-US" sz="1200" dirty="0"/>
          </a:p>
          <a:p>
            <a:pPr marL="152400" indent="-1524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ED6C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부재 단위  </a:t>
            </a:r>
            <a:r>
              <a:rPr lang="en-US" sz="12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IFC 부재 GUID 로 결과를 묶는다</a:t>
            </a:r>
            <a:endParaRPr lang="en-US" sz="1200" dirty="0"/>
          </a:p>
          <a:p>
            <a:pPr marL="152400" indent="-1524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ED6C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서비스화  </a:t>
            </a:r>
            <a:r>
              <a:rPr lang="en-US" sz="12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노후도·안정성 판단에 바로 투입</a:t>
            </a:r>
            <a:endParaRPr lang="en-US" sz="1200" dirty="0"/>
          </a:p>
        </p:txBody>
      </p:sp>
      <p:sp>
        <p:nvSpPr>
          <p:cNvPr id="2524" name="Shape 31"/>
          <p:cNvSpPr/>
          <p:nvPr/>
        </p:nvSpPr>
        <p:spPr>
          <a:xfrm>
            <a:off x="411480" y="3657600"/>
            <a:ext cx="2724912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528" name="Text 32"/>
          <p:cNvSpPr txBox="1"/>
          <p:nvPr/>
        </p:nvSpPr>
        <p:spPr>
          <a:xfrm>
            <a:off x="594360" y="3767328"/>
            <a:ext cx="2404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7</a:t>
            </a:r>
            <a:r>
              <a:rPr lang="en-US" sz="12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 년치</a:t>
            </a:r>
            <a:endParaRPr lang="en-US" sz="1100" dirty="0"/>
          </a:p>
        </p:txBody>
      </p:sp>
      <p:sp>
        <p:nvSpPr>
          <p:cNvPr id="2532" name="Text 33"/>
          <p:cNvSpPr txBox="1"/>
          <p:nvPr/>
        </p:nvSpPr>
        <p:spPr>
          <a:xfrm>
            <a:off x="594360" y="4261104"/>
            <a:ext cx="2404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2018년 6월부터 쌓인 위성 관측</a:t>
            </a:r>
            <a:endParaRPr lang="en-US" sz="1000" dirty="0"/>
          </a:p>
        </p:txBody>
      </p:sp>
      <p:sp>
        <p:nvSpPr>
          <p:cNvPr id="2536" name="Shape 34"/>
          <p:cNvSpPr/>
          <p:nvPr/>
        </p:nvSpPr>
        <p:spPr>
          <a:xfrm>
            <a:off x="3291840" y="3657600"/>
            <a:ext cx="2724912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540" name="Text 35"/>
          <p:cNvSpPr txBox="1"/>
          <p:nvPr/>
        </p:nvSpPr>
        <p:spPr>
          <a:xfrm>
            <a:off x="3474720" y="3767328"/>
            <a:ext cx="2404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12</a:t>
            </a:r>
            <a:r>
              <a:rPr lang="en-US" sz="120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 일</a:t>
            </a:r>
            <a:endParaRPr lang="en-US" sz="1100" dirty="0"/>
          </a:p>
        </p:txBody>
      </p:sp>
      <p:sp>
        <p:nvSpPr>
          <p:cNvPr id="2544" name="Text 36"/>
          <p:cNvSpPr txBox="1"/>
          <p:nvPr/>
        </p:nvSpPr>
        <p:spPr>
          <a:xfrm>
            <a:off x="3474720" y="4261104"/>
            <a:ext cx="2404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재방문 주기 — 사람이 가지 않아도 갱신</a:t>
            </a:r>
            <a:endParaRPr lang="en-US" sz="1000" dirty="0"/>
          </a:p>
        </p:txBody>
      </p:sp>
      <p:sp>
        <p:nvSpPr>
          <p:cNvPr id="2548" name="Shape 37"/>
          <p:cNvSpPr/>
          <p:nvPr/>
        </p:nvSpPr>
        <p:spPr>
          <a:xfrm>
            <a:off x="6172200" y="3657600"/>
            <a:ext cx="2724912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552" name="Text 38"/>
          <p:cNvSpPr txBox="1"/>
          <p:nvPr/>
        </p:nvSpPr>
        <p:spPr>
          <a:xfrm>
            <a:off x="6355080" y="3767328"/>
            <a:ext cx="2404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0</a:t>
            </a:r>
            <a:r>
              <a:rPr lang="en-US" sz="12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 개</a:t>
            </a:r>
            <a:endParaRPr lang="en-US" sz="1100" dirty="0"/>
          </a:p>
        </p:txBody>
      </p:sp>
      <p:sp>
        <p:nvSpPr>
          <p:cNvPr id="2556" name="Text 39"/>
          <p:cNvSpPr txBox="1"/>
          <p:nvPr/>
        </p:nvSpPr>
        <p:spPr>
          <a:xfrm>
            <a:off x="6355080" y="4261104"/>
            <a:ext cx="2404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현장 설치 장비 — 교량에 손대지 않는다</a:t>
            </a:r>
            <a:endParaRPr lang="en-US" sz="1000" dirty="0"/>
          </a:p>
        </p:txBody>
      </p:sp>
      <p:sp>
        <p:nvSpPr>
          <p:cNvPr id="2560" name="Shape 40"/>
          <p:cNvSpPr/>
          <p:nvPr/>
        </p:nvSpPr>
        <p:spPr>
          <a:xfrm>
            <a:off x="9052560" y="3657600"/>
            <a:ext cx="2724912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564" name="Text 41"/>
          <p:cNvSpPr txBox="1"/>
          <p:nvPr/>
        </p:nvSpPr>
        <p:spPr>
          <a:xfrm>
            <a:off x="9235440" y="3767328"/>
            <a:ext cx="2404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ED6C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전량</a:t>
            </a:r>
            <a:r>
              <a:rPr lang="en-US" sz="1200" dirty="0">
                <a:solidFill>
                  <a:srgbClr val="ED6C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 무상</a:t>
            </a:r>
            <a:endParaRPr lang="en-US" sz="1100" dirty="0"/>
          </a:p>
        </p:txBody>
      </p:sp>
      <p:sp>
        <p:nvSpPr>
          <p:cNvPr id="2568" name="Text 42"/>
          <p:cNvSpPr txBox="1"/>
          <p:nvPr/>
        </p:nvSpPr>
        <p:spPr>
          <a:xfrm>
            <a:off x="9235440" y="4261104"/>
            <a:ext cx="2404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Sentinel-1 공개 위성자료</a:t>
            </a:r>
            <a:endParaRPr lang="en-US" sz="1000" dirty="0"/>
          </a:p>
        </p:txBody>
      </p:sp>
      <p:graphicFrame>
        <p:nvGraphicFramePr>
          <p:cNvPr id="25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4937760"/>
          <a:ext cx="11365992" cy="1316736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65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구분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지금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위성 InSAR · B-Maps 연계 후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계측기가 달린 교량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상시 감시 — 센서를 붙인 지점만</a:t>
                      </a:r>
                      <a:endParaRPr lang="en-US" sz="11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위성으로 교차검증 · 나머지 구간까지</a:t>
                      </a:r>
                      <a:endParaRPr lang="en-US" sz="11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계측기가 없는 교량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점검 간 날에만 판단</a:t>
                      </a:r>
                      <a:endParaRPr lang="en-US" sz="11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12일마다 전 구간 변위 갱신</a:t>
                      </a:r>
                      <a:endParaRPr lang="en-US" sz="11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과거 이력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점검 기록이 전부</a:t>
                      </a:r>
                      <a:endParaRPr lang="en-US" sz="11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2018년 6월까지 소급해 다시 본다</a:t>
                      </a:r>
                      <a:endParaRPr lang="en-US" sz="11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76" name="Text 43"/>
          <p:cNvSpPr txBox="1"/>
          <p:nvPr/>
        </p:nvSpPr>
        <p:spPr>
          <a:xfrm>
            <a:off x="411480" y="6355080"/>
            <a:ext cx="11365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※ 센서 미설치 항목은 2024 한강교량 온라인 안전감시시스템 유지관리 최종보고 기준. 위성 관측 기간은 실제 처리한 Sentinel-1 스택(2018-06-19 ~ 2025-12-27).</a:t>
            </a:r>
            <a:endParaRPr lang="en-US" sz="850" dirty="0"/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DB735483-CD40-4C70-A793-AA93D431D8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72" t="3853" r="1" b="13302"/>
          <a:stretch/>
        </p:blipFill>
        <p:spPr>
          <a:xfrm>
            <a:off x="10400852" y="0"/>
            <a:ext cx="1750000" cy="373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500">
                <a:latin typeface="Paperlogy 7 Bold"/>
                <a:ea typeface="Paperlogy 7 Bold"/>
                <a:cs typeface="Paperlogy 7 Bold"/>
              </a:rPr>
              <a:t>연구성과 목표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48111" y="0"/>
            <a:ext cx="1206094" cy="592531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" y="168250"/>
            <a:ext cx="633679" cy="46543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2733142" cy="180137"/>
          </a:xfrm>
          <a:prstGeom prst="rect">
            <a:avLst/>
          </a:prstGeom>
          <a:solidFill>
            <a:srgbClr val="E9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" y="6656832"/>
            <a:ext cx="2560320" cy="18013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2026 KAIA 자문회의</a:t>
            </a:r>
          </a:p>
        </p:txBody>
      </p:sp>
      <p:sp>
        <p:nvSpPr>
          <p:cNvPr id="2652" name="Shape 13"/>
          <p:cNvSpPr/>
          <p:nvPr/>
        </p:nvSpPr>
        <p:spPr>
          <a:xfrm>
            <a:off x="301752" y="758952"/>
            <a:ext cx="54864" cy="274320"/>
          </a:xfrm>
          <a:prstGeom prst="rect">
            <a:avLst/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56" name="Text 14"/>
          <p:cNvSpPr txBox="1"/>
          <p:nvPr/>
        </p:nvSpPr>
        <p:spPr>
          <a:xfrm>
            <a:off x="438912" y="722376"/>
            <a:ext cx="11338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위성 InSAR · PINN 기반 교량 변위 모니터링 플랫폼(Inframon)을 개발하고 B-Maps 에 연계한다</a:t>
            </a:r>
            <a:endParaRPr lang="en-US" sz="1450" dirty="0"/>
          </a:p>
        </p:txBody>
      </p:sp>
      <p:sp>
        <p:nvSpPr>
          <p:cNvPr id="2676" name="Shape 19"/>
          <p:cNvSpPr/>
          <p:nvPr/>
        </p:nvSpPr>
        <p:spPr>
          <a:xfrm>
            <a:off x="411480" y="1261872"/>
            <a:ext cx="11365992" cy="804672"/>
          </a:xfrm>
          <a:prstGeom prst="roundRect">
            <a:avLst>
              <a:gd name="adj" fmla="val 6818"/>
            </a:avLst>
          </a:prstGeom>
          <a:solidFill>
            <a:srgbClr val="10171E"/>
          </a:solidFill>
          <a:ln w="12700">
            <a:solidFill>
              <a:srgbClr val="1017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80" name="Shape 20"/>
          <p:cNvSpPr/>
          <p:nvPr/>
        </p:nvSpPr>
        <p:spPr>
          <a:xfrm>
            <a:off x="640080" y="1517904"/>
            <a:ext cx="1188720" cy="283464"/>
          </a:xfrm>
          <a:prstGeom prst="roundRect">
            <a:avLst>
              <a:gd name="adj" fmla="val 48387"/>
            </a:avLst>
          </a:prstGeom>
          <a:solidFill>
            <a:srgbClr val="ED6C00"/>
          </a:solidFill>
          <a:ln w="12700">
            <a:solidFill>
              <a:srgbClr val="ED6C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84" name="Text 21"/>
          <p:cNvSpPr txBox="1"/>
          <p:nvPr/>
        </p:nvSpPr>
        <p:spPr>
          <a:xfrm>
            <a:off x="640080" y="1517904"/>
            <a:ext cx="1188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최종 목표</a:t>
            </a:r>
            <a:endParaRPr lang="en-US" sz="1100" dirty="0"/>
          </a:p>
        </p:txBody>
      </p:sp>
      <p:sp>
        <p:nvSpPr>
          <p:cNvPr id="2688" name="Text 22"/>
          <p:cNvSpPr txBox="1"/>
          <p:nvPr/>
        </p:nvSpPr>
        <p:spPr>
          <a:xfrm>
            <a:off x="2011680" y="1261872"/>
            <a:ext cx="9601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계측기가 없는 교량까지 위성 변위로 상태를 파악하는 지능형 유지관리 체계 — Inframon 개발 및 B-Maps 연계</a:t>
            </a:r>
            <a:endParaRPr lang="en-US" sz="1500" dirty="0"/>
          </a:p>
        </p:txBody>
      </p:sp>
      <p:sp>
        <p:nvSpPr>
          <p:cNvPr id="2692" name="Shape 23"/>
          <p:cNvSpPr/>
          <p:nvPr/>
        </p:nvSpPr>
        <p:spPr>
          <a:xfrm>
            <a:off x="411480" y="2267712"/>
            <a:ext cx="2724912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96" name="Shape 24"/>
          <p:cNvSpPr/>
          <p:nvPr/>
        </p:nvSpPr>
        <p:spPr>
          <a:xfrm>
            <a:off x="594360" y="2450592"/>
            <a:ext cx="384048" cy="384048"/>
          </a:xfrm>
          <a:prstGeom prst="ellipse">
            <a:avLst/>
          </a:prstGeom>
          <a:solidFill>
            <a:srgbClr val="1C5B8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00" name="Text 25"/>
          <p:cNvSpPr txBox="1"/>
          <p:nvPr/>
        </p:nvSpPr>
        <p:spPr>
          <a:xfrm>
            <a:off x="594360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300" dirty="0"/>
          </a:p>
        </p:txBody>
      </p:sp>
      <p:sp>
        <p:nvSpPr>
          <p:cNvPr id="2704" name="Text 26"/>
          <p:cNvSpPr txBox="1"/>
          <p:nvPr/>
        </p:nvSpPr>
        <p:spPr>
          <a:xfrm>
            <a:off x="1097280" y="2450592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0171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위성 변위 자동 산출</a:t>
            </a:r>
            <a:endParaRPr lang="en-US" sz="1350" dirty="0"/>
          </a:p>
        </p:txBody>
      </p:sp>
      <p:sp>
        <p:nvSpPr>
          <p:cNvPr id="2708" name="Text 27"/>
          <p:cNvSpPr txBox="1"/>
          <p:nvPr/>
        </p:nvSpPr>
        <p:spPr>
          <a:xfrm>
            <a:off x="594360" y="2953512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좌표 1개로 Sentinel-1 수집부터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교면 변위 시계열까지</a:t>
            </a:r>
            <a:endParaRPr lang="en-US" sz="1050" dirty="0"/>
          </a:p>
        </p:txBody>
      </p:sp>
      <p:sp>
        <p:nvSpPr>
          <p:cNvPr id="2712" name="Shape 28"/>
          <p:cNvSpPr/>
          <p:nvPr/>
        </p:nvSpPr>
        <p:spPr>
          <a:xfrm>
            <a:off x="3291840" y="2267712"/>
            <a:ext cx="2724912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16" name="Shape 29"/>
          <p:cNvSpPr/>
          <p:nvPr/>
        </p:nvSpPr>
        <p:spPr>
          <a:xfrm>
            <a:off x="3474720" y="2450592"/>
            <a:ext cx="384048" cy="384048"/>
          </a:xfrm>
          <a:prstGeom prst="ellipse">
            <a:avLst/>
          </a:prstGeom>
          <a:solidFill>
            <a:srgbClr val="1C5B8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20" name="Text 30"/>
          <p:cNvSpPr txBox="1"/>
          <p:nvPr/>
        </p:nvSpPr>
        <p:spPr>
          <a:xfrm>
            <a:off x="3474720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300" dirty="0"/>
          </a:p>
        </p:txBody>
      </p:sp>
      <p:sp>
        <p:nvSpPr>
          <p:cNvPr id="2724" name="Text 31"/>
          <p:cNvSpPr txBox="1"/>
          <p:nvPr/>
        </p:nvSpPr>
        <p:spPr>
          <a:xfrm>
            <a:off x="3977640" y="2450592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0171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물리 기반 AI 해석</a:t>
            </a:r>
            <a:endParaRPr lang="en-US" sz="1350" dirty="0"/>
          </a:p>
        </p:txBody>
      </p:sp>
      <p:sp>
        <p:nvSpPr>
          <p:cNvPr id="2728" name="Text 32"/>
          <p:cNvSpPr txBox="1"/>
          <p:nvPr/>
        </p:nvSpPr>
        <p:spPr>
          <a:xfrm>
            <a:off x="3474720" y="2953512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PINN 으로 열·하중·침하 성분 분리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위험 지수(CRI) 산출</a:t>
            </a:r>
            <a:endParaRPr lang="en-US" sz="1050" dirty="0"/>
          </a:p>
        </p:txBody>
      </p:sp>
      <p:sp>
        <p:nvSpPr>
          <p:cNvPr id="2732" name="Shape 33"/>
          <p:cNvSpPr/>
          <p:nvPr/>
        </p:nvSpPr>
        <p:spPr>
          <a:xfrm>
            <a:off x="6172200" y="2267712"/>
            <a:ext cx="2724912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36" name="Shape 34"/>
          <p:cNvSpPr/>
          <p:nvPr/>
        </p:nvSpPr>
        <p:spPr>
          <a:xfrm>
            <a:off x="6355080" y="2450592"/>
            <a:ext cx="384048" cy="384048"/>
          </a:xfrm>
          <a:prstGeom prst="ellipse">
            <a:avLst/>
          </a:prstGeom>
          <a:solidFill>
            <a:srgbClr val="1C5B8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40" name="Text 35"/>
          <p:cNvSpPr txBox="1"/>
          <p:nvPr/>
        </p:nvSpPr>
        <p:spPr>
          <a:xfrm>
            <a:off x="6355080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300" dirty="0"/>
          </a:p>
        </p:txBody>
      </p:sp>
      <p:sp>
        <p:nvSpPr>
          <p:cNvPr id="2744" name="Text 36"/>
          <p:cNvSpPr txBox="1"/>
          <p:nvPr/>
        </p:nvSpPr>
        <p:spPr>
          <a:xfrm>
            <a:off x="6858000" y="2450592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0171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교량 디지털 트윈</a:t>
            </a:r>
            <a:endParaRPr lang="en-US" sz="1350" dirty="0"/>
          </a:p>
        </p:txBody>
      </p:sp>
      <p:sp>
        <p:nvSpPr>
          <p:cNvPr id="2748" name="Text 37"/>
          <p:cNvSpPr txBox="1"/>
          <p:nvPr/>
        </p:nvSpPr>
        <p:spPr>
          <a:xfrm>
            <a:off x="6355080" y="2953512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IFC 부재에 위성 측점 결합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3D Tiles 로 지도 레이어 출력</a:t>
            </a:r>
            <a:endParaRPr lang="en-US" sz="1050" dirty="0"/>
          </a:p>
        </p:txBody>
      </p:sp>
      <p:sp>
        <p:nvSpPr>
          <p:cNvPr id="2752" name="Shape 38"/>
          <p:cNvSpPr/>
          <p:nvPr/>
        </p:nvSpPr>
        <p:spPr>
          <a:xfrm>
            <a:off x="9052560" y="2267712"/>
            <a:ext cx="2724912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56" name="Shape 39"/>
          <p:cNvSpPr/>
          <p:nvPr/>
        </p:nvSpPr>
        <p:spPr>
          <a:xfrm>
            <a:off x="9235440" y="2450592"/>
            <a:ext cx="384048" cy="384048"/>
          </a:xfrm>
          <a:prstGeom prst="ellipse">
            <a:avLst/>
          </a:prstGeom>
          <a:solidFill>
            <a:srgbClr val="ED6C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60" name="Text 40"/>
          <p:cNvSpPr txBox="1"/>
          <p:nvPr/>
        </p:nvSpPr>
        <p:spPr>
          <a:xfrm>
            <a:off x="9235440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</a:t>
            </a:r>
            <a:endParaRPr lang="en-US" sz="1300" dirty="0"/>
          </a:p>
        </p:txBody>
      </p:sp>
      <p:sp>
        <p:nvSpPr>
          <p:cNvPr id="2764" name="Text 41"/>
          <p:cNvSpPr txBox="1"/>
          <p:nvPr/>
        </p:nvSpPr>
        <p:spPr>
          <a:xfrm>
            <a:off x="9738360" y="2450592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0171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B-Maps 연계 서비스</a:t>
            </a:r>
            <a:endParaRPr lang="en-US" sz="1350" dirty="0"/>
          </a:p>
        </p:txBody>
      </p:sp>
      <p:sp>
        <p:nvSpPr>
          <p:cNvPr id="2768" name="Text 42"/>
          <p:cNvSpPr txBox="1"/>
          <p:nvPr/>
        </p:nvSpPr>
        <p:spPr>
          <a:xfrm>
            <a:off x="9235440" y="2953512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REST 사이드카로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B-Maps 탭에 결과 제공</a:t>
            </a:r>
            <a:endParaRPr lang="en-US" sz="1050" dirty="0"/>
          </a:p>
        </p:txBody>
      </p:sp>
      <p:graphicFrame>
        <p:nvGraphicFramePr>
          <p:cNvPr id="27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822192"/>
          <a:ext cx="11365992" cy="196596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764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세부 목표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성과 지표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지금 단계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목표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1  위성 변위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실 위성자료 전 과정 처리 교량</a:t>
                      </a:r>
                      <a:endParaRPr lang="en-US" sz="11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C5B8A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좌표 1개로 수집–처리–교면 변위 시계열까지 자동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시범 연동 교량 전수 · 신규 영상 자동 갱신</a:t>
                      </a:r>
                      <a:endParaRPr lang="en-US" sz="11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2  AI 해석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PINN · CRI 산출</a:t>
                      </a:r>
                      <a:endParaRPr lang="en-US" sz="11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C5B8A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열·하중 성분 분리 · CRI 산출 (기준 잠정)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실측 건강 교량으로 기준 재설정 → 잠정 해제</a:t>
                      </a:r>
                      <a:endParaRPr lang="en-US" sz="11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3  디지털 트윈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IFC 트윈 · 측점–부재 결합</a:t>
                      </a:r>
                      <a:endParaRPr lang="en-US" sz="11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C5B8A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IFC 부재 GUID 에 교면 측점 결합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B-Maps 보유 IFC 와 직접 결합</a:t>
                      </a:r>
                      <a:endParaRPr lang="en-US" sz="11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4  B-Maps 연계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연동 인터페이스</a:t>
                      </a:r>
                      <a:endParaRPr lang="en-US" sz="11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C5B8A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REST 사이드카 · 탭 예제 구현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스테이징 연동 → 운영 탭 탑재</a:t>
                      </a:r>
                      <a:endParaRPr lang="en-US" sz="11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776" name="Text 43"/>
          <p:cNvSpPr txBox="1"/>
          <p:nvPr/>
        </p:nvSpPr>
        <p:spPr>
          <a:xfrm>
            <a:off x="411480" y="6355080"/>
            <a:ext cx="11365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※ 지금 단계 = 실제 Sentinel-1 자료(ASC path127, 2018-06-19 ~ 2025-12-27)로 전 과정을 돌려 본 결과다. 정확도 지표는 계측 대조와 측점 밀도 확보 뒤에 제시한다.</a:t>
            </a:r>
            <a:endParaRPr lang="en-US" sz="850" dirty="0"/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FCAE4F6E-5A92-4275-8026-737652E5A9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72" t="3853" r="1" b="13302"/>
          <a:stretch/>
        </p:blipFill>
        <p:spPr>
          <a:xfrm>
            <a:off x="10400852" y="0"/>
            <a:ext cx="1750000" cy="373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500" dirty="0">
                <a:latin typeface="Paperlogy 7 Bold"/>
                <a:ea typeface="Paperlogy 7 Bold"/>
                <a:cs typeface="Paperlogy 7 Bold"/>
              </a:rPr>
              <a:t>연구수행 내용 ① Inframon 플랫폼 구성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48111" y="0"/>
            <a:ext cx="1206094" cy="592531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" y="168250"/>
            <a:ext cx="633679" cy="46543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2733142" cy="180137"/>
          </a:xfrm>
          <a:prstGeom prst="rect">
            <a:avLst/>
          </a:prstGeom>
          <a:solidFill>
            <a:srgbClr val="E9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" y="6656832"/>
            <a:ext cx="2560320" cy="18013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2026 KAIA 자문회의</a:t>
            </a:r>
          </a:p>
        </p:txBody>
      </p:sp>
      <p:sp>
        <p:nvSpPr>
          <p:cNvPr id="2852" name="Shape 13"/>
          <p:cNvSpPr/>
          <p:nvPr/>
        </p:nvSpPr>
        <p:spPr>
          <a:xfrm>
            <a:off x="301752" y="758952"/>
            <a:ext cx="54864" cy="274320"/>
          </a:xfrm>
          <a:prstGeom prst="rect">
            <a:avLst/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</p:sp>
      <p:sp>
        <p:nvSpPr>
          <p:cNvPr id="2856" name="Text 14"/>
          <p:cNvSpPr txBox="1"/>
          <p:nvPr/>
        </p:nvSpPr>
        <p:spPr>
          <a:xfrm>
            <a:off x="438912" y="722376"/>
            <a:ext cx="11338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Inframon 은 좌표 하나로 위성 → 변위 → AI 해석 → 트윈 → B-Maps 까지 잇는 6단계 파이프라인이다</a:t>
            </a:r>
            <a:endParaRPr lang="en-US" sz="1450" dirty="0"/>
          </a:p>
        </p:txBody>
      </p:sp>
      <p:sp>
        <p:nvSpPr>
          <p:cNvPr id="2876" name="Shape 19"/>
          <p:cNvSpPr/>
          <p:nvPr/>
        </p:nvSpPr>
        <p:spPr>
          <a:xfrm>
            <a:off x="411480" y="1298448"/>
            <a:ext cx="1773936" cy="1965960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880" name="Shape 20"/>
          <p:cNvSpPr/>
          <p:nvPr/>
        </p:nvSpPr>
        <p:spPr>
          <a:xfrm>
            <a:off x="411480" y="1298448"/>
            <a:ext cx="1773936" cy="566928"/>
          </a:xfrm>
          <a:prstGeom prst="roundRect">
            <a:avLst>
              <a:gd name="adj" fmla="val 9677"/>
            </a:avLst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</p:sp>
      <p:sp>
        <p:nvSpPr>
          <p:cNvPr id="2884" name="Shape 21"/>
          <p:cNvSpPr/>
          <p:nvPr/>
        </p:nvSpPr>
        <p:spPr>
          <a:xfrm>
            <a:off x="411480" y="1664208"/>
            <a:ext cx="1773936" cy="201168"/>
          </a:xfrm>
          <a:prstGeom prst="rect">
            <a:avLst/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</p:sp>
      <p:sp>
        <p:nvSpPr>
          <p:cNvPr id="2888" name="Text 22"/>
          <p:cNvSpPr txBox="1"/>
          <p:nvPr/>
        </p:nvSpPr>
        <p:spPr>
          <a:xfrm>
            <a:off x="484632" y="1298448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⓪ 교량·영상 선별</a:t>
            </a:r>
            <a:endParaRPr lang="en-US" sz="1200" dirty="0"/>
          </a:p>
        </p:txBody>
      </p:sp>
      <p:sp>
        <p:nvSpPr>
          <p:cNvPr id="2892" name="Text 23"/>
          <p:cNvSpPr txBox="1"/>
          <p:nvPr/>
        </p:nvSpPr>
        <p:spPr>
          <a:xfrm>
            <a:off x="548640" y="2029968"/>
            <a:ext cx="1545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교량 제원·관심영역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궤도·프레임 자동 선택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ERA5 기준영상 선정</a:t>
            </a:r>
            <a:endParaRPr lang="en-US" sz="1050" dirty="0"/>
          </a:p>
        </p:txBody>
      </p:sp>
      <p:sp>
        <p:nvSpPr>
          <p:cNvPr id="2896" name="Shape 24"/>
          <p:cNvSpPr/>
          <p:nvPr/>
        </p:nvSpPr>
        <p:spPr>
          <a:xfrm>
            <a:off x="2203704" y="1472184"/>
            <a:ext cx="109728" cy="219456"/>
          </a:xfrm>
          <a:prstGeom prst="chevron">
            <a:avLst/>
          </a:prstGeom>
          <a:solidFill>
            <a:srgbClr val="8A939E"/>
          </a:solidFill>
          <a:ln w="12700">
            <a:solidFill>
              <a:srgbClr val="8A939E"/>
            </a:solidFill>
            <a:prstDash val="solid"/>
          </a:ln>
        </p:spPr>
      </p:sp>
      <p:sp>
        <p:nvSpPr>
          <p:cNvPr id="2900" name="Shape 25"/>
          <p:cNvSpPr/>
          <p:nvPr/>
        </p:nvSpPr>
        <p:spPr>
          <a:xfrm>
            <a:off x="2329891" y="1298448"/>
            <a:ext cx="1773936" cy="1965960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904" name="Shape 26"/>
          <p:cNvSpPr/>
          <p:nvPr/>
        </p:nvSpPr>
        <p:spPr>
          <a:xfrm>
            <a:off x="2329891" y="1298448"/>
            <a:ext cx="1773936" cy="566928"/>
          </a:xfrm>
          <a:prstGeom prst="roundRect">
            <a:avLst>
              <a:gd name="adj" fmla="val 9677"/>
            </a:avLst>
          </a:prstGeom>
          <a:solidFill>
            <a:srgbClr val="373D47"/>
          </a:solidFill>
          <a:ln w="12700">
            <a:solidFill>
              <a:srgbClr val="373D47"/>
            </a:solidFill>
            <a:prstDash val="solid"/>
          </a:ln>
        </p:spPr>
      </p:sp>
      <p:sp>
        <p:nvSpPr>
          <p:cNvPr id="2908" name="Shape 27"/>
          <p:cNvSpPr/>
          <p:nvPr/>
        </p:nvSpPr>
        <p:spPr>
          <a:xfrm>
            <a:off x="2329891" y="1664208"/>
            <a:ext cx="1773936" cy="201168"/>
          </a:xfrm>
          <a:prstGeom prst="rect">
            <a:avLst/>
          </a:prstGeom>
          <a:solidFill>
            <a:srgbClr val="373D47"/>
          </a:solidFill>
          <a:ln w="12700">
            <a:solidFill>
              <a:srgbClr val="373D47"/>
            </a:solidFill>
            <a:prstDash val="solid"/>
          </a:ln>
        </p:spPr>
      </p:sp>
      <p:sp>
        <p:nvSpPr>
          <p:cNvPr id="2912" name="Text 28"/>
          <p:cNvSpPr txBox="1"/>
          <p:nvPr/>
        </p:nvSpPr>
        <p:spPr>
          <a:xfrm>
            <a:off x="2403043" y="1298448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① InSAR 처리</a:t>
            </a:r>
            <a:endParaRPr lang="en-US" sz="1200" dirty="0"/>
          </a:p>
        </p:txBody>
      </p:sp>
      <p:sp>
        <p:nvSpPr>
          <p:cNvPr id="2916" name="Text 29"/>
          <p:cNvSpPr txBox="1"/>
          <p:nvPr/>
        </p:nvSpPr>
        <p:spPr>
          <a:xfrm>
            <a:off x="2467051" y="2029968"/>
            <a:ext cx="1545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SNAP 정합·간섭도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snaphu 위상 언래핑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PS·DS 측점 추출</a:t>
            </a:r>
            <a:endParaRPr lang="en-US" sz="1050" dirty="0"/>
          </a:p>
        </p:txBody>
      </p:sp>
      <p:sp>
        <p:nvSpPr>
          <p:cNvPr id="2920" name="Shape 30"/>
          <p:cNvSpPr/>
          <p:nvPr/>
        </p:nvSpPr>
        <p:spPr>
          <a:xfrm>
            <a:off x="4122115" y="1472184"/>
            <a:ext cx="109728" cy="219456"/>
          </a:xfrm>
          <a:prstGeom prst="chevron">
            <a:avLst/>
          </a:prstGeom>
          <a:solidFill>
            <a:srgbClr val="8A939E"/>
          </a:solidFill>
          <a:ln w="12700">
            <a:solidFill>
              <a:srgbClr val="8A939E"/>
            </a:solidFill>
            <a:prstDash val="solid"/>
          </a:ln>
        </p:spPr>
      </p:sp>
      <p:sp>
        <p:nvSpPr>
          <p:cNvPr id="2924" name="Shape 31"/>
          <p:cNvSpPr/>
          <p:nvPr/>
        </p:nvSpPr>
        <p:spPr>
          <a:xfrm>
            <a:off x="4248302" y="1298448"/>
            <a:ext cx="1773936" cy="1965960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928" name="Shape 32"/>
          <p:cNvSpPr/>
          <p:nvPr/>
        </p:nvSpPr>
        <p:spPr>
          <a:xfrm>
            <a:off x="4248302" y="1298448"/>
            <a:ext cx="1773936" cy="566928"/>
          </a:xfrm>
          <a:prstGeom prst="roundRect">
            <a:avLst>
              <a:gd name="adj" fmla="val 9677"/>
            </a:avLst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</p:sp>
      <p:sp>
        <p:nvSpPr>
          <p:cNvPr id="2932" name="Shape 33"/>
          <p:cNvSpPr/>
          <p:nvPr/>
        </p:nvSpPr>
        <p:spPr>
          <a:xfrm>
            <a:off x="4248302" y="1664208"/>
            <a:ext cx="1773936" cy="201168"/>
          </a:xfrm>
          <a:prstGeom prst="rect">
            <a:avLst/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</p:sp>
      <p:sp>
        <p:nvSpPr>
          <p:cNvPr id="2936" name="Text 34"/>
          <p:cNvSpPr txBox="1"/>
          <p:nvPr/>
        </p:nvSpPr>
        <p:spPr>
          <a:xfrm>
            <a:off x="4321454" y="1298448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② 교면 측점 정합</a:t>
            </a:r>
            <a:endParaRPr lang="en-US" sz="1200" dirty="0"/>
          </a:p>
        </p:txBody>
      </p:sp>
      <p:sp>
        <p:nvSpPr>
          <p:cNvPr id="2940" name="Text 35"/>
          <p:cNvSpPr txBox="1"/>
          <p:nvPr/>
        </p:nvSpPr>
        <p:spPr>
          <a:xfrm>
            <a:off x="4385462" y="2029968"/>
            <a:ext cx="1545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형하고 쉬프트 보정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OSM 교면선 정합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교면 ±30 m 선별</a:t>
            </a:r>
            <a:endParaRPr lang="en-US" sz="1050" dirty="0"/>
          </a:p>
        </p:txBody>
      </p:sp>
      <p:sp>
        <p:nvSpPr>
          <p:cNvPr id="2944" name="Shape 36"/>
          <p:cNvSpPr/>
          <p:nvPr/>
        </p:nvSpPr>
        <p:spPr>
          <a:xfrm>
            <a:off x="6040526" y="1472184"/>
            <a:ext cx="109728" cy="219456"/>
          </a:xfrm>
          <a:prstGeom prst="chevron">
            <a:avLst/>
          </a:prstGeom>
          <a:solidFill>
            <a:srgbClr val="8A939E"/>
          </a:solidFill>
          <a:ln w="12700">
            <a:solidFill>
              <a:srgbClr val="8A939E"/>
            </a:solidFill>
            <a:prstDash val="solid"/>
          </a:ln>
        </p:spPr>
      </p:sp>
      <p:sp>
        <p:nvSpPr>
          <p:cNvPr id="2948" name="Shape 37"/>
          <p:cNvSpPr/>
          <p:nvPr/>
        </p:nvSpPr>
        <p:spPr>
          <a:xfrm>
            <a:off x="6166714" y="1298448"/>
            <a:ext cx="1773936" cy="1965960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952" name="Shape 38"/>
          <p:cNvSpPr/>
          <p:nvPr/>
        </p:nvSpPr>
        <p:spPr>
          <a:xfrm>
            <a:off x="6166714" y="1298448"/>
            <a:ext cx="1773936" cy="566928"/>
          </a:xfrm>
          <a:prstGeom prst="roundRect">
            <a:avLst>
              <a:gd name="adj" fmla="val 9677"/>
            </a:avLst>
          </a:prstGeom>
          <a:solidFill>
            <a:srgbClr val="373D47"/>
          </a:solidFill>
          <a:ln w="12700">
            <a:solidFill>
              <a:srgbClr val="373D47"/>
            </a:solidFill>
            <a:prstDash val="solid"/>
          </a:ln>
        </p:spPr>
      </p:sp>
      <p:sp>
        <p:nvSpPr>
          <p:cNvPr id="2956" name="Shape 39"/>
          <p:cNvSpPr/>
          <p:nvPr/>
        </p:nvSpPr>
        <p:spPr>
          <a:xfrm>
            <a:off x="6166714" y="1664208"/>
            <a:ext cx="1773936" cy="201168"/>
          </a:xfrm>
          <a:prstGeom prst="rect">
            <a:avLst/>
          </a:prstGeom>
          <a:solidFill>
            <a:srgbClr val="373D47"/>
          </a:solidFill>
          <a:ln w="12700">
            <a:solidFill>
              <a:srgbClr val="373D47"/>
            </a:solidFill>
            <a:prstDash val="solid"/>
          </a:ln>
        </p:spPr>
      </p:sp>
      <p:sp>
        <p:nvSpPr>
          <p:cNvPr id="2960" name="Text 40"/>
          <p:cNvSpPr txBox="1"/>
          <p:nvPr/>
        </p:nvSpPr>
        <p:spPr>
          <a:xfrm>
            <a:off x="6239866" y="1298448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③ PINN 역산</a:t>
            </a:r>
            <a:endParaRPr lang="en-US" sz="1200" dirty="0"/>
          </a:p>
        </p:txBody>
      </p:sp>
      <p:sp>
        <p:nvSpPr>
          <p:cNvPr id="2964" name="Text 41"/>
          <p:cNvSpPr txBox="1"/>
          <p:nvPr/>
        </p:nvSpPr>
        <p:spPr>
          <a:xfrm>
            <a:off x="6303874" y="2029968"/>
            <a:ext cx="1545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물리식 구속 신경망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열·하중·침하·이상 분리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가상 센싱</a:t>
            </a:r>
            <a:endParaRPr lang="en-US" sz="1050" dirty="0"/>
          </a:p>
        </p:txBody>
      </p:sp>
      <p:sp>
        <p:nvSpPr>
          <p:cNvPr id="2968" name="Shape 42"/>
          <p:cNvSpPr/>
          <p:nvPr/>
        </p:nvSpPr>
        <p:spPr>
          <a:xfrm>
            <a:off x="7958938" y="1472184"/>
            <a:ext cx="109728" cy="219456"/>
          </a:xfrm>
          <a:prstGeom prst="chevron">
            <a:avLst/>
          </a:prstGeom>
          <a:solidFill>
            <a:srgbClr val="8A939E"/>
          </a:solidFill>
          <a:ln w="12700">
            <a:solidFill>
              <a:srgbClr val="8A939E"/>
            </a:solidFill>
            <a:prstDash val="solid"/>
          </a:ln>
        </p:spPr>
      </p:sp>
      <p:sp>
        <p:nvSpPr>
          <p:cNvPr id="2972" name="Shape 43"/>
          <p:cNvSpPr/>
          <p:nvPr/>
        </p:nvSpPr>
        <p:spPr>
          <a:xfrm>
            <a:off x="8085125" y="1298448"/>
            <a:ext cx="1773936" cy="1965960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976" name="Shape 44"/>
          <p:cNvSpPr/>
          <p:nvPr/>
        </p:nvSpPr>
        <p:spPr>
          <a:xfrm>
            <a:off x="8085125" y="1298448"/>
            <a:ext cx="1773936" cy="566928"/>
          </a:xfrm>
          <a:prstGeom prst="roundRect">
            <a:avLst>
              <a:gd name="adj" fmla="val 9677"/>
            </a:avLst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</p:sp>
      <p:sp>
        <p:nvSpPr>
          <p:cNvPr id="2980" name="Shape 45"/>
          <p:cNvSpPr/>
          <p:nvPr/>
        </p:nvSpPr>
        <p:spPr>
          <a:xfrm>
            <a:off x="8085125" y="1664208"/>
            <a:ext cx="1773936" cy="201168"/>
          </a:xfrm>
          <a:prstGeom prst="rect">
            <a:avLst/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</p:sp>
      <p:sp>
        <p:nvSpPr>
          <p:cNvPr id="2984" name="Text 46"/>
          <p:cNvSpPr txBox="1"/>
          <p:nvPr/>
        </p:nvSpPr>
        <p:spPr>
          <a:xfrm>
            <a:off x="8158277" y="1298448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④ 위험도 평가</a:t>
            </a:r>
            <a:endParaRPr lang="en-US" sz="1200" dirty="0"/>
          </a:p>
        </p:txBody>
      </p:sp>
      <p:sp>
        <p:nvSpPr>
          <p:cNvPr id="2988" name="Text 47"/>
          <p:cNvSpPr txBox="1"/>
          <p:nvPr/>
        </p:nvSpPr>
        <p:spPr>
          <a:xfrm>
            <a:off x="8222285" y="2029968"/>
            <a:ext cx="1545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위험 지수 CRI 산출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4단계 경보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등급 기준은 잠정</a:t>
            </a:r>
            <a:endParaRPr lang="en-US" sz="1050" dirty="0"/>
          </a:p>
        </p:txBody>
      </p:sp>
      <p:sp>
        <p:nvSpPr>
          <p:cNvPr id="2992" name="Shape 48"/>
          <p:cNvSpPr/>
          <p:nvPr/>
        </p:nvSpPr>
        <p:spPr>
          <a:xfrm>
            <a:off x="9877349" y="1472184"/>
            <a:ext cx="109728" cy="219456"/>
          </a:xfrm>
          <a:prstGeom prst="chevron">
            <a:avLst/>
          </a:prstGeom>
          <a:solidFill>
            <a:srgbClr val="8A939E"/>
          </a:solidFill>
          <a:ln w="12700">
            <a:solidFill>
              <a:srgbClr val="8A939E"/>
            </a:solidFill>
            <a:prstDash val="solid"/>
          </a:ln>
        </p:spPr>
      </p:sp>
      <p:sp>
        <p:nvSpPr>
          <p:cNvPr id="2996" name="Shape 49"/>
          <p:cNvSpPr/>
          <p:nvPr/>
        </p:nvSpPr>
        <p:spPr>
          <a:xfrm>
            <a:off x="10003536" y="1298448"/>
            <a:ext cx="1773936" cy="1965960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3000" name="Shape 50"/>
          <p:cNvSpPr/>
          <p:nvPr/>
        </p:nvSpPr>
        <p:spPr>
          <a:xfrm>
            <a:off x="10003536" y="1298448"/>
            <a:ext cx="1773936" cy="566928"/>
          </a:xfrm>
          <a:prstGeom prst="roundRect">
            <a:avLst>
              <a:gd name="adj" fmla="val 9677"/>
            </a:avLst>
          </a:prstGeom>
          <a:solidFill>
            <a:srgbClr val="ED6C00"/>
          </a:solidFill>
          <a:ln w="12700">
            <a:solidFill>
              <a:srgbClr val="ED6C00"/>
            </a:solidFill>
            <a:prstDash val="solid"/>
          </a:ln>
        </p:spPr>
      </p:sp>
      <p:sp>
        <p:nvSpPr>
          <p:cNvPr id="3004" name="Shape 51"/>
          <p:cNvSpPr/>
          <p:nvPr/>
        </p:nvSpPr>
        <p:spPr>
          <a:xfrm>
            <a:off x="10003536" y="1664208"/>
            <a:ext cx="1773936" cy="201168"/>
          </a:xfrm>
          <a:prstGeom prst="rect">
            <a:avLst/>
          </a:prstGeom>
          <a:solidFill>
            <a:srgbClr val="ED6C00"/>
          </a:solidFill>
          <a:ln w="12700">
            <a:solidFill>
              <a:srgbClr val="ED6C00"/>
            </a:solidFill>
            <a:prstDash val="solid"/>
          </a:ln>
        </p:spPr>
      </p:sp>
      <p:sp>
        <p:nvSpPr>
          <p:cNvPr id="3008" name="Text 52"/>
          <p:cNvSpPr txBox="1"/>
          <p:nvPr/>
        </p:nvSpPr>
        <p:spPr>
          <a:xfrm>
            <a:off x="10076688" y="1298448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⑤ 산출 · 연동</a:t>
            </a:r>
            <a:endParaRPr lang="en-US" sz="1200" dirty="0"/>
          </a:p>
        </p:txBody>
      </p:sp>
      <p:sp>
        <p:nvSpPr>
          <p:cNvPr id="3012" name="Text 53"/>
          <p:cNvSpPr txBox="1"/>
          <p:nvPr/>
        </p:nvSpPr>
        <p:spPr>
          <a:xfrm>
            <a:off x="10140696" y="2029968"/>
            <a:ext cx="1545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IFC 트윈 · 3D Tiles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변위 CSV · 보고 그림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B-Maps REST</a:t>
            </a:r>
            <a:endParaRPr lang="en-US" sz="1050" dirty="0"/>
          </a:p>
        </p:txBody>
      </p:sp>
      <p:sp>
        <p:nvSpPr>
          <p:cNvPr id="3016" name="Shape 54"/>
          <p:cNvSpPr/>
          <p:nvPr/>
        </p:nvSpPr>
        <p:spPr>
          <a:xfrm>
            <a:off x="411480" y="3657600"/>
            <a:ext cx="6903720" cy="256032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3020" name="Shape 55"/>
          <p:cNvSpPr/>
          <p:nvPr/>
        </p:nvSpPr>
        <p:spPr>
          <a:xfrm>
            <a:off x="2857500" y="3520440"/>
            <a:ext cx="2011680" cy="283464"/>
          </a:xfrm>
          <a:prstGeom prst="roundRect">
            <a:avLst>
              <a:gd name="adj" fmla="val 48387"/>
            </a:avLst>
          </a:prstGeom>
          <a:solidFill>
            <a:srgbClr val="373D47"/>
          </a:solidFill>
          <a:ln w="12700">
            <a:solidFill>
              <a:srgbClr val="373D47"/>
            </a:solidFill>
            <a:prstDash val="solid"/>
          </a:ln>
        </p:spPr>
      </p:sp>
      <p:sp>
        <p:nvSpPr>
          <p:cNvPr id="3024" name="Text 56"/>
          <p:cNvSpPr txBox="1"/>
          <p:nvPr/>
        </p:nvSpPr>
        <p:spPr>
          <a:xfrm>
            <a:off x="2857500" y="3520440"/>
            <a:ext cx="2011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플랫폼의 특징</a:t>
            </a:r>
            <a:endParaRPr lang="en-US" sz="1150" dirty="0"/>
          </a:p>
        </p:txBody>
      </p:sp>
      <p:sp>
        <p:nvSpPr>
          <p:cNvPr id="3028" name="Shape 57"/>
          <p:cNvSpPr/>
          <p:nvPr/>
        </p:nvSpPr>
        <p:spPr>
          <a:xfrm>
            <a:off x="640080" y="3977640"/>
            <a:ext cx="3154680" cy="960120"/>
          </a:xfrm>
          <a:prstGeom prst="roundRect">
            <a:avLst>
              <a:gd name="adj" fmla="val 5714"/>
            </a:avLst>
          </a:prstGeom>
          <a:solidFill>
            <a:srgbClr val="EDF5F8"/>
          </a:solidFill>
          <a:ln w="12700">
            <a:solidFill>
              <a:srgbClr val="EDF5F8"/>
            </a:solidFill>
            <a:prstDash val="solid"/>
          </a:ln>
        </p:spPr>
      </p:sp>
      <p:sp>
        <p:nvSpPr>
          <p:cNvPr id="3032" name="Text 58"/>
          <p:cNvSpPr txBox="1"/>
          <p:nvPr/>
        </p:nvSpPr>
        <p:spPr>
          <a:xfrm>
            <a:off x="804672" y="397764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좌표 1개 실행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교량을 바꿔도 코드 수정이 없다</a:t>
            </a:r>
            <a:endParaRPr lang="en-US" sz="1100" dirty="0"/>
          </a:p>
        </p:txBody>
      </p:sp>
      <p:sp>
        <p:nvSpPr>
          <p:cNvPr id="3036" name="Shape 59"/>
          <p:cNvSpPr/>
          <p:nvPr/>
        </p:nvSpPr>
        <p:spPr>
          <a:xfrm>
            <a:off x="3950208" y="3977640"/>
            <a:ext cx="3154680" cy="960120"/>
          </a:xfrm>
          <a:prstGeom prst="roundRect">
            <a:avLst>
              <a:gd name="adj" fmla="val 5714"/>
            </a:avLst>
          </a:prstGeom>
          <a:solidFill>
            <a:srgbClr val="EDF5F8"/>
          </a:solidFill>
          <a:ln w="12700">
            <a:solidFill>
              <a:srgbClr val="EDF5F8"/>
            </a:solidFill>
            <a:prstDash val="solid"/>
          </a:ln>
        </p:spPr>
      </p:sp>
      <p:sp>
        <p:nvSpPr>
          <p:cNvPr id="3040" name="Text 60"/>
          <p:cNvSpPr txBox="1"/>
          <p:nvPr/>
        </p:nvSpPr>
        <p:spPr>
          <a:xfrm>
            <a:off x="4114800" y="397764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근거 기록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관측 조건과 신뢰구간을 결과에 함께 남긴다</a:t>
            </a:r>
            <a:endParaRPr lang="en-US" sz="1100" dirty="0"/>
          </a:p>
        </p:txBody>
      </p:sp>
      <p:sp>
        <p:nvSpPr>
          <p:cNvPr id="3044" name="Shape 61"/>
          <p:cNvSpPr/>
          <p:nvPr/>
        </p:nvSpPr>
        <p:spPr>
          <a:xfrm>
            <a:off x="640080" y="5074920"/>
            <a:ext cx="3154680" cy="960120"/>
          </a:xfrm>
          <a:prstGeom prst="roundRect">
            <a:avLst>
              <a:gd name="adj" fmla="val 5714"/>
            </a:avLst>
          </a:prstGeom>
          <a:solidFill>
            <a:srgbClr val="EDF5F8"/>
          </a:solidFill>
          <a:ln w="12700">
            <a:solidFill>
              <a:srgbClr val="EDF5F8"/>
            </a:solidFill>
            <a:prstDash val="solid"/>
          </a:ln>
        </p:spPr>
      </p:sp>
      <p:sp>
        <p:nvSpPr>
          <p:cNvPr id="3048" name="Text 62"/>
          <p:cNvSpPr txBox="1"/>
          <p:nvPr/>
        </p:nvSpPr>
        <p:spPr>
          <a:xfrm>
            <a:off x="804672" y="507492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데이터 계약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project.h5 하나로 전 단계를 연결</a:t>
            </a:r>
            <a:endParaRPr lang="en-US" sz="1100" dirty="0"/>
          </a:p>
        </p:txBody>
      </p:sp>
      <p:sp>
        <p:nvSpPr>
          <p:cNvPr id="3052" name="Shape 63"/>
          <p:cNvSpPr/>
          <p:nvPr/>
        </p:nvSpPr>
        <p:spPr>
          <a:xfrm>
            <a:off x="3950208" y="5074920"/>
            <a:ext cx="3154680" cy="960120"/>
          </a:xfrm>
          <a:prstGeom prst="roundRect">
            <a:avLst>
              <a:gd name="adj" fmla="val 5714"/>
            </a:avLst>
          </a:prstGeom>
          <a:solidFill>
            <a:srgbClr val="EDF5F8"/>
          </a:solidFill>
          <a:ln w="12700">
            <a:solidFill>
              <a:srgbClr val="EDF5F8"/>
            </a:solidFill>
            <a:prstDash val="solid"/>
          </a:ln>
        </p:spPr>
      </p:sp>
      <p:sp>
        <p:nvSpPr>
          <p:cNvPr id="3056" name="Text 64"/>
          <p:cNvSpPr txBox="1"/>
          <p:nvPr/>
        </p:nvSpPr>
        <p:spPr>
          <a:xfrm>
            <a:off x="4114800" y="507492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대시보드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명령줄 없이 화면에서 단계별 실행</a:t>
            </a:r>
            <a:endParaRPr lang="en-US" sz="1100" dirty="0"/>
          </a:p>
        </p:txBody>
      </p:sp>
      <p:sp>
        <p:nvSpPr>
          <p:cNvPr id="3060" name="Shape 65"/>
          <p:cNvSpPr/>
          <p:nvPr/>
        </p:nvSpPr>
        <p:spPr>
          <a:xfrm>
            <a:off x="7589520" y="3520440"/>
            <a:ext cx="2020824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3064" name="Text 66"/>
          <p:cNvSpPr txBox="1"/>
          <p:nvPr/>
        </p:nvSpPr>
        <p:spPr>
          <a:xfrm>
            <a:off x="7772400" y="3630168"/>
            <a:ext cx="1700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51</a:t>
            </a:r>
            <a:r>
              <a:rPr lang="en-US" sz="12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 장면</a:t>
            </a:r>
            <a:endParaRPr lang="en-US" sz="1100" dirty="0"/>
          </a:p>
        </p:txBody>
      </p:sp>
      <p:sp>
        <p:nvSpPr>
          <p:cNvPr id="3068" name="Text 67"/>
          <p:cNvSpPr txBox="1"/>
          <p:nvPr/>
        </p:nvSpPr>
        <p:spPr>
          <a:xfrm>
            <a:off x="7772400" y="4123944"/>
            <a:ext cx="17007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실제 Sentinel-1 영상</a:t>
            </a:r>
            <a:endParaRPr lang="en-US" sz="1000" dirty="0"/>
          </a:p>
        </p:txBody>
      </p:sp>
      <p:sp>
        <p:nvSpPr>
          <p:cNvPr id="3072" name="Shape 68"/>
          <p:cNvSpPr/>
          <p:nvPr/>
        </p:nvSpPr>
        <p:spPr>
          <a:xfrm>
            <a:off x="9756648" y="3520440"/>
            <a:ext cx="2020824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3076" name="Text 69"/>
          <p:cNvSpPr txBox="1"/>
          <p:nvPr/>
        </p:nvSpPr>
        <p:spPr>
          <a:xfrm>
            <a:off x="9939528" y="3630168"/>
            <a:ext cx="1700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23</a:t>
            </a:r>
            <a:r>
              <a:rPr lang="en-US" sz="120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 개소</a:t>
            </a:r>
            <a:endParaRPr lang="en-US" sz="1100" dirty="0"/>
          </a:p>
        </p:txBody>
      </p:sp>
      <p:sp>
        <p:nvSpPr>
          <p:cNvPr id="3080" name="Text 70"/>
          <p:cNvSpPr txBox="1"/>
          <p:nvPr/>
        </p:nvSpPr>
        <p:spPr>
          <a:xfrm>
            <a:off x="9939528" y="4123944"/>
            <a:ext cx="17007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전 과정 시범 처리 교량</a:t>
            </a:r>
            <a:endParaRPr lang="en-US" sz="1000" dirty="0"/>
          </a:p>
        </p:txBody>
      </p:sp>
      <p:sp>
        <p:nvSpPr>
          <p:cNvPr id="3084" name="Shape 71"/>
          <p:cNvSpPr/>
          <p:nvPr/>
        </p:nvSpPr>
        <p:spPr>
          <a:xfrm>
            <a:off x="7589520" y="4892040"/>
            <a:ext cx="2020824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3088" name="Text 72"/>
          <p:cNvSpPr txBox="1"/>
          <p:nvPr/>
        </p:nvSpPr>
        <p:spPr>
          <a:xfrm>
            <a:off x="7772400" y="5001768"/>
            <a:ext cx="1700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16</a:t>
            </a:r>
            <a:r>
              <a:rPr lang="en-US" sz="12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 개소</a:t>
            </a:r>
            <a:endParaRPr lang="en-US" sz="1100" dirty="0"/>
          </a:p>
        </p:txBody>
      </p:sp>
      <p:sp>
        <p:nvSpPr>
          <p:cNvPr id="3092" name="Text 73"/>
          <p:cNvSpPr txBox="1"/>
          <p:nvPr/>
        </p:nvSpPr>
        <p:spPr>
          <a:xfrm>
            <a:off x="7772400" y="5495544"/>
            <a:ext cx="17007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한강 교량 트윈 시범</a:t>
            </a:r>
            <a:endParaRPr lang="en-US" sz="1000" dirty="0"/>
          </a:p>
        </p:txBody>
      </p:sp>
      <p:sp>
        <p:nvSpPr>
          <p:cNvPr id="3096" name="Shape 74"/>
          <p:cNvSpPr/>
          <p:nvPr/>
        </p:nvSpPr>
        <p:spPr>
          <a:xfrm>
            <a:off x="9756648" y="4892040"/>
            <a:ext cx="2020824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3100" name="Text 75"/>
          <p:cNvSpPr txBox="1"/>
          <p:nvPr/>
        </p:nvSpPr>
        <p:spPr>
          <a:xfrm>
            <a:off x="9939528" y="5001768"/>
            <a:ext cx="1700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ED6C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12</a:t>
            </a:r>
            <a:r>
              <a:rPr lang="en-US" sz="1200" dirty="0">
                <a:solidFill>
                  <a:srgbClr val="ED6C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 개</a:t>
            </a:r>
            <a:endParaRPr lang="en-US" sz="1100" dirty="0"/>
          </a:p>
        </p:txBody>
      </p:sp>
      <p:sp>
        <p:nvSpPr>
          <p:cNvPr id="3104" name="Text 76"/>
          <p:cNvSpPr txBox="1"/>
          <p:nvPr/>
        </p:nvSpPr>
        <p:spPr>
          <a:xfrm>
            <a:off x="9939528" y="5495544"/>
            <a:ext cx="17007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B-Maps REST 엔드포인트</a:t>
            </a:r>
            <a:endParaRPr lang="en-US" sz="1000" dirty="0"/>
          </a:p>
        </p:txBody>
      </p:sp>
      <p:sp>
        <p:nvSpPr>
          <p:cNvPr id="3108" name="Text 77"/>
          <p:cNvSpPr txBox="1"/>
          <p:nvPr/>
        </p:nvSpPr>
        <p:spPr>
          <a:xfrm>
            <a:off x="411480" y="6355080"/>
            <a:ext cx="11365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※ 실행 예: python scripts/bridge_run.py --name 성수대교 --lat 37.5374 --lon 127.0351 — 궤도 자료가 없으면 영상 선별·다운로드·처리부터 스스로 수행.</a:t>
            </a:r>
            <a:endParaRPr lang="en-US" sz="850" dirty="0"/>
          </a:p>
        </p:txBody>
      </p:sp>
      <p:pic>
        <p:nvPicPr>
          <p:cNvPr id="69" name="그림 68">
            <a:extLst>
              <a:ext uri="{FF2B5EF4-FFF2-40B4-BE49-F238E27FC236}">
                <a16:creationId xmlns:a16="http://schemas.microsoft.com/office/drawing/2014/main" id="{3DB1A35C-1B96-4503-A38B-41ECE95624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72" t="3853" r="1" b="13302"/>
          <a:stretch/>
        </p:blipFill>
        <p:spPr>
          <a:xfrm>
            <a:off x="10400852" y="0"/>
            <a:ext cx="1750000" cy="373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500" dirty="0">
                <a:latin typeface="Paperlogy 7 Bold"/>
                <a:ea typeface="Paperlogy 7 Bold"/>
                <a:cs typeface="Paperlogy 7 Bold"/>
              </a:rPr>
              <a:t>연구수행 내용 ② 한강 교량 실증 · 디지털 트윈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48111" y="0"/>
            <a:ext cx="1206094" cy="592531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" y="168250"/>
            <a:ext cx="633679" cy="46543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2733142" cy="180137"/>
          </a:xfrm>
          <a:prstGeom prst="rect">
            <a:avLst/>
          </a:prstGeom>
          <a:solidFill>
            <a:srgbClr val="E9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" y="6656832"/>
            <a:ext cx="2560320" cy="18013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dirty="0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2026 KAIA </a:t>
            </a:r>
            <a:r>
              <a:rPr sz="1200" b="1" dirty="0" err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자문회의</a:t>
            </a:r>
            <a:endParaRPr sz="1200" b="1" dirty="0">
              <a:solidFill>
                <a:srgbClr val="373D47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3052" name="Shape 13"/>
          <p:cNvSpPr/>
          <p:nvPr/>
        </p:nvSpPr>
        <p:spPr>
          <a:xfrm>
            <a:off x="301752" y="758952"/>
            <a:ext cx="54864" cy="274320"/>
          </a:xfrm>
          <a:prstGeom prst="rect">
            <a:avLst/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56" name="Text 14"/>
          <p:cNvSpPr txBox="1"/>
          <p:nvPr/>
        </p:nvSpPr>
        <p:spPr>
          <a:xfrm>
            <a:off x="438912" y="722376"/>
            <a:ext cx="11338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교량마다 사람 손 없이 같은 산출물과 IFC 트윈이 나온다 — 좌표 하나로 끝까지</a:t>
            </a:r>
            <a:endParaRPr lang="en-US" sz="1450" dirty="0"/>
          </a:p>
        </p:txBody>
      </p:sp>
      <p:graphicFrame>
        <p:nvGraphicFramePr>
          <p:cNvPr id="307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80160"/>
          <a:ext cx="5715001" cy="2706624"/>
        </p:xfrm>
        <a:graphic>
          <a:graphicData uri="http://schemas.openxmlformats.org/drawingml/2006/table">
            <a:tbl>
              <a:tblPr/>
              <a:tblGrid>
                <a:gridCol w="16726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39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4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42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교량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형식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관측 시점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교면 측점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가양대교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박스거더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51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167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원효대교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박스거더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51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45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올림픽대교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사장교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101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56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청담대교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거더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51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20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천호대교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박스거더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51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54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암사대교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아치교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51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237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월드컵대교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사장교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29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82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080" name="Text 19"/>
          <p:cNvSpPr txBox="1"/>
          <p:nvPr/>
        </p:nvSpPr>
        <p:spPr>
          <a:xfrm>
            <a:off x="411480" y="4050792"/>
            <a:ext cx="571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관측 시점 수와 교면 측점 수는 교량마다 다르다 — 변위속도와 정밀도는 측점 밀도를 확보한 뒤에 제시한다</a:t>
            </a:r>
            <a:endParaRPr lang="en-US" sz="900" dirty="0"/>
          </a:p>
        </p:txBody>
      </p:sp>
      <p:sp>
        <p:nvSpPr>
          <p:cNvPr id="3084" name="Shape 20"/>
          <p:cNvSpPr/>
          <p:nvPr/>
        </p:nvSpPr>
        <p:spPr>
          <a:xfrm>
            <a:off x="411480" y="4526280"/>
            <a:ext cx="57150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88" name="Shape 21"/>
          <p:cNvSpPr/>
          <p:nvPr/>
        </p:nvSpPr>
        <p:spPr>
          <a:xfrm>
            <a:off x="2080260" y="4389120"/>
            <a:ext cx="2377440" cy="283464"/>
          </a:xfrm>
          <a:prstGeom prst="roundRect">
            <a:avLst>
              <a:gd name="adj" fmla="val 48387"/>
            </a:avLst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92" name="Text 22"/>
          <p:cNvSpPr txBox="1"/>
          <p:nvPr/>
        </p:nvSpPr>
        <p:spPr>
          <a:xfrm>
            <a:off x="2080260" y="4389120"/>
            <a:ext cx="2377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교량 1개소당 자동 산출</a:t>
            </a:r>
            <a:endParaRPr lang="en-US" sz="1150" dirty="0"/>
          </a:p>
        </p:txBody>
      </p:sp>
      <p:sp>
        <p:nvSpPr>
          <p:cNvPr id="3096" name="Shape 23"/>
          <p:cNvSpPr/>
          <p:nvPr/>
        </p:nvSpPr>
        <p:spPr>
          <a:xfrm>
            <a:off x="566928" y="4754880"/>
            <a:ext cx="1719072" cy="594360"/>
          </a:xfrm>
          <a:prstGeom prst="roundRect">
            <a:avLst>
              <a:gd name="adj" fmla="val 9231"/>
            </a:avLst>
          </a:prstGeom>
          <a:solidFill>
            <a:srgbClr val="EDF5F8"/>
          </a:solidFill>
          <a:ln w="12700">
            <a:solidFill>
              <a:srgbClr val="EDF5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00" name="Text 24"/>
          <p:cNvSpPr txBox="1"/>
          <p:nvPr/>
        </p:nvSpPr>
        <p:spPr>
          <a:xfrm>
            <a:off x="676656" y="47548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변위 시계열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측점·속도·해석값</a:t>
            </a:r>
            <a:endParaRPr lang="en-US" sz="1100" dirty="0"/>
          </a:p>
        </p:txBody>
      </p:sp>
      <p:sp>
        <p:nvSpPr>
          <p:cNvPr id="3104" name="Shape 25"/>
          <p:cNvSpPr/>
          <p:nvPr/>
        </p:nvSpPr>
        <p:spPr>
          <a:xfrm>
            <a:off x="2377440" y="4754880"/>
            <a:ext cx="1719072" cy="594360"/>
          </a:xfrm>
          <a:prstGeom prst="roundRect">
            <a:avLst>
              <a:gd name="adj" fmla="val 9231"/>
            </a:avLst>
          </a:prstGeom>
          <a:solidFill>
            <a:srgbClr val="EDF5F8"/>
          </a:solidFill>
          <a:ln w="12700">
            <a:solidFill>
              <a:srgbClr val="EDF5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08" name="Text 26"/>
          <p:cNvSpPr txBox="1"/>
          <p:nvPr/>
        </p:nvSpPr>
        <p:spPr>
          <a:xfrm>
            <a:off x="2487168" y="47548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IFC 부재 모델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부재 GUID 포함</a:t>
            </a:r>
            <a:endParaRPr lang="en-US" sz="1100" dirty="0"/>
          </a:p>
        </p:txBody>
      </p:sp>
      <p:sp>
        <p:nvSpPr>
          <p:cNvPr id="3112" name="Shape 27"/>
          <p:cNvSpPr/>
          <p:nvPr/>
        </p:nvSpPr>
        <p:spPr>
          <a:xfrm>
            <a:off x="4187952" y="4754880"/>
            <a:ext cx="1719072" cy="594360"/>
          </a:xfrm>
          <a:prstGeom prst="roundRect">
            <a:avLst>
              <a:gd name="adj" fmla="val 9231"/>
            </a:avLst>
          </a:prstGeom>
          <a:solidFill>
            <a:srgbClr val="EDF5F8"/>
          </a:solidFill>
          <a:ln w="12700">
            <a:solidFill>
              <a:srgbClr val="EDF5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16" name="Text 28"/>
          <p:cNvSpPr txBox="1"/>
          <p:nvPr/>
        </p:nvSpPr>
        <p:spPr>
          <a:xfrm>
            <a:off x="4297680" y="47548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3D 타일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지도 레이어</a:t>
            </a:r>
            <a:endParaRPr lang="en-US" sz="1100" dirty="0"/>
          </a:p>
        </p:txBody>
      </p:sp>
      <p:sp>
        <p:nvSpPr>
          <p:cNvPr id="3120" name="Shape 29"/>
          <p:cNvSpPr/>
          <p:nvPr/>
        </p:nvSpPr>
        <p:spPr>
          <a:xfrm>
            <a:off x="566928" y="5440680"/>
            <a:ext cx="1719072" cy="594360"/>
          </a:xfrm>
          <a:prstGeom prst="roundRect">
            <a:avLst>
              <a:gd name="adj" fmla="val 9231"/>
            </a:avLst>
          </a:prstGeom>
          <a:solidFill>
            <a:srgbClr val="EDF5F8"/>
          </a:solidFill>
          <a:ln w="12700">
            <a:solidFill>
              <a:srgbClr val="EDF5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24" name="Text 30"/>
          <p:cNvSpPr txBox="1"/>
          <p:nvPr/>
        </p:nvSpPr>
        <p:spPr>
          <a:xfrm>
            <a:off x="676656" y="54406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평면·종단 브리프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보고서용 그림</a:t>
            </a:r>
            <a:endParaRPr lang="en-US" sz="1100" dirty="0"/>
          </a:p>
        </p:txBody>
      </p:sp>
      <p:sp>
        <p:nvSpPr>
          <p:cNvPr id="3128" name="Shape 31"/>
          <p:cNvSpPr/>
          <p:nvPr/>
        </p:nvSpPr>
        <p:spPr>
          <a:xfrm>
            <a:off x="2377440" y="5440680"/>
            <a:ext cx="1719072" cy="594360"/>
          </a:xfrm>
          <a:prstGeom prst="roundRect">
            <a:avLst>
              <a:gd name="adj" fmla="val 9231"/>
            </a:avLst>
          </a:prstGeom>
          <a:solidFill>
            <a:srgbClr val="EDF5F8"/>
          </a:solidFill>
          <a:ln w="12700">
            <a:solidFill>
              <a:srgbClr val="EDF5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32" name="Text 32"/>
          <p:cNvSpPr txBox="1"/>
          <p:nvPr/>
        </p:nvSpPr>
        <p:spPr>
          <a:xfrm>
            <a:off x="2487168" y="54406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주변 도로망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반경 500 m</a:t>
            </a:r>
            <a:endParaRPr lang="en-US" sz="1100" dirty="0"/>
          </a:p>
        </p:txBody>
      </p:sp>
      <p:sp>
        <p:nvSpPr>
          <p:cNvPr id="3136" name="Shape 33"/>
          <p:cNvSpPr/>
          <p:nvPr/>
        </p:nvSpPr>
        <p:spPr>
          <a:xfrm>
            <a:off x="4187952" y="5440680"/>
            <a:ext cx="1719072" cy="594360"/>
          </a:xfrm>
          <a:prstGeom prst="roundRect">
            <a:avLst>
              <a:gd name="adj" fmla="val 9231"/>
            </a:avLst>
          </a:prstGeom>
          <a:solidFill>
            <a:srgbClr val="EDF5F8"/>
          </a:solidFill>
          <a:ln w="12700">
            <a:solidFill>
              <a:srgbClr val="EDF5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40" name="Text 34"/>
          <p:cNvSpPr txBox="1"/>
          <p:nvPr/>
        </p:nvSpPr>
        <p:spPr>
          <a:xfrm>
            <a:off x="4297680" y="54406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결과 기록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출처·근거 문서</a:t>
            </a:r>
            <a:endParaRPr lang="en-US" sz="1100" dirty="0"/>
          </a:p>
        </p:txBody>
      </p:sp>
      <p:sp>
        <p:nvSpPr>
          <p:cNvPr id="3144" name="Shape 35"/>
          <p:cNvSpPr/>
          <p:nvPr/>
        </p:nvSpPr>
        <p:spPr>
          <a:xfrm>
            <a:off x="6355080" y="1280160"/>
            <a:ext cx="5422392" cy="3401568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148" name="Image 0" descr="/tmp/claude-0/-home-claude/65dffca3-2835-51dd-a007-950964c02f5b/scratchpad/img/o10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808" y="1371600"/>
            <a:ext cx="5202936" cy="3053408"/>
          </a:xfrm>
          <a:prstGeom prst="rect">
            <a:avLst/>
          </a:prstGeom>
        </p:spPr>
      </p:pic>
      <p:sp>
        <p:nvSpPr>
          <p:cNvPr id="3152" name="Text 36"/>
          <p:cNvSpPr txBox="1"/>
          <p:nvPr/>
        </p:nvSpPr>
        <p:spPr>
          <a:xfrm>
            <a:off x="6464808" y="4416552"/>
            <a:ext cx="5202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IFC 트윈 + 교면 위성 측점 (산출물 원본)</a:t>
            </a:r>
            <a:endParaRPr lang="en-US" sz="900" dirty="0"/>
          </a:p>
        </p:txBody>
      </p:sp>
      <p:sp>
        <p:nvSpPr>
          <p:cNvPr id="3156" name="Shape 37"/>
          <p:cNvSpPr/>
          <p:nvPr/>
        </p:nvSpPr>
        <p:spPr>
          <a:xfrm>
            <a:off x="6355080" y="4892040"/>
            <a:ext cx="1709928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60" name="Text 38"/>
          <p:cNvSpPr txBox="1"/>
          <p:nvPr/>
        </p:nvSpPr>
        <p:spPr>
          <a:xfrm>
            <a:off x="6537960" y="5001768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IFC</a:t>
            </a:r>
            <a:r>
              <a:rPr lang="en-US" sz="12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 4x3</a:t>
            </a:r>
            <a:endParaRPr lang="en-US" sz="1100" dirty="0"/>
          </a:p>
        </p:txBody>
      </p:sp>
      <p:sp>
        <p:nvSpPr>
          <p:cNvPr id="3164" name="Text 39"/>
          <p:cNvSpPr txBox="1"/>
          <p:nvPr/>
        </p:nvSpPr>
        <p:spPr>
          <a:xfrm>
            <a:off x="6537960" y="5495544"/>
            <a:ext cx="138988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부재 GUID 포함 트윈</a:t>
            </a:r>
            <a:endParaRPr lang="en-US" sz="1000" dirty="0"/>
          </a:p>
        </p:txBody>
      </p:sp>
      <p:sp>
        <p:nvSpPr>
          <p:cNvPr id="3168" name="Shape 40"/>
          <p:cNvSpPr/>
          <p:nvPr/>
        </p:nvSpPr>
        <p:spPr>
          <a:xfrm>
            <a:off x="8211312" y="4892040"/>
            <a:ext cx="1709928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72" name="Text 41"/>
          <p:cNvSpPr txBox="1"/>
          <p:nvPr/>
        </p:nvSpPr>
        <p:spPr>
          <a:xfrm>
            <a:off x="8394192" y="5001768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1,972</a:t>
            </a:r>
            <a:r>
              <a:rPr lang="en-US" sz="120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 개</a:t>
            </a:r>
            <a:endParaRPr lang="en-US" sz="1100" dirty="0"/>
          </a:p>
        </p:txBody>
      </p:sp>
      <p:sp>
        <p:nvSpPr>
          <p:cNvPr id="3176" name="Text 42"/>
          <p:cNvSpPr txBox="1"/>
          <p:nvPr/>
        </p:nvSpPr>
        <p:spPr>
          <a:xfrm>
            <a:off x="8394192" y="5495544"/>
            <a:ext cx="138988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IFC 부재</a:t>
            </a:r>
            <a:endParaRPr lang="en-US" sz="1000" dirty="0"/>
          </a:p>
        </p:txBody>
      </p:sp>
      <p:sp>
        <p:nvSpPr>
          <p:cNvPr id="3180" name="Shape 43"/>
          <p:cNvSpPr/>
          <p:nvPr/>
        </p:nvSpPr>
        <p:spPr>
          <a:xfrm>
            <a:off x="10067544" y="4892040"/>
            <a:ext cx="1709928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84" name="Text 44"/>
          <p:cNvSpPr txBox="1"/>
          <p:nvPr/>
        </p:nvSpPr>
        <p:spPr>
          <a:xfrm>
            <a:off x="10250424" y="5001768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D6C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3D</a:t>
            </a:r>
            <a:r>
              <a:rPr lang="en-US" sz="1200" dirty="0">
                <a:solidFill>
                  <a:srgbClr val="ED6C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 Tiles</a:t>
            </a:r>
            <a:endParaRPr lang="en-US" sz="1100" dirty="0"/>
          </a:p>
        </p:txBody>
      </p:sp>
      <p:sp>
        <p:nvSpPr>
          <p:cNvPr id="3188" name="Text 45"/>
          <p:cNvSpPr txBox="1"/>
          <p:nvPr/>
        </p:nvSpPr>
        <p:spPr>
          <a:xfrm>
            <a:off x="10250424" y="5495544"/>
            <a:ext cx="138988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지도 레이어 출력</a:t>
            </a:r>
            <a:endParaRPr lang="en-US" sz="1000" dirty="0"/>
          </a:p>
        </p:txBody>
      </p:sp>
      <p:sp>
        <p:nvSpPr>
          <p:cNvPr id="3192" name="Text 46"/>
          <p:cNvSpPr txBox="1"/>
          <p:nvPr/>
        </p:nvSpPr>
        <p:spPr>
          <a:xfrm>
            <a:off x="411480" y="6355080"/>
            <a:ext cx="11365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※ 표의 값은 각 교량 폴더의 bridge.json · 결과.md · project.h5 에서 직접 읽음.</a:t>
            </a:r>
            <a:endParaRPr lang="en-US" sz="850" dirty="0"/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8ADD0B87-E8C7-4222-ADCF-501B155F4A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72" t="3853" r="1" b="13302"/>
          <a:stretch/>
        </p:blipFill>
        <p:spPr>
          <a:xfrm>
            <a:off x="10400852" y="0"/>
            <a:ext cx="1750000" cy="373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500" dirty="0">
                <a:latin typeface="Paperlogy 7 Bold"/>
                <a:ea typeface="Paperlogy 7 Bold"/>
                <a:cs typeface="Paperlogy 7 Bold"/>
              </a:rPr>
              <a:t>연구수행 내용 ③ B-Maps 연동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48111" y="0"/>
            <a:ext cx="1206094" cy="592531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" y="168250"/>
            <a:ext cx="633679" cy="46543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2733142" cy="180137"/>
          </a:xfrm>
          <a:prstGeom prst="rect">
            <a:avLst/>
          </a:prstGeom>
          <a:solidFill>
            <a:srgbClr val="E9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" y="6656832"/>
            <a:ext cx="2560320" cy="18013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2026 KAIA 자문회의</a:t>
            </a:r>
          </a:p>
        </p:txBody>
      </p:sp>
      <p:sp>
        <p:nvSpPr>
          <p:cNvPr id="3252" name="Shape 13"/>
          <p:cNvSpPr/>
          <p:nvPr/>
        </p:nvSpPr>
        <p:spPr>
          <a:xfrm>
            <a:off x="301752" y="758952"/>
            <a:ext cx="54864" cy="274320"/>
          </a:xfrm>
          <a:prstGeom prst="rect">
            <a:avLst/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56" name="Text 14"/>
          <p:cNvSpPr txBox="1"/>
          <p:nvPr/>
        </p:nvSpPr>
        <p:spPr>
          <a:xfrm>
            <a:off x="438912" y="722376"/>
            <a:ext cx="11338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B-Maps 본체를 고치지 않고 읽기 전용 사이드카로 붙인다 — 교량관리번호로 조회하면 교면 변위와 IFC 트윈이 그대로 올라온다</a:t>
            </a:r>
            <a:endParaRPr lang="en-US" sz="1450" dirty="0"/>
          </a:p>
        </p:txBody>
      </p:sp>
      <p:sp>
        <p:nvSpPr>
          <p:cNvPr id="3276" name="Shape 19"/>
          <p:cNvSpPr/>
          <p:nvPr/>
        </p:nvSpPr>
        <p:spPr>
          <a:xfrm>
            <a:off x="411480" y="1280160"/>
            <a:ext cx="6355080" cy="3310128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280" name="Image 0" descr="/tmp/claude-0/-home-claude/65dffca3-2835-51dd-a007-950964c02f5b/scratchpad/img/o15_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371600"/>
            <a:ext cx="6117336" cy="2902670"/>
          </a:xfrm>
          <a:prstGeom prst="rect">
            <a:avLst/>
          </a:prstGeom>
        </p:spPr>
      </p:pic>
      <p:sp>
        <p:nvSpPr>
          <p:cNvPr id="3284" name="Text 20"/>
          <p:cNvSpPr txBox="1"/>
          <p:nvPr/>
        </p:nvSpPr>
        <p:spPr>
          <a:xfrm>
            <a:off x="530352" y="4315968"/>
            <a:ext cx="6117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실제 동작 화면 — 성수대교 · 101시점 · 교면 103측점 · 측점 클릭 → 변위 시계열</a:t>
            </a:r>
            <a:endParaRPr lang="en-US" sz="950" dirty="0"/>
          </a:p>
        </p:txBody>
      </p:sp>
      <p:sp>
        <p:nvSpPr>
          <p:cNvPr id="3288" name="Shape 21"/>
          <p:cNvSpPr/>
          <p:nvPr/>
        </p:nvSpPr>
        <p:spPr>
          <a:xfrm>
            <a:off x="411480" y="4846320"/>
            <a:ext cx="1801368" cy="822960"/>
          </a:xfrm>
          <a:prstGeom prst="roundRect">
            <a:avLst>
              <a:gd name="adj" fmla="val 6667"/>
            </a:avLst>
          </a:prstGeom>
          <a:solidFill>
            <a:srgbClr val="ED6C00"/>
          </a:solidFill>
          <a:ln w="12700">
            <a:solidFill>
              <a:srgbClr val="ED6C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92" name="Text 22"/>
          <p:cNvSpPr txBox="1"/>
          <p:nvPr/>
        </p:nvSpPr>
        <p:spPr>
          <a:xfrm>
            <a:off x="502920" y="4846320"/>
            <a:ext cx="1618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B-Maps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1E7E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위성 변위 분석 탭</a:t>
            </a:r>
            <a:endParaRPr lang="en-US" sz="1100" dirty="0"/>
          </a:p>
        </p:txBody>
      </p:sp>
      <p:sp>
        <p:nvSpPr>
          <p:cNvPr id="3296" name="Shape 23"/>
          <p:cNvSpPr/>
          <p:nvPr/>
        </p:nvSpPr>
        <p:spPr>
          <a:xfrm>
            <a:off x="2286000" y="5148072"/>
            <a:ext cx="329184" cy="219456"/>
          </a:xfrm>
          <a:prstGeom prst="leftRightArrow">
            <a:avLst/>
          </a:prstGeom>
          <a:solidFill>
            <a:srgbClr val="8A939E"/>
          </a:solidFill>
          <a:ln w="12700">
            <a:solidFill>
              <a:srgbClr val="8A939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00" name="Shape 24"/>
          <p:cNvSpPr/>
          <p:nvPr/>
        </p:nvSpPr>
        <p:spPr>
          <a:xfrm>
            <a:off x="2688336" y="4846320"/>
            <a:ext cx="1801368" cy="822960"/>
          </a:xfrm>
          <a:prstGeom prst="roundRect">
            <a:avLst>
              <a:gd name="adj" fmla="val 6667"/>
            </a:avLst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04" name="Text 25"/>
          <p:cNvSpPr txBox="1"/>
          <p:nvPr/>
        </p:nvSpPr>
        <p:spPr>
          <a:xfrm>
            <a:off x="2779776" y="4846320"/>
            <a:ext cx="1618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inframon-api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1E7E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사이드카 · 읽기 전용</a:t>
            </a:r>
            <a:endParaRPr lang="en-US" sz="1100" dirty="0"/>
          </a:p>
        </p:txBody>
      </p:sp>
      <p:sp>
        <p:nvSpPr>
          <p:cNvPr id="3308" name="Shape 26"/>
          <p:cNvSpPr/>
          <p:nvPr/>
        </p:nvSpPr>
        <p:spPr>
          <a:xfrm>
            <a:off x="4562856" y="5148072"/>
            <a:ext cx="329184" cy="219456"/>
          </a:xfrm>
          <a:prstGeom prst="leftRightArrow">
            <a:avLst/>
          </a:prstGeom>
          <a:solidFill>
            <a:srgbClr val="8A939E"/>
          </a:solidFill>
          <a:ln w="12700">
            <a:solidFill>
              <a:srgbClr val="8A939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12" name="Shape 27"/>
          <p:cNvSpPr/>
          <p:nvPr/>
        </p:nvSpPr>
        <p:spPr>
          <a:xfrm>
            <a:off x="4965192" y="4846320"/>
            <a:ext cx="1801368" cy="822960"/>
          </a:xfrm>
          <a:prstGeom prst="roundRect">
            <a:avLst>
              <a:gd name="adj" fmla="val 6667"/>
            </a:avLst>
          </a:prstGeom>
          <a:solidFill>
            <a:srgbClr val="373D47"/>
          </a:solidFill>
          <a:ln w="12700">
            <a:solidFill>
              <a:srgbClr val="373D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16" name="Text 28"/>
          <p:cNvSpPr txBox="1"/>
          <p:nvPr/>
        </p:nvSpPr>
        <p:spPr>
          <a:xfrm>
            <a:off x="5056632" y="4846320"/>
            <a:ext cx="1618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교량별 결과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1E7E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project.h5</a:t>
            </a:r>
            <a:endParaRPr lang="en-US" sz="1100" dirty="0"/>
          </a:p>
        </p:txBody>
      </p:sp>
      <p:sp>
        <p:nvSpPr>
          <p:cNvPr id="3320" name="Text 29"/>
          <p:cNvSpPr txBox="1"/>
          <p:nvPr/>
        </p:nvSpPr>
        <p:spPr>
          <a:xfrm>
            <a:off x="411480" y="5760720"/>
            <a:ext cx="6355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REST/JSON · 교량관리번호로 조회 · B-Maps 본체 수정 없음</a:t>
            </a:r>
            <a:endParaRPr lang="en-US" sz="950" dirty="0"/>
          </a:p>
        </p:txBody>
      </p:sp>
      <p:sp>
        <p:nvSpPr>
          <p:cNvPr id="3332" name="Shape 32"/>
          <p:cNvSpPr/>
          <p:nvPr/>
        </p:nvSpPr>
        <p:spPr>
          <a:xfrm>
            <a:off x="7040880" y="1417320"/>
            <a:ext cx="2295144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36" name="Text 33"/>
          <p:cNvSpPr txBox="1"/>
          <p:nvPr/>
        </p:nvSpPr>
        <p:spPr>
          <a:xfrm>
            <a:off x="7223760" y="1527048"/>
            <a:ext cx="19751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7A54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4종</a:t>
            </a:r>
            <a:r>
              <a:rPr lang="en-US" sz="12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 값</a:t>
            </a:r>
            <a:endParaRPr lang="en-US" sz="1100" dirty="0"/>
          </a:p>
        </p:txBody>
      </p:sp>
      <p:sp>
        <p:nvSpPr>
          <p:cNvPr id="3340" name="Text 34"/>
          <p:cNvSpPr txBox="1"/>
          <p:nvPr/>
        </p:nvSpPr>
        <p:spPr>
          <a:xfrm>
            <a:off x="7223760" y="2020824"/>
            <a:ext cx="19751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측점마다 산출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속도 · 잔차고도 · 열팽창 · 코히런스</a:t>
            </a:r>
            <a:endParaRPr lang="en-US" sz="1000" dirty="0"/>
          </a:p>
        </p:txBody>
      </p:sp>
      <p:sp>
        <p:nvSpPr>
          <p:cNvPr id="3344" name="Shape 35"/>
          <p:cNvSpPr/>
          <p:nvPr/>
        </p:nvSpPr>
        <p:spPr>
          <a:xfrm>
            <a:off x="9482328" y="1417320"/>
            <a:ext cx="2295144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48" name="Text 36"/>
          <p:cNvSpPr txBox="1"/>
          <p:nvPr/>
        </p:nvSpPr>
        <p:spPr>
          <a:xfrm>
            <a:off x="9665208" y="1527048"/>
            <a:ext cx="19751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ED6C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APS</a:t>
            </a:r>
            <a:r>
              <a:rPr lang="en-US" sz="12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 제거</a:t>
            </a:r>
            <a:endParaRPr lang="en-US" sz="1100" dirty="0"/>
          </a:p>
        </p:txBody>
      </p:sp>
      <p:sp>
        <p:nvSpPr>
          <p:cNvPr id="3352" name="Text 37"/>
          <p:cNvSpPr txBox="1"/>
          <p:nvPr/>
        </p:nvSpPr>
        <p:spPr>
          <a:xfrm>
            <a:off x="9665208" y="2020824"/>
            <a:ext cx="19751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기선망 뒤 동시 추정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수직·시간 기선망 · 점별 DEM 오차</a:t>
            </a:r>
            <a:endParaRPr lang="en-US" sz="1000" dirty="0"/>
          </a:p>
        </p:txBody>
      </p:sp>
      <p:sp>
        <p:nvSpPr>
          <p:cNvPr id="3356" name="Shape 38"/>
          <p:cNvSpPr/>
          <p:nvPr/>
        </p:nvSpPr>
        <p:spPr>
          <a:xfrm>
            <a:off x="7040880" y="2743200"/>
            <a:ext cx="4736592" cy="868680"/>
          </a:xfrm>
          <a:prstGeom prst="roundRect">
            <a:avLst>
              <a:gd name="adj" fmla="val 6316"/>
            </a:avLst>
          </a:prstGeom>
          <a:solidFill>
            <a:srgbClr val="EDF5F8"/>
          </a:solidFill>
          <a:ln w="12700">
            <a:solidFill>
              <a:srgbClr val="EDF5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60" name="Text 39"/>
          <p:cNvSpPr txBox="1"/>
          <p:nvPr/>
        </p:nvSpPr>
        <p:spPr>
          <a:xfrm>
            <a:off x="7223760" y="2743200"/>
            <a:ext cx="4416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D6C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한계  </a:t>
            </a: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교면 측점 밀도가 한계다 — Sentinel-1 IW 는 지상 5×20 m 이고 데크 폭은 1~2 화소다. 주경간에 코너리플렉터를 놓거나 고해상도 SAR 을 쓰면 교면 측점이 채워진다 (Ⅳ 참조)</a:t>
            </a:r>
            <a:endParaRPr lang="en-US" sz="1050" dirty="0"/>
          </a:p>
        </p:txBody>
      </p:sp>
      <p:sp>
        <p:nvSpPr>
          <p:cNvPr id="3364" name="Shape 40"/>
          <p:cNvSpPr/>
          <p:nvPr/>
        </p:nvSpPr>
        <p:spPr>
          <a:xfrm>
            <a:off x="8357616" y="3840480"/>
            <a:ext cx="2103120" cy="283464"/>
          </a:xfrm>
          <a:prstGeom prst="roundRect">
            <a:avLst>
              <a:gd name="adj" fmla="val 48387"/>
            </a:avLst>
          </a:prstGeom>
          <a:solidFill>
            <a:srgbClr val="373D47"/>
          </a:solidFill>
          <a:ln w="12700">
            <a:solidFill>
              <a:srgbClr val="373D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68" name="Text 41"/>
          <p:cNvSpPr txBox="1"/>
          <p:nvPr/>
        </p:nvSpPr>
        <p:spPr>
          <a:xfrm>
            <a:off x="8357616" y="3840480"/>
            <a:ext cx="2103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연동 접점</a:t>
            </a:r>
            <a:endParaRPr lang="en-US" sz="1150" dirty="0"/>
          </a:p>
        </p:txBody>
      </p:sp>
      <p:graphicFrame>
        <p:nvGraphicFramePr>
          <p:cNvPr id="33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0" y="4160520"/>
          <a:ext cx="4736592" cy="2057400"/>
        </p:xfrm>
        <a:graphic>
          <a:graphicData uri="http://schemas.openxmlformats.org/drawingml/2006/table">
            <a:tbl>
              <a:tblPr/>
              <a:tblGrid>
                <a:gridCol w="987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접점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Inframon 제공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B-Maps 활용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자산 모델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IFC 부재 GUID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기존 IFC 체계에 그대로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3D 레이어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3D Tiles · glTF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지도 위 레이어로 적재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좌표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WGS84 / EPSG:5179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대장 좌표와 직접 대응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시계열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REST /api/v1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대시보드 · 경보 규칙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376" name="Text 42"/>
          <p:cNvSpPr txBox="1"/>
          <p:nvPr/>
        </p:nvSpPr>
        <p:spPr>
          <a:xfrm>
            <a:off x="411480" y="6355080"/>
            <a:ext cx="11365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※ 교면 전용 재선별(MT-InSAR: 기선망 · 점별 DEM 오차 · 열팽창 · APS) 뒤의 교면 PS 를 쓴다. 연동은 읽기 전용 사이드카라 B-Maps 본체를 고치지 않는다.</a:t>
            </a:r>
            <a:endParaRPr lang="en-US" sz="850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77A247FC-C92C-460E-830D-605DBA3EDC35}"/>
              </a:ext>
            </a:extLst>
          </p:cNvPr>
          <p:cNvGrpSpPr/>
          <p:nvPr/>
        </p:nvGrpSpPr>
        <p:grpSpPr>
          <a:xfrm>
            <a:off x="8357616" y="1089660"/>
            <a:ext cx="2103120" cy="283464"/>
            <a:chOff x="8357616" y="1143000"/>
            <a:chExt cx="2103120" cy="283464"/>
          </a:xfrm>
        </p:grpSpPr>
        <p:sp>
          <p:nvSpPr>
            <p:cNvPr id="3324" name="Shape 30"/>
            <p:cNvSpPr/>
            <p:nvPr/>
          </p:nvSpPr>
          <p:spPr>
            <a:xfrm>
              <a:off x="8357616" y="1143000"/>
              <a:ext cx="2103120" cy="283464"/>
            </a:xfrm>
            <a:prstGeom prst="roundRect">
              <a:avLst>
                <a:gd name="adj" fmla="val 48387"/>
              </a:avLst>
            </a:prstGeom>
            <a:solidFill>
              <a:srgbClr val="1C5B8A"/>
            </a:solidFill>
            <a:ln w="12700">
              <a:solidFill>
                <a:srgbClr val="1C5B8A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28" name="Text 31"/>
            <p:cNvSpPr txBox="1"/>
            <p:nvPr/>
          </p:nvSpPr>
          <p:spPr>
            <a:xfrm>
              <a:off x="8357616" y="1143000"/>
              <a:ext cx="2103120" cy="2834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dirty="0">
                  <a:solidFill>
                    <a:srgbClr val="FFFFFF"/>
                  </a:solidFill>
                  <a:latin typeface="Paperlogy 7 Bold" pitchFamily="34" charset="0"/>
                  <a:ea typeface="Paperlogy 7 Bold" pitchFamily="34" charset="-122"/>
                  <a:cs typeface="Paperlogy 7 Bold" pitchFamily="34" charset="-120"/>
                </a:rPr>
                <a:t>교면 전용 MT-InSAR 산출</a:t>
              </a:r>
              <a:endParaRPr lang="en-US" sz="1150" dirty="0"/>
            </a:p>
          </p:txBody>
        </p:sp>
      </p:grpSp>
      <p:pic>
        <p:nvPicPr>
          <p:cNvPr id="37" name="그림 36">
            <a:extLst>
              <a:ext uri="{FF2B5EF4-FFF2-40B4-BE49-F238E27FC236}">
                <a16:creationId xmlns:a16="http://schemas.microsoft.com/office/drawing/2014/main" id="{459E3C17-47C8-4B6A-81AD-1AA5A3822E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72" t="3853" r="1" b="13302"/>
          <a:stretch/>
        </p:blipFill>
        <p:spPr>
          <a:xfrm>
            <a:off x="10400852" y="0"/>
            <a:ext cx="1750000" cy="373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500">
                <a:latin typeface="Paperlogy 7 Bold"/>
                <a:ea typeface="Paperlogy 7 Bold"/>
                <a:cs typeface="Paperlogy 7 Bold"/>
              </a:rPr>
              <a:t>향후 계획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48111" y="0"/>
            <a:ext cx="1206094" cy="592531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" y="168250"/>
            <a:ext cx="633679" cy="46543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2733142" cy="180137"/>
          </a:xfrm>
          <a:prstGeom prst="rect">
            <a:avLst/>
          </a:prstGeom>
          <a:solidFill>
            <a:srgbClr val="E9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" y="6656832"/>
            <a:ext cx="2560320" cy="18013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2026 KAIA 자문회의</a:t>
            </a:r>
          </a:p>
        </p:txBody>
      </p:sp>
      <p:sp>
        <p:nvSpPr>
          <p:cNvPr id="3452" name="Shape 13"/>
          <p:cNvSpPr/>
          <p:nvPr/>
        </p:nvSpPr>
        <p:spPr>
          <a:xfrm>
            <a:off x="301752" y="758952"/>
            <a:ext cx="54864" cy="274320"/>
          </a:xfrm>
          <a:prstGeom prst="rect">
            <a:avLst/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</p:sp>
      <p:sp>
        <p:nvSpPr>
          <p:cNvPr id="3456" name="Text 14"/>
          <p:cNvSpPr txBox="1"/>
          <p:nvPr/>
        </p:nvSpPr>
        <p:spPr>
          <a:xfrm>
            <a:off x="438912" y="722376"/>
            <a:ext cx="11338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파이프라인은 끝까지 돌아간다 — KICT 와 연동 규칙을 정하면 시범 연동부터 시작할 수 있다</a:t>
            </a:r>
            <a:endParaRPr lang="en-US" sz="1450" dirty="0"/>
          </a:p>
        </p:txBody>
      </p:sp>
      <p:sp>
        <p:nvSpPr>
          <p:cNvPr id="3476" name="Shape 19"/>
          <p:cNvSpPr/>
          <p:nvPr/>
        </p:nvSpPr>
        <p:spPr>
          <a:xfrm>
            <a:off x="411480" y="1325880"/>
            <a:ext cx="356616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3480" name="Shape 20"/>
          <p:cNvSpPr/>
          <p:nvPr/>
        </p:nvSpPr>
        <p:spPr>
          <a:xfrm>
            <a:off x="612648" y="1527048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</p:sp>
      <p:sp>
        <p:nvSpPr>
          <p:cNvPr id="3484" name="Text 21"/>
          <p:cNvSpPr txBox="1"/>
          <p:nvPr/>
        </p:nvSpPr>
        <p:spPr>
          <a:xfrm>
            <a:off x="612648" y="15270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진행</a:t>
            </a:r>
            <a:endParaRPr lang="en-US" sz="1100" dirty="0"/>
          </a:p>
        </p:txBody>
      </p:sp>
      <p:sp>
        <p:nvSpPr>
          <p:cNvPr id="3488" name="Text 22"/>
          <p:cNvSpPr txBox="1"/>
          <p:nvPr/>
        </p:nvSpPr>
        <p:spPr>
          <a:xfrm>
            <a:off x="1508760" y="15087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0171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개발 · 실증</a:t>
            </a:r>
            <a:endParaRPr lang="en-US" sz="1500" dirty="0"/>
          </a:p>
        </p:txBody>
      </p:sp>
      <p:sp>
        <p:nvSpPr>
          <p:cNvPr id="3492" name="Text 23"/>
          <p:cNvSpPr txBox="1"/>
          <p:nvPr/>
        </p:nvSpPr>
        <p:spPr>
          <a:xfrm>
            <a:off x="640080" y="2039112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6단계 파이프라인 · 데이터 계약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실 Sentinel-1 자료로 전 과정 시범 처리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B-Maps REST 사이드카 · 탭 예제</a:t>
            </a:r>
            <a:endParaRPr lang="en-US" sz="1100" dirty="0"/>
          </a:p>
        </p:txBody>
      </p:sp>
      <p:sp>
        <p:nvSpPr>
          <p:cNvPr id="3496" name="Shape 24"/>
          <p:cNvSpPr/>
          <p:nvPr/>
        </p:nvSpPr>
        <p:spPr>
          <a:xfrm>
            <a:off x="4069080" y="2061972"/>
            <a:ext cx="155448" cy="310896"/>
          </a:xfrm>
          <a:prstGeom prst="chevron">
            <a:avLst/>
          </a:prstGeom>
          <a:solidFill>
            <a:srgbClr val="8A939E"/>
          </a:solidFill>
          <a:ln w="12700">
            <a:solidFill>
              <a:srgbClr val="8A939E"/>
            </a:solidFill>
            <a:prstDash val="solid"/>
          </a:ln>
        </p:spPr>
      </p:sp>
      <p:sp>
        <p:nvSpPr>
          <p:cNvPr id="3500" name="Shape 25"/>
          <p:cNvSpPr/>
          <p:nvPr/>
        </p:nvSpPr>
        <p:spPr>
          <a:xfrm>
            <a:off x="4311396" y="1325880"/>
            <a:ext cx="356616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3504" name="Shape 26"/>
          <p:cNvSpPr/>
          <p:nvPr/>
        </p:nvSpPr>
        <p:spPr>
          <a:xfrm>
            <a:off x="4512564" y="1527048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ED6C00"/>
          </a:solidFill>
          <a:ln w="12700">
            <a:solidFill>
              <a:srgbClr val="ED6C00"/>
            </a:solidFill>
            <a:prstDash val="solid"/>
          </a:ln>
        </p:spPr>
      </p:sp>
      <p:sp>
        <p:nvSpPr>
          <p:cNvPr id="3508" name="Text 27"/>
          <p:cNvSpPr txBox="1"/>
          <p:nvPr/>
        </p:nvSpPr>
        <p:spPr>
          <a:xfrm>
            <a:off x="4512564" y="15270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협의</a:t>
            </a:r>
            <a:endParaRPr lang="en-US" sz="1100" dirty="0"/>
          </a:p>
        </p:txBody>
      </p:sp>
      <p:sp>
        <p:nvSpPr>
          <p:cNvPr id="3512" name="Text 28"/>
          <p:cNvSpPr txBox="1"/>
          <p:nvPr/>
        </p:nvSpPr>
        <p:spPr>
          <a:xfrm>
            <a:off x="5408676" y="15087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0171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시범 연동</a:t>
            </a:r>
            <a:endParaRPr lang="en-US" sz="1500" dirty="0"/>
          </a:p>
        </p:txBody>
      </p:sp>
      <p:sp>
        <p:nvSpPr>
          <p:cNvPr id="3516" name="Text 29"/>
          <p:cNvSpPr txBox="1"/>
          <p:nvPr/>
        </p:nvSpPr>
        <p:spPr>
          <a:xfrm>
            <a:off x="4539996" y="2039112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교량관리번호 ↔ bridge_id 매핑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좌표계 · 인증 방식 합의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스테이징 서버 연동</a:t>
            </a:r>
            <a:endParaRPr lang="en-US" sz="1100" dirty="0"/>
          </a:p>
        </p:txBody>
      </p:sp>
      <p:sp>
        <p:nvSpPr>
          <p:cNvPr id="3520" name="Shape 30"/>
          <p:cNvSpPr/>
          <p:nvPr/>
        </p:nvSpPr>
        <p:spPr>
          <a:xfrm>
            <a:off x="7968996" y="2061972"/>
            <a:ext cx="155448" cy="310896"/>
          </a:xfrm>
          <a:prstGeom prst="chevron">
            <a:avLst/>
          </a:prstGeom>
          <a:solidFill>
            <a:srgbClr val="8A939E"/>
          </a:solidFill>
          <a:ln w="12700">
            <a:solidFill>
              <a:srgbClr val="8A939E"/>
            </a:solidFill>
            <a:prstDash val="solid"/>
          </a:ln>
        </p:spPr>
      </p:sp>
      <p:sp>
        <p:nvSpPr>
          <p:cNvPr id="3524" name="Shape 31"/>
          <p:cNvSpPr/>
          <p:nvPr/>
        </p:nvSpPr>
        <p:spPr>
          <a:xfrm>
            <a:off x="8211312" y="1325880"/>
            <a:ext cx="356616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3528" name="Shape 32"/>
          <p:cNvSpPr/>
          <p:nvPr/>
        </p:nvSpPr>
        <p:spPr>
          <a:xfrm>
            <a:off x="8412480" y="1527048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373D47"/>
          </a:solidFill>
          <a:ln w="12700">
            <a:solidFill>
              <a:srgbClr val="373D47"/>
            </a:solidFill>
            <a:prstDash val="solid"/>
          </a:ln>
        </p:spPr>
      </p:sp>
      <p:sp>
        <p:nvSpPr>
          <p:cNvPr id="3532" name="Text 33"/>
          <p:cNvSpPr txBox="1"/>
          <p:nvPr/>
        </p:nvSpPr>
        <p:spPr>
          <a:xfrm>
            <a:off x="8412480" y="15270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예정</a:t>
            </a:r>
            <a:endParaRPr lang="en-US" sz="1100" dirty="0"/>
          </a:p>
        </p:txBody>
      </p:sp>
      <p:sp>
        <p:nvSpPr>
          <p:cNvPr id="3536" name="Text 34"/>
          <p:cNvSpPr txBox="1"/>
          <p:nvPr/>
        </p:nvSpPr>
        <p:spPr>
          <a:xfrm>
            <a:off x="9308592" y="15087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0171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운영 · 고도화</a:t>
            </a:r>
            <a:endParaRPr lang="en-US" sz="1500" dirty="0"/>
          </a:p>
        </p:txBody>
      </p:sp>
      <p:sp>
        <p:nvSpPr>
          <p:cNvPr id="3540" name="Text 35"/>
          <p:cNvSpPr txBox="1"/>
          <p:nvPr/>
        </p:nvSpPr>
        <p:spPr>
          <a:xfrm>
            <a:off x="8439912" y="2039112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B-Maps 운영 탭 · 신규 영상 자동 갱신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계측 위치 기반 정확도 검증 · CRI 기준 재설정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코너리플렉터 · 고해상도 SAR 보강</a:t>
            </a:r>
            <a:endParaRPr lang="en-US" sz="1100" dirty="0"/>
          </a:p>
        </p:txBody>
      </p:sp>
      <p:sp>
        <p:nvSpPr>
          <p:cNvPr id="3544" name="Shape 36"/>
          <p:cNvSpPr/>
          <p:nvPr/>
        </p:nvSpPr>
        <p:spPr>
          <a:xfrm>
            <a:off x="411480" y="3429000"/>
            <a:ext cx="557784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3548" name="Shape 37"/>
          <p:cNvSpPr/>
          <p:nvPr/>
        </p:nvSpPr>
        <p:spPr>
          <a:xfrm>
            <a:off x="2148840" y="3282696"/>
            <a:ext cx="2103120" cy="283464"/>
          </a:xfrm>
          <a:prstGeom prst="roundRect">
            <a:avLst>
              <a:gd name="adj" fmla="val 48387"/>
            </a:avLst>
          </a:prstGeom>
          <a:solidFill>
            <a:srgbClr val="ED6C00"/>
          </a:solidFill>
          <a:ln w="12700">
            <a:solidFill>
              <a:srgbClr val="ED6C00"/>
            </a:solidFill>
            <a:prstDash val="solid"/>
          </a:ln>
        </p:spPr>
      </p:sp>
      <p:sp>
        <p:nvSpPr>
          <p:cNvPr id="3552" name="Text 38"/>
          <p:cNvSpPr txBox="1"/>
          <p:nvPr/>
        </p:nvSpPr>
        <p:spPr>
          <a:xfrm>
            <a:off x="2148840" y="3282696"/>
            <a:ext cx="2103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KICT 협의 요청</a:t>
            </a:r>
            <a:endParaRPr lang="en-US" sz="1150" dirty="0"/>
          </a:p>
        </p:txBody>
      </p:sp>
      <p:sp>
        <p:nvSpPr>
          <p:cNvPr id="3556" name="Shape 39"/>
          <p:cNvSpPr/>
          <p:nvPr/>
        </p:nvSpPr>
        <p:spPr>
          <a:xfrm>
            <a:off x="594360" y="3904488"/>
            <a:ext cx="365760" cy="365760"/>
          </a:xfrm>
          <a:prstGeom prst="ellipse">
            <a:avLst/>
          </a:prstGeom>
          <a:solidFill>
            <a:srgbClr val="ED6C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60" name="Text 40"/>
          <p:cNvSpPr txBox="1"/>
          <p:nvPr/>
        </p:nvSpPr>
        <p:spPr>
          <a:xfrm>
            <a:off x="594360" y="3904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200" dirty="0"/>
          </a:p>
        </p:txBody>
      </p:sp>
      <p:sp>
        <p:nvSpPr>
          <p:cNvPr id="3564" name="Text 41"/>
          <p:cNvSpPr txBox="1"/>
          <p:nvPr/>
        </p:nvSpPr>
        <p:spPr>
          <a:xfrm>
            <a:off x="1051560" y="3794760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171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시범 교량 선정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계측 자료가 있는 곳부터</a:t>
            </a:r>
            <a:endParaRPr lang="en-US" sz="1100" dirty="0"/>
          </a:p>
        </p:txBody>
      </p:sp>
      <p:sp>
        <p:nvSpPr>
          <p:cNvPr id="3568" name="Shape 42"/>
          <p:cNvSpPr/>
          <p:nvPr/>
        </p:nvSpPr>
        <p:spPr>
          <a:xfrm>
            <a:off x="3246120" y="3904488"/>
            <a:ext cx="365760" cy="365760"/>
          </a:xfrm>
          <a:prstGeom prst="ellipse">
            <a:avLst/>
          </a:prstGeom>
          <a:solidFill>
            <a:srgbClr val="ED6C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72" name="Text 43"/>
          <p:cNvSpPr txBox="1"/>
          <p:nvPr/>
        </p:nvSpPr>
        <p:spPr>
          <a:xfrm>
            <a:off x="3246120" y="3904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200" dirty="0"/>
          </a:p>
        </p:txBody>
      </p:sp>
      <p:sp>
        <p:nvSpPr>
          <p:cNvPr id="3576" name="Text 44"/>
          <p:cNvSpPr txBox="1"/>
          <p:nvPr/>
        </p:nvSpPr>
        <p:spPr>
          <a:xfrm>
            <a:off x="3703320" y="3794760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171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화면 필드 매핑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교량관리번호 · B-Maps 표시 항목</a:t>
            </a:r>
            <a:endParaRPr lang="en-US" sz="1100" dirty="0"/>
          </a:p>
        </p:txBody>
      </p:sp>
      <p:sp>
        <p:nvSpPr>
          <p:cNvPr id="3580" name="Shape 45"/>
          <p:cNvSpPr/>
          <p:nvPr/>
        </p:nvSpPr>
        <p:spPr>
          <a:xfrm>
            <a:off x="594360" y="4773168"/>
            <a:ext cx="365760" cy="365760"/>
          </a:xfrm>
          <a:prstGeom prst="ellipse">
            <a:avLst/>
          </a:prstGeom>
          <a:solidFill>
            <a:srgbClr val="ED6C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84" name="Text 46"/>
          <p:cNvSpPr txBox="1"/>
          <p:nvPr/>
        </p:nvSpPr>
        <p:spPr>
          <a:xfrm>
            <a:off x="594360" y="4773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200" dirty="0"/>
          </a:p>
        </p:txBody>
      </p:sp>
      <p:sp>
        <p:nvSpPr>
          <p:cNvPr id="3588" name="Text 47"/>
          <p:cNvSpPr txBox="1"/>
          <p:nvPr/>
        </p:nvSpPr>
        <p:spPr>
          <a:xfrm>
            <a:off x="1051560" y="4663440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171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운영 규칙 합의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갱신 주기 · 경보 임계 · 인증</a:t>
            </a:r>
            <a:endParaRPr lang="en-US" sz="1100" dirty="0"/>
          </a:p>
        </p:txBody>
      </p:sp>
      <p:sp>
        <p:nvSpPr>
          <p:cNvPr id="3592" name="Shape 48"/>
          <p:cNvSpPr/>
          <p:nvPr/>
        </p:nvSpPr>
        <p:spPr>
          <a:xfrm>
            <a:off x="3246120" y="4773168"/>
            <a:ext cx="365760" cy="365760"/>
          </a:xfrm>
          <a:prstGeom prst="ellipse">
            <a:avLst/>
          </a:prstGeom>
          <a:solidFill>
            <a:srgbClr val="ED6C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96" name="Text 49"/>
          <p:cNvSpPr txBox="1"/>
          <p:nvPr/>
        </p:nvSpPr>
        <p:spPr>
          <a:xfrm>
            <a:off x="3246120" y="4773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</a:t>
            </a:r>
            <a:endParaRPr lang="en-US" sz="1200" dirty="0"/>
          </a:p>
        </p:txBody>
      </p:sp>
      <p:sp>
        <p:nvSpPr>
          <p:cNvPr id="3600" name="Text 50"/>
          <p:cNvSpPr txBox="1"/>
          <p:nvPr/>
        </p:nvSpPr>
        <p:spPr>
          <a:xfrm>
            <a:off x="3703320" y="4663440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171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검증 자료 공유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계측 위치 · 실 제원 · 점검 이력</a:t>
            </a:r>
            <a:endParaRPr lang="en-US" sz="1100" dirty="0"/>
          </a:p>
        </p:txBody>
      </p:sp>
      <p:sp>
        <p:nvSpPr>
          <p:cNvPr id="3604" name="Shape 51"/>
          <p:cNvSpPr/>
          <p:nvPr/>
        </p:nvSpPr>
        <p:spPr>
          <a:xfrm>
            <a:off x="6199632" y="3429000"/>
            <a:ext cx="557784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3608" name="Shape 52"/>
          <p:cNvSpPr/>
          <p:nvPr/>
        </p:nvSpPr>
        <p:spPr>
          <a:xfrm>
            <a:off x="7936992" y="3282696"/>
            <a:ext cx="2103120" cy="283464"/>
          </a:xfrm>
          <a:prstGeom prst="roundRect">
            <a:avLst>
              <a:gd name="adj" fmla="val 48387"/>
            </a:avLst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</p:sp>
      <p:sp>
        <p:nvSpPr>
          <p:cNvPr id="3612" name="Text 53"/>
          <p:cNvSpPr txBox="1"/>
          <p:nvPr/>
        </p:nvSpPr>
        <p:spPr>
          <a:xfrm>
            <a:off x="7936992" y="3282696"/>
            <a:ext cx="2103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기대 효과</a:t>
            </a:r>
            <a:endParaRPr lang="en-US" sz="1150" dirty="0"/>
          </a:p>
        </p:txBody>
      </p:sp>
      <p:sp>
        <p:nvSpPr>
          <p:cNvPr id="3616" name="Text 54"/>
          <p:cNvSpPr txBox="1"/>
          <p:nvPr/>
        </p:nvSpPr>
        <p:spPr>
          <a:xfrm>
            <a:off x="6400800" y="38404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2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노후도 평가  </a:t>
            </a:r>
            <a:r>
              <a:rPr lang="en-US" sz="12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'몇 년 됐나'에서 '실제로 얼마나 움직였나'로</a:t>
            </a:r>
            <a:endParaRPr lang="en-US" sz="1200" dirty="0"/>
          </a:p>
          <a:p>
            <a:pPr marL="152400" indent="-1524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2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안정성 추정  </a:t>
            </a:r>
            <a:r>
              <a:rPr lang="en-US" sz="12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전 구간을 훑고 이상 구간만 현장 확인</a:t>
            </a:r>
            <a:endParaRPr lang="en-US" sz="1200" dirty="0"/>
          </a:p>
          <a:p>
            <a:pPr marL="152400" indent="-1524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2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유지관리 우선순위  </a:t>
            </a:r>
            <a:r>
              <a:rPr lang="en-US" sz="12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같은 예산으로 먼저 볼 곳을 근거로 결정</a:t>
            </a:r>
            <a:endParaRPr lang="en-US" sz="1200" dirty="0"/>
          </a:p>
        </p:txBody>
      </p:sp>
      <p:sp>
        <p:nvSpPr>
          <p:cNvPr id="3620" name="Shape 55"/>
          <p:cNvSpPr/>
          <p:nvPr/>
        </p:nvSpPr>
        <p:spPr>
          <a:xfrm>
            <a:off x="411480" y="5687568"/>
            <a:ext cx="11365992" cy="566928"/>
          </a:xfrm>
          <a:prstGeom prst="roundRect">
            <a:avLst>
              <a:gd name="adj" fmla="val 9677"/>
            </a:avLst>
          </a:prstGeom>
          <a:solidFill>
            <a:srgbClr val="10171E"/>
          </a:solidFill>
          <a:ln w="12700">
            <a:solidFill>
              <a:srgbClr val="10171E"/>
            </a:solidFill>
            <a:prstDash val="solid"/>
          </a:ln>
        </p:spPr>
      </p:sp>
      <p:sp>
        <p:nvSpPr>
          <p:cNvPr id="3624" name="Text 56"/>
          <p:cNvSpPr txBox="1"/>
          <p:nvPr/>
        </p:nvSpPr>
        <p:spPr>
          <a:xfrm>
            <a:off x="685800" y="56875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D6C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연동 시연은 지금 바로 가능합니다   </a:t>
            </a: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레지스트리에 교량관리번호만 넣으면 그 교량이 B-Maps 탭에 뜬다</a:t>
            </a:r>
            <a:endParaRPr lang="en-US" sz="1400" dirty="0"/>
          </a:p>
        </p:txBody>
      </p:sp>
      <p:sp>
        <p:nvSpPr>
          <p:cNvPr id="3628" name="Text 57"/>
          <p:cNvSpPr txBox="1"/>
          <p:nvPr/>
        </p:nvSpPr>
        <p:spPr>
          <a:xfrm>
            <a:off x="411480" y="6355080"/>
            <a:ext cx="11365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문의 · 재현 자료: README.md · docs/Bmaps_연동_인터페이스.md · examples/bmaps_tab/</a:t>
            </a:r>
            <a:endParaRPr lang="en-US" sz="850" dirty="0"/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15C08B3E-9C7A-490F-AD11-5A850CBA78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72" t="3853" r="1" b="13302"/>
          <a:stretch/>
        </p:blipFill>
        <p:spPr>
          <a:xfrm>
            <a:off x="10400852" y="0"/>
            <a:ext cx="1750000" cy="373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3 color point GBP">
      <a:dk1>
        <a:srgbClr val="363D47"/>
      </a:dk1>
      <a:lt1>
        <a:srgbClr val="FFFFFF"/>
      </a:lt1>
      <a:dk2>
        <a:srgbClr val="074FA1"/>
      </a:dk2>
      <a:lt2>
        <a:srgbClr val="E8E8E8"/>
      </a:lt2>
      <a:accent1>
        <a:srgbClr val="409686"/>
      </a:accent1>
      <a:accent2>
        <a:srgbClr val="2580C3"/>
      </a:accent2>
      <a:accent3>
        <a:srgbClr val="8183DA"/>
      </a:accent3>
      <a:accent4>
        <a:srgbClr val="D2E3E5"/>
      </a:accent4>
      <a:accent5>
        <a:srgbClr val="CFDFEC"/>
      </a:accent5>
      <a:accent6>
        <a:srgbClr val="DAE0EE"/>
      </a:accent6>
      <a:hlink>
        <a:srgbClr val="0A4AB3"/>
      </a:hlink>
      <a:folHlink>
        <a:srgbClr val="0A49B1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4d576d9-b13a-4fd5-898a-452976d6d77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AC9F4596B6A7E14AB1056BCC9C9D7FA2" ma:contentTypeVersion="7" ma:contentTypeDescription="새 문서를 만듭니다." ma:contentTypeScope="" ma:versionID="9afac64a7aa97301af73c04370fca3c2">
  <xsd:schema xmlns:xsd="http://www.w3.org/2001/XMLSchema" xmlns:xs="http://www.w3.org/2001/XMLSchema" xmlns:p="http://schemas.microsoft.com/office/2006/metadata/properties" xmlns:ns3="b4d576d9-b13a-4fd5-898a-452976d6d774" targetNamespace="http://schemas.microsoft.com/office/2006/metadata/properties" ma:root="true" ma:fieldsID="958354a71270ddf5f774943f6454880a" ns3:_="">
    <xsd:import namespace="b4d576d9-b13a-4fd5-898a-452976d6d77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DateTaken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d576d9-b13a-4fd5-898a-452976d6d77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BillingMetadata" ma:index="1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79AC4D7-9EE8-4DFA-B22C-A98EBA8A4DB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C6E5AF1-EC7D-47CB-81A3-A02A93109C96}">
  <ds:schemaRefs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dcmitype/"/>
    <ds:schemaRef ds:uri="http://www.w3.org/XML/1998/namespace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b4d576d9-b13a-4fd5-898a-452976d6d774"/>
  </ds:schemaRefs>
</ds:datastoreItem>
</file>

<file path=customXml/itemProps3.xml><?xml version="1.0" encoding="utf-8"?>
<ds:datastoreItem xmlns:ds="http://schemas.openxmlformats.org/officeDocument/2006/customXml" ds:itemID="{98DDBED1-DE0A-4ADB-A993-1993EA5432C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4d576d9-b13a-4fd5-898a-452976d6d77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73004</TotalTime>
  <Words>1357</Words>
  <Application>Microsoft Office PowerPoint</Application>
  <PresentationFormat>와이드스크린</PresentationFormat>
  <Paragraphs>280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5" baseType="lpstr">
      <vt:lpstr>12롯데마트드림Bold</vt:lpstr>
      <vt:lpstr>Paperlogy 5 Medium</vt:lpstr>
      <vt:lpstr>Aptos</vt:lpstr>
      <vt:lpstr>Paperlogy 4 Regular</vt:lpstr>
      <vt:lpstr>Arial</vt:lpstr>
      <vt:lpstr>Paperlogy 7 Bold</vt:lpstr>
      <vt:lpstr>Pretendard</vt:lpstr>
      <vt:lpstr>1_Office Theme</vt:lpstr>
      <vt:lpstr>PowerPoint 프레젠테이션</vt:lpstr>
      <vt:lpstr>연구개발과제의 필요성</vt:lpstr>
      <vt:lpstr>연구성과 목표</vt:lpstr>
      <vt:lpstr>연구수행 내용 ① Inframon 플랫폼 구성</vt:lpstr>
      <vt:lpstr>연구수행 내용 ② 한강 교량 실증 · 디지털 트윈</vt:lpstr>
      <vt:lpstr>연구수행 내용 ③ B-Maps 연동</vt:lpstr>
      <vt:lpstr>향후 계획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선우린</dc:creator>
  <cp:lastModifiedBy>이종환</cp:lastModifiedBy>
  <cp:revision>693</cp:revision>
  <cp:lastPrinted>2026-09-15T09:08:13Z</cp:lastPrinted>
  <dcterms:created xsi:type="dcterms:W3CDTF">2025-01-10T01:03:53Z</dcterms:created>
  <dcterms:modified xsi:type="dcterms:W3CDTF">2026-09-20T08:49:18Z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0x010100AC9F4596B6A7E14AB1056BCC9C9D7FA2</vt:lpwstr>
  </property>
</Properties>
</file>