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74520"/>
            <a:ext cx="12191695" cy="45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맑은 고딕"/>
              </a:rPr>
              <a:t>inframon</a:t>
            </a:r>
            <a:r>
              <a:rPr sz="2400" b="1">
                <a:solidFill>
                  <a:srgbClr val="FFFFFF"/>
                </a:solidFill>
                <a:latin typeface="맑은 고딕"/>
              </a:rPr>
              <a:t> — 위성 InSAR·PINN 기반 교량 변위 모니터링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BFD6E8"/>
                </a:solidFill>
                <a:latin typeface="맑은 고딕"/>
              </a:rPr>
              <a:t>좌표 하나로 Sentinel-1 아카이브 → 교면 변위 시계열 → 구조 역산 → 디지털트윈 → B-Maps 탭까지 자동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898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FADC6"/>
                </a:solidFill>
                <a:latin typeface="맑은 고딕"/>
              </a:rPr>
              <a:t>KICT B-Maps 연동 협의자료   |   위성데이터 기반 변위 예측·AI 연계 중소형 교량 지능형 스마트 유지관리 (RS-2026-25521660)</a:t>
            </a:r>
          </a:p>
        </p:txBody>
      </p:sp>
      <p:sp>
        <p:nvSpPr>
          <p:cNvPr id="8" name="Pentagon 7"/>
          <p:cNvSpPr/>
          <p:nvPr/>
        </p:nvSpPr>
        <p:spPr>
          <a:xfrm>
            <a:off x="566928" y="2176272"/>
            <a:ext cx="1789633" cy="804672"/>
          </a:xfrm>
          <a:prstGeom prst="homePlat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21992"/>
            <a:ext cx="134706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⓪ 교량·SLC 선별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제원·ROI·프레임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ERA5 master</a:t>
            </a:r>
          </a:p>
        </p:txBody>
      </p:sp>
      <p:sp>
        <p:nvSpPr>
          <p:cNvPr id="10" name="Chevron 9"/>
          <p:cNvSpPr/>
          <p:nvPr/>
        </p:nvSpPr>
        <p:spPr>
          <a:xfrm>
            <a:off x="2420569" y="2176272"/>
            <a:ext cx="1789633" cy="804672"/>
          </a:xfrm>
          <a:prstGeom prst="chevron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22905" y="2221992"/>
            <a:ext cx="98496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① InSAR 처리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SNAP 코레지·간섭도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snaphu 언래핑</a:t>
            </a:r>
          </a:p>
        </p:txBody>
      </p:sp>
      <p:sp>
        <p:nvSpPr>
          <p:cNvPr id="12" name="Chevron 11"/>
          <p:cNvSpPr/>
          <p:nvPr/>
        </p:nvSpPr>
        <p:spPr>
          <a:xfrm>
            <a:off x="4274210" y="2176272"/>
            <a:ext cx="1789633" cy="804672"/>
          </a:xfrm>
          <a:prstGeom prst="chevron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6546" y="2221992"/>
            <a:ext cx="98496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② 교면 점 정합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쉬프트 보정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데크 ±30 m</a:t>
            </a:r>
          </a:p>
        </p:txBody>
      </p:sp>
      <p:sp>
        <p:nvSpPr>
          <p:cNvPr id="14" name="Chevron 13"/>
          <p:cNvSpPr/>
          <p:nvPr/>
        </p:nvSpPr>
        <p:spPr>
          <a:xfrm>
            <a:off x="6127852" y="2176272"/>
            <a:ext cx="1789633" cy="804672"/>
          </a:xfrm>
          <a:prstGeom prst="chevron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0188" y="2221992"/>
            <a:ext cx="98496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③ PINN 역산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열·하중·침하·이상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가상센싱</a:t>
            </a:r>
          </a:p>
        </p:txBody>
      </p:sp>
      <p:sp>
        <p:nvSpPr>
          <p:cNvPr id="16" name="Chevron 15"/>
          <p:cNvSpPr/>
          <p:nvPr/>
        </p:nvSpPr>
        <p:spPr>
          <a:xfrm>
            <a:off x="7981493" y="2176272"/>
            <a:ext cx="1789633" cy="804672"/>
          </a:xfrm>
          <a:prstGeom prst="chevron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3829" y="2221992"/>
            <a:ext cx="98496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④ FRAM·수명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공진위험 CRI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4단계 경보</a:t>
            </a:r>
          </a:p>
        </p:txBody>
      </p:sp>
      <p:sp>
        <p:nvSpPr>
          <p:cNvPr id="18" name="Chevron 17"/>
          <p:cNvSpPr/>
          <p:nvPr/>
        </p:nvSpPr>
        <p:spPr>
          <a:xfrm>
            <a:off x="9835134" y="2176272"/>
            <a:ext cx="1789633" cy="804672"/>
          </a:xfrm>
          <a:prstGeom prst="chevron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37470" y="2221992"/>
            <a:ext cx="98496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⑤ 산출·연동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IFC 트윈·CSV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B-Maps REST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127248"/>
            <a:ext cx="2599868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127248"/>
            <a:ext cx="50292" cy="111556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273552"/>
            <a:ext cx="23255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F6FB2"/>
                </a:solidFill>
                <a:latin typeface="맑은 고딕"/>
              </a:rPr>
              <a:t>51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장면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712464"/>
            <a:ext cx="23255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실 Sentinel-1 SLC (ASC path127)
2018-06-19 ~ 2025-12-27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6252" y="3127248"/>
            <a:ext cx="2599868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6252" y="3127248"/>
            <a:ext cx="50292" cy="1115568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9132" y="3273552"/>
            <a:ext cx="23255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C4469"/>
                </a:solidFill>
                <a:latin typeface="맑은 고딕"/>
              </a:rPr>
              <a:t>23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개소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9132" y="3712464"/>
            <a:ext cx="23255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실 SLC 로 관통한 교량(한강 16개소 포함)
(같은 아카이브·같은 코드)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5576" y="3127248"/>
            <a:ext cx="2599868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5576" y="3127248"/>
            <a:ext cx="50292" cy="11155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8456" y="3273552"/>
            <a:ext cx="23255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E7D32"/>
                </a:solidFill>
                <a:latin typeface="맑은 고딕"/>
              </a:rPr>
              <a:t>507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8456" y="3712464"/>
            <a:ext cx="23255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교면 결합 PS/DS 측점 · 101시점 시계열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24899" y="3127248"/>
            <a:ext cx="2599868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24899" y="3127248"/>
            <a:ext cx="50292" cy="1115568"/>
          </a:xfrm>
          <a:prstGeom prst="rect">
            <a:avLst/>
          </a:prstGeom>
          <a:solidFill>
            <a:srgbClr val="E06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7779" y="3273552"/>
            <a:ext cx="23255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06C2C"/>
                </a:solidFill>
                <a:latin typeface="맑은 고딕"/>
              </a:rPr>
              <a:t>12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7779" y="3712464"/>
            <a:ext cx="23255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B-Maps 연동 REST 엔드포인트
(구현 완료 · 읽기 전용)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498848"/>
            <a:ext cx="5760720" cy="1755648"/>
          </a:xfrm>
          <a:prstGeom prst="roundRect">
            <a:avLst/>
          </a:prstGeom>
          <a:solidFill>
            <a:srgbClr val="E7F0F8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64515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A43"/>
                </a:solidFill>
                <a:latin typeface="맑은 고딕"/>
              </a:rPr>
              <a:t>실행은 한 줄 — 교량을 갈아 끼우는 데 코드 수정이 없다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983480"/>
            <a:ext cx="5349240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983480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102A43"/>
                </a:solidFill>
                <a:latin typeface="맑은 고딕"/>
              </a:rPr>
              <a:t>python scripts/bridge_run.py --name 성수대교 \
    --lat 37.5374 --lon 127.0351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504688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트랙이 없으면 SLC 선별·다운로드·SNAP 처리부터 스스로 만든다</a:t>
            </a:r>
          </a:p>
          <a:p>
            <a:pPr algn="l">
              <a:lnSpc>
                <a:spcPct val="132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이미 받아 둔 기관 아카이브(.SAFE)면 그 자리에서 읽는다 — 재다운로드 없음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47104" y="4498848"/>
            <a:ext cx="5077663" cy="17556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46451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A43"/>
                </a:solidFill>
                <a:latin typeface="맑은 고딕"/>
              </a:rPr>
              <a:t>B-Maps 가 비어 있는 축을 채운다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95604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기존 탭은 현장 계측·점검 기반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성능평가·노후도·내하·계측안전성 …</a:t>
            </a:r>
          </a:p>
          <a:p>
            <a:pPr algn="l">
              <a:lnSpc>
                <a:spcPct val="128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성수대교·한강대교는 '처짐(경사)' 센서가 미설치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감시항목 순위엔 올라 있다(2024 한강교량 온라인 최종보고)</a:t>
            </a:r>
          </a:p>
          <a:p>
            <a:pPr algn="l">
              <a:lnSpc>
                <a:spcPct val="128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위성 InSAR 가 그 자리를 센서 없이 채운다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설치된 항목과는 교차검증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⚠ 연구용 프로토타입 — 전 파이프라인·해석해 검증 완료, 현장·상용FEM·실 붕괴라벨 검증 미수행. 산출은 파이프라인 결과이며 실무 안전판정이 아니다.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①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화면에서 누르는 순서 (1/2) — 교량을 고르고, 장면 수를 정한다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명령줄 없음 · 대시보드 ⓪ 시작 탭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960120"/>
            <a:ext cx="2222541" cy="566928"/>
          </a:xfrm>
          <a:prstGeom prst="homePlat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191073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① 준비 상태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D6E6F3"/>
                </a:solidFill>
                <a:latin typeface="맑은 고딕"/>
              </a:rPr>
              <a:t>SNAP·snaphu·토큰</a:t>
            </a:r>
          </a:p>
        </p:txBody>
      </p:sp>
      <p:sp>
        <p:nvSpPr>
          <p:cNvPr id="8" name="Chevron 7"/>
          <p:cNvSpPr/>
          <p:nvPr/>
        </p:nvSpPr>
        <p:spPr>
          <a:xfrm>
            <a:off x="2698029" y="960120"/>
            <a:ext cx="2222541" cy="566928"/>
          </a:xfrm>
          <a:prstGeom prst="chevron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81493" y="1005840"/>
            <a:ext cx="165561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② 교량명 검색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D6E6F3"/>
                </a:solidFill>
                <a:latin typeface="맑은 고딕"/>
              </a:rPr>
              <a:t>성수대교 → 찾기</a:t>
            </a:r>
          </a:p>
        </p:txBody>
      </p:sp>
      <p:sp>
        <p:nvSpPr>
          <p:cNvPr id="10" name="Chevron 9"/>
          <p:cNvSpPr/>
          <p:nvPr/>
        </p:nvSpPr>
        <p:spPr>
          <a:xfrm>
            <a:off x="4984577" y="960120"/>
            <a:ext cx="2222541" cy="566928"/>
          </a:xfrm>
          <a:prstGeom prst="chevron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8041" y="1005840"/>
            <a:ext cx="165561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③ 장면 수·기간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D6E6F3"/>
                </a:solidFill>
                <a:latin typeface="맑은 고딕"/>
              </a:rPr>
              <a:t>51장 · 2018~2025</a:t>
            </a:r>
          </a:p>
        </p:txBody>
      </p:sp>
      <p:sp>
        <p:nvSpPr>
          <p:cNvPr id="12" name="Chevron 11"/>
          <p:cNvSpPr/>
          <p:nvPr/>
        </p:nvSpPr>
        <p:spPr>
          <a:xfrm>
            <a:off x="7271126" y="960120"/>
            <a:ext cx="2222541" cy="566928"/>
          </a:xfrm>
          <a:prstGeom prst="chevron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54590" y="1005840"/>
            <a:ext cx="165561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④ 계획 보기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D6E6F3"/>
                </a:solidFill>
                <a:latin typeface="맑은 고딕"/>
              </a:rPr>
              <a:t>몇 초 · 무료</a:t>
            </a:r>
          </a:p>
        </p:txBody>
      </p:sp>
      <p:sp>
        <p:nvSpPr>
          <p:cNvPr id="14" name="Chevron 13"/>
          <p:cNvSpPr/>
          <p:nvPr/>
        </p:nvSpPr>
        <p:spPr>
          <a:xfrm>
            <a:off x="9557675" y="960120"/>
            <a:ext cx="2222541" cy="566928"/>
          </a:xfrm>
          <a:prstGeom prst="chevron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41139" y="1005840"/>
            <a:ext cx="165561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⑤ 전체 실행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D6E6F3"/>
                </a:solidFill>
                <a:latin typeface="맑은 고딕"/>
              </a:rPr>
              <a:t>SLC→트윈까지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27632"/>
            <a:ext cx="5632704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1627632"/>
            <a:ext cx="53766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②  </a:t>
            </a:r>
            <a:r>
              <a:rPr sz="1100" b="1">
                <a:solidFill>
                  <a:srgbClr val="FFFFFF"/>
                </a:solidFill>
                <a:latin typeface="맑은 고딕"/>
              </a:rPr>
              <a:t>교량명으로 찾기 — '성수대교'</a:t>
            </a:r>
          </a:p>
        </p:txBody>
      </p:sp>
      <p:pic>
        <p:nvPicPr>
          <p:cNvPr id="18" name="Picture 17" descr="w3_h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40" y="2048256"/>
            <a:ext cx="5135785" cy="263347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11480" y="2048256"/>
            <a:ext cx="5632704" cy="2633472"/>
          </a:xfrm>
          <a:prstGeom prst="roundRect">
            <a:avLst/>
          </a:prstGeom>
          <a:noFill/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681728"/>
            <a:ext cx="563270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교량명 입력 → 🔎 찾기 → 검색 결과 '성수대교 · CSV · 37.5322,127.0342 · 1160m' → '이 교량으로 설정' (위도·경도가 자동으로 채워진다)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627632"/>
            <a:ext cx="5632704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1627632"/>
            <a:ext cx="53766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③  </a:t>
            </a:r>
            <a:r>
              <a:rPr sz="1100" b="1">
                <a:solidFill>
                  <a:srgbClr val="FFFFFF"/>
                </a:solidFill>
                <a:latin typeface="맑은 고딕"/>
              </a:rPr>
              <a:t>엔진 · SLC 장면 수 · 조회 기간</a:t>
            </a:r>
          </a:p>
        </p:txBody>
      </p:sp>
      <p:pic>
        <p:nvPicPr>
          <p:cNvPr id="23" name="Picture 22" descr="w4_run_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684" y="2048256"/>
            <a:ext cx="4324871" cy="263347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144768" y="2048256"/>
            <a:ext cx="5632704" cy="2633472"/>
          </a:xfrm>
          <a:prstGeom prst="roundRect">
            <a:avLst/>
          </a:prstGeom>
          <a:noFill/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4681728"/>
            <a:ext cx="563270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snap 엔진 · 장면 수 51 · 2018-06-19~2025-12-27 → 화면이 바로 '51장 · 90개월 · 약 357 GB — 기준 충족' 이라고 알려 준다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175504"/>
            <a:ext cx="11368735" cy="1115568"/>
          </a:xfrm>
          <a:prstGeom prst="roundRect">
            <a:avLst/>
          </a:prstGeom>
          <a:solidFill>
            <a:srgbClr val="E7F0F8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257800"/>
            <a:ext cx="109115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A43"/>
                </a:solidFill>
                <a:latin typeface="맑은 고딕"/>
              </a:rPr>
              <a:t>여기서 정하는 것이 결과의 정밀도를 정한다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522976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850" b="1">
                <a:solidFill>
                  <a:srgbClr val="102A43"/>
                </a:solidFill>
                <a:latin typeface="맑은 고딕"/>
              </a:rPr>
              <a:t>SLC 장면 수</a:t>
            </a:r>
            <a:r>
              <a:rPr sz="850" b="0">
                <a:solidFill>
                  <a:srgbClr val="102A43"/>
                </a:solidFill>
                <a:latin typeface="맑은 고딕"/>
              </a:rPr>
              <a:t> — 화면이 바로 계산해 준다: '51장 · 90개월 · 약 357 GB — 속도·CI 판정 기준(25장·12개월) 충족'. 기준 미달이면 노란 경고가 뜨고 그 사실이 감사 기록에도 남는다.</a:t>
            </a:r>
          </a:p>
          <a:p>
            <a:pPr algn="l">
              <a:lnSpc>
                <a:spcPct val="122000"/>
              </a:lnSpc>
            </a:pPr>
            <a:r>
              <a:rPr sz="8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850" b="1">
                <a:solidFill>
                  <a:srgbClr val="102A43"/>
                </a:solidFill>
                <a:latin typeface="맑은 고딕"/>
              </a:rPr>
              <a:t>조회 기간</a:t>
            </a:r>
            <a:r>
              <a:rPr sz="850" b="0">
                <a:solidFill>
                  <a:srgbClr val="102A43"/>
                </a:solidFill>
                <a:latin typeface="맑은 고딕"/>
              </a:rPr>
              <a:t> — 속도의 95% 신뢰구간은 장면 수와 기간이 정한다. 기간이 짧으면 '추세 없음'도 '추세 있음'도 말할 수 없다.</a:t>
            </a:r>
          </a:p>
          <a:p>
            <a:pPr algn="l">
              <a:lnSpc>
                <a:spcPct val="122000"/>
              </a:lnSpc>
            </a:pPr>
            <a:r>
              <a:rPr sz="8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850" b="1">
                <a:solidFill>
                  <a:srgbClr val="102A43"/>
                </a:solidFill>
                <a:latin typeface="맑은 고딕"/>
              </a:rPr>
              <a:t>교량 선택</a:t>
            </a:r>
            <a:r>
              <a:rPr sz="850" b="0">
                <a:solidFill>
                  <a:srgbClr val="102A43"/>
                </a:solidFill>
                <a:latin typeface="맑은 고딕"/>
              </a:rPr>
              <a:t> — 전국교량표준데이터 + OSM 을 함께 찾는다. 어떤 교량이든 된다 — 특정 교량 전용 도구가 아니다.</a:t>
            </a:r>
          </a:p>
          <a:p>
            <a:pPr algn="l">
              <a:lnSpc>
                <a:spcPct val="122000"/>
              </a:lnSpc>
            </a:pPr>
            <a:r>
              <a:rPr sz="8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850" b="1">
                <a:solidFill>
                  <a:srgbClr val="102A43"/>
                </a:solidFill>
                <a:latin typeface="맑은 고딕"/>
              </a:rPr>
              <a:t>① 준비 상태</a:t>
            </a:r>
            <a:r>
              <a:rPr sz="850" b="0">
                <a:solidFill>
                  <a:srgbClr val="102A43"/>
                </a:solidFill>
                <a:latin typeface="맑은 고딕"/>
              </a:rPr>
              <a:t> — 그 앞 화면에서 처리 레인 3/3 · 점검 8/8 을 먼저 확인한다. '모든 항목 준비 완료' 가 아니면 무엇이 없는지와 설치 명령을 그 자리에 띄운다.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화면 캡처는 실제 동작 화면 그대로 — scripts/capture_workflow.py 로 다시 찍을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②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화면에서 누르는 순서 (2/2) — 계획을 확인하고, 결과를 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⓪ 시작 → ① InSAR → ② PINN → ③ FRAM → ④ 잔존수명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6400800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960120"/>
            <a:ext cx="61447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④  </a:t>
            </a:r>
            <a:r>
              <a:rPr sz="1100" b="1">
                <a:solidFill>
                  <a:srgbClr val="FFFFFF"/>
                </a:solidFill>
                <a:latin typeface="맑은 고딕"/>
              </a:rPr>
              <a:t>📋 계획 보기 — 누르기 전에 무엇이 돌지 먼저 본다</a:t>
            </a:r>
          </a:p>
        </p:txBody>
      </p:sp>
      <p:pic>
        <p:nvPicPr>
          <p:cNvPr id="8" name="Picture 7" descr="w5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41" y="1380744"/>
            <a:ext cx="5790878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1480" y="1380744"/>
            <a:ext cx="6400800" cy="4114800"/>
          </a:xfrm>
          <a:prstGeom prst="roundRect">
            <a:avLst/>
          </a:prstGeom>
          <a:noFill/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495544"/>
            <a:ext cx="6400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네트워크 조회만 해서 몇 초. ①교량선정 ②④SLC·트랙·프레임 ⑤ERA5 master ⑥궤도·DEM ⑦연직분해 ⑪교량메타 까지 실제로 조회하고, ⑧~⑭ 는 '전체 실행 시 무엇을 할지' 를 보여 준다.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86016" y="960120"/>
            <a:ext cx="4791456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4032" y="960120"/>
            <a:ext cx="45354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⑤  </a:t>
            </a:r>
            <a:r>
              <a:rPr sz="1100" b="1">
                <a:solidFill>
                  <a:srgbClr val="FFFFFF"/>
                </a:solidFill>
                <a:latin typeface="맑은 고딕"/>
              </a:rPr>
              <a:t>① InSAR 탭 — ▶ 이 단계 실행</a:t>
            </a:r>
          </a:p>
        </p:txBody>
      </p:sp>
      <p:pic>
        <p:nvPicPr>
          <p:cNvPr id="13" name="Picture 12" descr="w6_ins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562" y="1380744"/>
            <a:ext cx="2026364" cy="159105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986016" y="1380744"/>
            <a:ext cx="4791456" cy="1591056"/>
          </a:xfrm>
          <a:prstGeom prst="roundRect">
            <a:avLst/>
          </a:prstGeom>
          <a:noFill/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2971800"/>
            <a:ext cx="479145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한 번에 끝까지 가려면 ⓪ 시작의 ▶ 전체 실행, 한 단계씩 보려면 각 탭의 ▶ 이 단계 실행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86016" y="3483864"/>
            <a:ext cx="4791456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3483864"/>
            <a:ext cx="45354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⑥  </a:t>
            </a:r>
            <a:r>
              <a:rPr sz="1100" b="1">
                <a:solidFill>
                  <a:srgbClr val="FFFFFF"/>
                </a:solidFill>
                <a:latin typeface="맑은 고딕"/>
              </a:rPr>
              <a:t>③ FRAM 탭 — CRI·경보(잠정 표시 포함)</a:t>
            </a:r>
          </a:p>
        </p:txBody>
      </p:sp>
      <p:pic>
        <p:nvPicPr>
          <p:cNvPr id="18" name="Picture 17" descr="w8_f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8562" y="3904488"/>
            <a:ext cx="2026364" cy="159105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986016" y="3904488"/>
            <a:ext cx="4791456" cy="1591056"/>
          </a:xfrm>
          <a:prstGeom prst="roundRect">
            <a:avLst/>
          </a:prstGeom>
          <a:noFill/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6016" y="5495544"/>
            <a:ext cx="479145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관측조건이 기준치 학습 조건과 다르면 배지가 '위험 (잠정)' 으로 내려가고 사유가 함께 뜬다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▶ 전체 실행은 SLC 다운로드·SAR 처리로 수 시간 — 계획 보기로 장면 수·기간·용량을 먼저 확인하고 누르는 것이 정석이다.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③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한강 교량 16개소 실증 — 교량만 갈아 끼웠다 (표는 측점 상위 3개소 + 참고 1개소)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Sentinel-1 ASC path127 · 51장면 · 2018-06-19 ~ 2025-12-27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24128"/>
            <a:ext cx="11368735" cy="310896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24128"/>
            <a:ext cx="109860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교량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6969" y="1024128"/>
            <a:ext cx="109860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상부형식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0162" y="1024128"/>
            <a:ext cx="109860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연장×폭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3354" y="1024128"/>
            <a:ext cx="61275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준공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0704" y="1024128"/>
            <a:ext cx="51558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시점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0885" y="1024128"/>
            <a:ext cx="8070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교면 측점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2571" y="1024128"/>
            <a:ext cx="177878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LOS 변위속도 ±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5945" y="1024128"/>
            <a:ext cx="90426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CI 가 0 포함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4800" y="1024128"/>
            <a:ext cx="197311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현장 SHM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1335024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맑은 고딕"/>
              </a:rPr>
              <a:t>암사대교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6969" y="1335024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아치·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0162" y="1335024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1136×28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3354" y="1335024"/>
            <a:ext cx="612757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2016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0704" y="1335024"/>
            <a:ext cx="515589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40885" y="1335024"/>
            <a:ext cx="807095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237 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2571" y="1335024"/>
            <a:ext cx="177878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-0.23 ± 2.64 mm/yr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5945" y="1335024"/>
            <a:ext cx="904263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4800" y="1335024"/>
            <a:ext cx="1973119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관리기준 이내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1636776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1636776"/>
            <a:ext cx="11368735" cy="301752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" y="1636776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맑은 고딕"/>
              </a:rPr>
              <a:t>가양대교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6969" y="1636776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박스거더·강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20162" y="1636776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1700×34 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3354" y="1636776"/>
            <a:ext cx="612757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2002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60704" y="1636776"/>
            <a:ext cx="515589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51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40885" y="1636776"/>
            <a:ext cx="807095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167 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2571" y="1636776"/>
            <a:ext cx="177878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+0.17 ± 2.99 mm/yr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5945" y="1636776"/>
            <a:ext cx="904263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98%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4800" y="1636776"/>
            <a:ext cx="1973119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관리기준 이내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1938528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1938528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맑은 고딕"/>
              </a:rPr>
              <a:t>성수대교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56969" y="1938528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트러스·강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20162" y="1938528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1160×35 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83354" y="1938528"/>
            <a:ext cx="612757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1997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0704" y="1938528"/>
            <a:ext cx="515589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40885" y="1938528"/>
            <a:ext cx="807095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103 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12571" y="1938528"/>
            <a:ext cx="177878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-0.17 ± 1.30 mm/yr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55945" y="1938528"/>
            <a:ext cx="904263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83%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24800" y="1938528"/>
            <a:ext cx="1973119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관리기준 이내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2240280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80" y="2240280"/>
            <a:ext cx="11368735" cy="301752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" y="2240280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맑은 고딕"/>
              </a:rPr>
              <a:t>정자교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6969" y="2240280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슬래브·PSC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20162" y="2240280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108×26 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83354" y="2240280"/>
            <a:ext cx="612757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1993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60704" y="2240280"/>
            <a:ext cx="515589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201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40885" y="2240280"/>
            <a:ext cx="807095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12 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12571" y="2240280"/>
            <a:ext cx="177878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+0.53 ± 0.25 mm/yr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5945" y="2240280"/>
            <a:ext cx="904263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24800" y="2240280"/>
            <a:ext cx="1973119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542032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" y="2651760"/>
            <a:ext cx="11368735" cy="402336"/>
          </a:xfrm>
          <a:prstGeom prst="roundRect">
            <a:avLst/>
          </a:prstGeom>
          <a:solidFill>
            <a:srgbClr val="E7F0F8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" y="2651760"/>
            <a:ext cx="1095725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맑은 고딕"/>
              </a:rPr>
              <a:t>판독 — </a:t>
            </a:r>
            <a:r>
              <a:rPr sz="1050" b="0">
                <a:solidFill>
                  <a:srgbClr val="102A43"/>
                </a:solidFill>
                <a:latin typeface="맑은 고딕"/>
              </a:rPr>
              <a:t>교면 측점의 LOS 변위속도 95% 신뢰구간이 0 을 포함한다(암사대교 100%·가양대교 98%·성수대교 83%). 관측 정밀도 안에서 유의한 거동이 없다는 뜻이고, 2024년 현장 SHM 의 '관리기준 이내' 판정과 어긋나지 않는다.</a:t>
            </a:r>
          </a:p>
        </p:txBody>
      </p:sp>
      <p:pic>
        <p:nvPicPr>
          <p:cNvPr id="60" name="Picture 59" descr="seoul3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065" y="3163824"/>
            <a:ext cx="9009565" cy="3163823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LOS 변위속도는 교면 ±30 m 결합 측점의 중앙값 ± 95% 신뢰구간(부호 −=위성에서 멀어짐). 'CI 가 0 포함' 이 높을수록 유의한 거동이 없다는 뜻. 현장 SHM 은 2024년 한강교량 온라인 안전감시시스템 유지관리 최종보고의 판정.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④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교량별 산출 — 건기연 브리프 4단 그림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brief.png · 교량 폴더에 자동 생성</a:t>
            </a:r>
          </a:p>
        </p:txBody>
      </p:sp>
      <p:pic>
        <p:nvPicPr>
          <p:cNvPr id="6" name="Picture 5" descr="br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76055"/>
            <a:ext cx="7635240" cy="47539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24128"/>
            <a:ext cx="7635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275320" y="1097280"/>
            <a:ext cx="35204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(a) 교축 좌표계 배치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측점을 교축 거리·직각 거리로 놓는다. QC(95%CI ≤ 1 mm/yr) 통과 점만 유효 PS.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(b) DEM 대비 잔차고도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교면 위 점이 지면 점보다 유의하게 높은가(z&gt;2). '교면 위'를 고도로 증명하는 유일한 칸.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(c) LOS 변위속도 종단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점마다 95% 신뢰구간. 교대 기준점으로 상대화.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(d) 교면 점 LOS 시계열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전체(회색)·중앙값(청색)·추세.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670048"/>
            <a:ext cx="3520440" cy="804672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0768" y="2670048"/>
            <a:ext cx="3246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읽는 법 — 이 레인은 시점별 잡음이 σ≈14 mm 라 QC(95%CI ≤ 1 mm/yr)를 통과하는 점이 거의 없다. 점 하나의 mm/yr 가 아니라 집단 중앙값 ±CI 까지가 이 데이터가 말할 수 있는 것이다.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65760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A43"/>
                </a:solidFill>
                <a:latin typeface="맑은 고딕"/>
              </a:rPr>
              <a:t>현장 계측이 비워 둔 자리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3968496"/>
            <a:ext cx="3520440" cy="274320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3968496"/>
            <a:ext cx="5897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맑은 고딕"/>
              </a:rPr>
              <a:t>교량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1996" y="3968496"/>
            <a:ext cx="1763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맑은 고딕"/>
              </a:rPr>
              <a:t>SHM 감시항목(설치)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39856" y="3968496"/>
            <a:ext cx="673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맑은 고딕"/>
              </a:rPr>
              <a:t>위성 InSAR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4242816"/>
            <a:ext cx="5897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02A43"/>
                </a:solidFill>
                <a:latin typeface="맑은 고딕"/>
              </a:rPr>
              <a:t>암사대교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1996" y="4242816"/>
            <a:ext cx="176326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02A43"/>
                </a:solidFill>
                <a:latin typeface="맑은 고딕"/>
              </a:rPr>
              <a:t>부재응력◯·신축변위◯·처짐◯·바닥판진동◯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39856" y="4242816"/>
            <a:ext cx="6736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2E7D32"/>
                </a:solidFill>
                <a:latin typeface="맑은 고딕"/>
              </a:rPr>
              <a:t>교차검증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4645152"/>
            <a:ext cx="35204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4645152"/>
            <a:ext cx="3520440" cy="402336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4645152"/>
            <a:ext cx="5897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02A43"/>
                </a:solidFill>
                <a:latin typeface="맑은 고딕"/>
              </a:rPr>
              <a:t>가양대교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1996" y="4645152"/>
            <a:ext cx="176326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02A43"/>
                </a:solidFill>
                <a:latin typeface="맑은 고딕"/>
              </a:rPr>
              <a:t>GNSS변위◯·신축변위◯·처짐◯·바닥판진동◯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39856" y="4645152"/>
            <a:ext cx="6736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2E7D32"/>
                </a:solidFill>
                <a:latin typeface="맑은 고딕"/>
              </a:rPr>
              <a:t>교차검증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5047488"/>
            <a:ext cx="35204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5047488"/>
            <a:ext cx="5897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02A43"/>
                </a:solidFill>
                <a:latin typeface="맑은 고딕"/>
              </a:rPr>
              <a:t>성수대교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1996" y="5047488"/>
            <a:ext cx="176326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02A43"/>
                </a:solidFill>
                <a:latin typeface="맑은 고딕"/>
              </a:rPr>
              <a:t>부재응력◯·신축변위◯·처짐◯·바닥판진동◯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39856" y="5047488"/>
            <a:ext cx="6736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2E7D32"/>
                </a:solidFill>
                <a:latin typeface="맑은 고딕"/>
              </a:rPr>
              <a:t>교차검증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5449824"/>
            <a:ext cx="35204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5541264"/>
            <a:ext cx="3520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성수대교·한강대교는 감시항목 순위에 '처짐(경사)'이 올라 있는데 센서가 미설치다(2024 최종보고). 위성 InSAR 는 센서 없이 그 항목을 채우고, 설치된 항목과는 결과가 서로 맞는지 대조된다.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그림은 산출물 그대로 — 발표용으로 다시 그리지 않는다. 재현: python scripts/bridge_run.py --name &lt;교량&gt; --lat &lt;위도&gt; --lon &lt;경도&gt; --track &lt;트랙&gt;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⑤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현장 계측 ↔ 위성 InSAR — 16개소 전수 대조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2024 한강교량 온라인 안전감시 최종보고 전 교량</a:t>
            </a:r>
          </a:p>
        </p:txBody>
      </p:sp>
      <p:pic>
        <p:nvPicPr>
          <p:cNvPr id="6" name="Picture 5" descr="hangang_지표_종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980" y="914400"/>
            <a:ext cx="6787736" cy="44988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5468112"/>
            <a:ext cx="50292" cy="804672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C4469"/>
                </a:solidFill>
                <a:latin typeface="맑은 고딕"/>
              </a:rPr>
              <a:t>16/16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개소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보고서 대상 중 위성으로도 산출된 교량 — 빠진 곳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4210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4210" y="5468112"/>
            <a:ext cx="50292" cy="8046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7090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E7D32"/>
                </a:solidFill>
                <a:latin typeface="맑은 고딕"/>
              </a:rPr>
              <a:t>14/16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일치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7090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위성 판정이 보고서 판정과 같은 교량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6941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6941" y="5468112"/>
            <a:ext cx="50292" cy="804672"/>
          </a:xfrm>
          <a:prstGeom prst="rect">
            <a:avLst/>
          </a:prstGeom>
          <a:solidFill>
            <a:srgbClr val="E06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9821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06C2C"/>
                </a:solidFill>
                <a:latin typeface="맑은 고딕"/>
              </a:rPr>
              <a:t>6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개소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9821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처짐·텐던 계측이 미설치(X)이거나 경사계 대체(△)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위성 판정 = 데크 중앙값 LOS 시계열에 직선+연주기를 맞춘 속도의 95% 신뢰구간이 0 을 포함하는가. 현장 계측은 센서가 있는 항목만, 그 지점에서 본다 — 둘은 경쟁이 아니라 서로의 빈칸을 메운다.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⑥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보고서 GNSS ↔ 위성 InSAR — 기간을 맞추면 무엇이 남는가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월드컵대교 2024-01~11 · 샛강문화다리 2022~2024</a:t>
            </a:r>
          </a:p>
        </p:txBody>
      </p:sp>
      <p:pic>
        <p:nvPicPr>
          <p:cNvPr id="6" name="Picture 5" descr="gnss_insar_추세선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276" y="914400"/>
            <a:ext cx="7127144" cy="44439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5468112"/>
            <a:ext cx="50292" cy="804672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C4469"/>
                </a:solidFill>
                <a:latin typeface="맑은 고딕"/>
              </a:rPr>
              <a:t>2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개소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보고서에 GNSS 수치표가 인쇄된 교량(16개소 중)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4210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4210" y="5468112"/>
            <a:ext cx="50292" cy="804672"/>
          </a:xfrm>
          <a:prstGeom prst="rect">
            <a:avLst/>
          </a:prstGeom>
          <a:solidFill>
            <a:srgbClr val="E06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7090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06C2C"/>
                </a:solidFill>
                <a:latin typeface="맑은 고딕"/>
              </a:rPr>
              <a:t>6 · 19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시점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7090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보고서 창(1년 · 3년)으로 자른 Sentinel-1 시점 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6941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6941" y="5468112"/>
            <a:ext cx="50292" cy="804672"/>
          </a:xfrm>
          <a:prstGeom prst="rect">
            <a:avLst/>
          </a:prstGeom>
          <a:solidFill>
            <a:srgbClr val="C03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9821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C03028"/>
                </a:solidFill>
                <a:latin typeface="맑은 고딕"/>
              </a:rPr>
              <a:t>±41 · ±7.8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mm/yr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9821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같은 창에서의 95% 신뢰구간 — 이 폭으로는 추세를 판별할 수 없다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정직하게 — 보고서 GNSS 는 2024 한 해(월드컵) 또는 2022~24 3년(샛강)뿐이고, 그 창으로 위성을 자르면 Sentinel-1(12일 주기)은 시점이 6~19개라 신뢰구간이 GNSS 값 전체를 삼킨다. 전체 8년으로 보면 샛강문화다리가 +0.49 mm/yr 로 보고서 GNSS 범위 안에 들지만, 그건 같은 기간을 잰 값이 아니다. GNSS 대조는 코너리플렉터·고해상도 SAR 이 있어야 성립한다.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⑦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디지털 트윈 위의 PS 점 — 교량마다, 부재에 묶어서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IFC 4.3 프록시 부재 + 측점 결합 · twin.viewer.html(자립형 3D) · 3D Tiles</a:t>
            </a:r>
          </a:p>
        </p:txBody>
      </p:sp>
      <p:pic>
        <p:nvPicPr>
          <p:cNvPr id="6" name="Picture 5" descr="hangang_트윈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626" y="914400"/>
            <a:ext cx="7572444" cy="44439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5468112"/>
            <a:ext cx="50292" cy="804672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C4469"/>
                </a:solidFill>
                <a:latin typeface="맑은 고딕"/>
              </a:rPr>
              <a:t>16/16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개소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좌표 하나로 IFC 트윈까지 나온 교량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4210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4210" y="5468112"/>
            <a:ext cx="50292" cy="8046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7090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E7D32"/>
                </a:solidFill>
                <a:latin typeface="맑은 고딕"/>
              </a:rPr>
              <a:t>1179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7090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트윈에 얹힌 교면 PS/DS 측점 합계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6941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6941" y="5468112"/>
            <a:ext cx="50292" cy="80467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9821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F6FB2"/>
                </a:solidFill>
                <a:latin typeface="맑은 고딕"/>
              </a:rPr>
              <a:t>94%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결합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9821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IFC 부재 GlobalId 에 묶인 측점 1112점 — 시계열↔부재 영구결합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결합률이 낮으면 측점이 데크 밖(제방·교대 주변)에 있거나 프록시 배치가 어긋난 것이다 — 그림으로 바로 보인다. 부재 결합은 IFC 4.3 GlobalId 외래키라 모델을 다시 만들어도 시계열이 따라간다.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⑧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산출물과 신뢰성 게이트 — 무엇이 나오고, 무엇을 올리지 않는가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맑은 고딕"/>
              </a:rPr>
              <a:t>교량 하나가 남기는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5577840" cy="310896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325880"/>
            <a:ext cx="144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산출물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2768" y="1325880"/>
            <a:ext cx="26243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1688" y="1325880"/>
            <a:ext cx="10153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소비처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636776"/>
            <a:ext cx="144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project.h5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2768" y="1636776"/>
            <a:ext cx="2624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InSAR·PINN·FRAM 전 단계 배열 + 출처 매니페스트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1688" y="1636776"/>
            <a:ext cx="1015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계약(전 하류)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65960"/>
            <a:ext cx="55778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965960"/>
            <a:ext cx="5577840" cy="329184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1965960"/>
            <a:ext cx="144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brief.png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2768" y="1965960"/>
            <a:ext cx="2624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건기연 브리프 4단 그림 (a)(b)(c)(d)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1688" y="1965960"/>
            <a:ext cx="1015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보고서·발표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295144"/>
            <a:ext cx="55778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2295144"/>
            <a:ext cx="144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*_proxy.ifc · twin.glb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2768" y="2295144"/>
            <a:ext cx="2624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IFC4 프록시 트윈 + 측점 GlobalId 결합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1688" y="2295144"/>
            <a:ext cx="1015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BIM·3D Tiles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624328"/>
            <a:ext cx="55778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2624328"/>
            <a:ext cx="5577840" cy="329184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" y="2624328"/>
            <a:ext cx="144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displacement.csv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2768" y="2624328"/>
            <a:ext cx="2624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점×시점 롱포맷 변위 (mm·ISO 날짜)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1688" y="2624328"/>
            <a:ext cx="1015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B-Maps 다운로드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953512"/>
            <a:ext cx="55778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" y="2953512"/>
            <a:ext cx="144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*_vlm.zip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2768" y="2953512"/>
            <a:ext cx="2624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manifest·summary·narrative·지식그래프·figures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1688" y="2953512"/>
            <a:ext cx="1015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VLM 팀 핸드오프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282696"/>
            <a:ext cx="55778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3282696"/>
            <a:ext cx="5577840" cy="329184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" y="3282696"/>
            <a:ext cx="144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결과.md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2768" y="3282696"/>
            <a:ext cx="2624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무엇을 어디서 가져왔고 무엇이 없었는지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1688" y="3282696"/>
            <a:ext cx="1015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감사 추적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611880"/>
            <a:ext cx="55778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675888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맑은 고딕"/>
              </a:rPr>
              <a:t>'BIM 에 InSAR 를 올린다'가 실제로 뜻하는 것</a:t>
            </a:r>
          </a:p>
        </p:txBody>
      </p:sp>
      <p:pic>
        <p:nvPicPr>
          <p:cNvPr id="38" name="Picture 37" descr="ondeck_jeongjag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915512"/>
            <a:ext cx="5577840" cy="198963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11480" y="5961888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800" b="0">
                <a:solidFill>
                  <a:srgbClr val="102A43"/>
                </a:solidFill>
                <a:latin typeface="맑은 고딕"/>
              </a:rPr>
              <a:t>지오코딩 산출물은 점을 DEM 지면에 놓고 δh/tanθ 만큼 밀어 둔다 — 둘 다 되돌려야 데크 위에 앉는다</a:t>
            </a:r>
          </a:p>
          <a:p>
            <a:pPr algn="l">
              <a:lnSpc>
                <a:spcPct val="122000"/>
              </a:lnSpc>
            </a:pPr>
            <a:r>
              <a:rPr sz="80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800" b="0">
                <a:solidFill>
                  <a:srgbClr val="102A43"/>
                </a:solidFill>
                <a:latin typeface="맑은 고딕"/>
              </a:rPr>
              <a:t>데크 폭은 추정이 아니라 OSM 양측 보도선 간격 + 보도 반폭 (그림은 정자교 · 방법은 모든 교량 공통)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100584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맑은 고딕"/>
              </a:rPr>
              <a:t>감사(audit) — 통과한 것만 플랫폼에 올린다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1371600"/>
            <a:ext cx="5532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1371600"/>
            <a:ext cx="54864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1371600"/>
            <a:ext cx="1051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32"/>
                </a:solidFill>
                <a:latin typeface="맑은 고딕"/>
              </a:rPr>
              <a:t>보고 가능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137160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교면 위 측점 확보 · 위상 언래핑 완료 · PINN 정상 수렴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2029968"/>
            <a:ext cx="5532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2029968"/>
            <a:ext cx="54864" cy="566928"/>
          </a:xfrm>
          <a:prstGeom prst="rect">
            <a:avLst/>
          </a:prstGeom>
          <a:solidFill>
            <a:srgbClr val="E06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2029968"/>
            <a:ext cx="1051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6C2C"/>
                </a:solidFill>
                <a:latin typeface="맑은 고딕"/>
              </a:rPr>
              <a:t>조건부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0" y="2029968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제원 출처가 불확실하거나 시점 수가 기준(≥100장) 미달 — 수치는 내되 판정 보류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2688336"/>
            <a:ext cx="5532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2688336"/>
            <a:ext cx="54864" cy="566928"/>
          </a:xfrm>
          <a:prstGeom prst="rect">
            <a:avLst/>
          </a:prstGeom>
          <a:solidFill>
            <a:srgbClr val="C03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2688336"/>
            <a:ext cx="1051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3028"/>
                </a:solidFill>
                <a:latin typeface="맑은 고딕"/>
              </a:rPr>
              <a:t>보고 불가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0" y="2688336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래핑 위상 · 교량 밖 측점 · 퇴화 PINN — B-Maps 로 아예 전송하지 않는다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3401568"/>
            <a:ext cx="5532120" cy="713232"/>
          </a:xfrm>
          <a:prstGeom prst="roundRect">
            <a:avLst/>
          </a:prstGeom>
          <a:solidFill>
            <a:srgbClr val="E7F0F8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3401568"/>
            <a:ext cx="51663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'보고 불가'는 전송 자체가 막힌다. 그리고 CRI 등급은 관측조건(노이즈·기간·에폭)이 기준치 학습 조건과 다르면 '잠정'으로 내려가고, API·B-Maps 탭까지 그 표시가 따라간다 — 이번 한강 3개 교량이 그 경우다.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61104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맑은 고딕"/>
              </a:rPr>
              <a:t>이 방식이 원리상 못 하는 것 — 먼저 밝힌다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572000"/>
            <a:ext cx="5532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절대 강성 EI 관측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InSAR 는 상대 변위라 자중 처짐을 못 본다. EI·f₁ 은 설계 제원 기반.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교면 PS 밀도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Sentinel-1 화소 ~11 m. 코너리플렉터·고해상도 SAR 가 답이다.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화소보다 작은 국부 손상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정자교 보도부 붕괴도 잔차 계단이 잡음과 구별되지 않았다.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단일 궤도 LOS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연직·수평 분해는 상승+하강 궤도가 모두 있어야 한다(융합 경로 구현 완료).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63640" y="5815584"/>
            <a:ext cx="5532120" cy="530352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73952" y="5815584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02A43"/>
                </a:solidFill>
                <a:latin typeface="맑은 고딕"/>
              </a:rPr>
              <a:t>못 하는 것을 적어 두는 이유 — 판정이 관측 한계 안에서 내려졌는지를 받는 쪽이 알아야 한다. 결과.md 가 교량마다 같은 목록을 함께 남긴다.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감사·전송 기록은 sync_state.json 에 남는다 — 무엇을 언제 왜 올렸는지/걸렀는지.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⑨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B-Maps 연동 — 사이드카 REST 마이크로서비스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설계·구현 완료 · 읽기 전용 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05840"/>
            <a:ext cx="5760720" cy="214884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2A43"/>
                </a:solidFill>
                <a:latin typeface="맑은 고딕"/>
              </a:rPr>
              <a:t>왜 사이드카인가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26464"/>
            <a:ext cx="5440680" cy="457200"/>
          </a:xfrm>
          <a:prstGeom prst="round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26464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B-Maps  [성능평가][노후도]…[★ InSAR 위성 변위 분석]  ← 새 탭(프론트)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20240"/>
            <a:ext cx="5440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        ↓  REST/JSON (교량관리번호로 조회)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39696"/>
            <a:ext cx="5440680" cy="402336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139696"/>
            <a:ext cx="5120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inframon-api (FastAPI 사이드카)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578608"/>
            <a:ext cx="5440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        ↓  읽기 전용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43200"/>
            <a:ext cx="544068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743200"/>
            <a:ext cx="51206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교량별 project.h5 (데이터 계약)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218688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본체를 오염시키지 않는다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GDAL·SARvey·PyTorch·WSL2 의존이 B-Maps 배포에 섞이지 않음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즉시 반영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파이프라인이 project.h5 를 갱신하면 다음 요청부터 새 값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내부망 + API Key 또는 B-Maps SSO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· CORS 는 B-Maps 도메인만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5760720" cy="274320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4041648"/>
            <a:ext cx="29167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맑은 고딕"/>
              </a:rPr>
              <a:t>B-Maps 탭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091" y="4041648"/>
            <a:ext cx="25148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맑은 고딕"/>
              </a:rPr>
              <a:t>엔드포인트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4315968"/>
            <a:ext cx="29167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상단 경보 배지(정상~위험 · 잠정 표시)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091" y="4315968"/>
            <a:ext cx="25148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/insar/summary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590288"/>
            <a:ext cx="57607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590288"/>
            <a:ext cx="5760720" cy="274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" y="4590288"/>
            <a:ext cx="29167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지도 측점 레이어(색=변위 또는 CRI)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5091" y="4590288"/>
            <a:ext cx="25148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/insar/points(.geojson)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864608"/>
            <a:ext cx="57607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" y="4864608"/>
            <a:ext cx="29167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측점 클릭 → 시계열 팝업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091" y="4864608"/>
            <a:ext cx="25148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/insar/points/{id}/series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138928"/>
            <a:ext cx="57607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5138928"/>
            <a:ext cx="5760720" cy="274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5138928"/>
            <a:ext cx="29167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CRI 안전성 추세 차트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5091" y="5138928"/>
            <a:ext cx="25148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/insar/cri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413248"/>
            <a:ext cx="57607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" y="5413248"/>
            <a:ext cx="29167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기능 공명 다이어그램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75091" y="5413248"/>
            <a:ext cx="25148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/insar/function-network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687568"/>
            <a:ext cx="57607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5687568"/>
            <a:ext cx="5760720" cy="274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" y="5687568"/>
            <a:ext cx="29167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가상센싱 거더·상판 변위장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75091" y="5687568"/>
            <a:ext cx="25148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/pinn/girder·deck-displacement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961888"/>
            <a:ext cx="57607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" y="5961888"/>
            <a:ext cx="29167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변위 CSV / VLM 패키지 내려받기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75091" y="5961888"/>
            <a:ext cx="25148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/insar/export.csv · vlm-package.zip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6236208"/>
            <a:ext cx="57607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bmaps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095785"/>
            <a:ext cx="5440680" cy="258159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355080" y="3785616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02A43"/>
                </a:solidFill>
                <a:latin typeface="맑은 고딕"/>
              </a:rPr>
              <a:t>실제 동작 화면 — 성수대교 (101시점 · 교면 103측점)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096512"/>
            <a:ext cx="5440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경보 배지가 '위험 (잠정)'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관측조건이 CRI 기준치 학습 조건과 달라 등급을 구조 상태로 읽지 말라는 표시가 API 에서 탭까지 따라온다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측점 클릭 → 시계열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LOS·종방향 변위와 CRI, PINN 절대 강성 EI·열팽창계수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변위 CSV · VLM 패키지(zip)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탭 오른쪽 위 버튼 그대로 내려받기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VWorld 베이스맵 어댑터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· React 컴포넌트 예제 동봉(examples/bmaps_tab/)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python -m inframon --serve-api --registry data/bridge_registry.json  →  GET /api/v1/bridges  ·  좌표 WGS84(lat,lon) 또는 EPSG:5179 선택 · 변위 mm · 날짜 ISO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⑩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합의가 필요한 것 ·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맑은 고딕"/>
              </a:rPr>
              <a:t>지금 KICT 와 정해야 하는 3가지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35024"/>
            <a:ext cx="55778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35024"/>
            <a:ext cx="54864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4475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A43"/>
                </a:solidFill>
                <a:latin typeface="맑은 고딕"/>
              </a:rPr>
              <a:t>① 교량관리번호 체계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19072"/>
            <a:ext cx="5212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5A636B"/>
                </a:solidFill>
                <a:latin typeface="맑은 고딕"/>
              </a:rPr>
              <a:t>bridge_id 를 B-Maps 교량관리번호와 1:1 매핑. 모든 엔드포인트의 경로 파라미터라 이것부터 정해야 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267712"/>
            <a:ext cx="55778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267712"/>
            <a:ext cx="54864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37744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A43"/>
                </a:solidFill>
                <a:latin typeface="맑은 고딕"/>
              </a:rPr>
              <a:t>② 지도 좌표계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651760"/>
            <a:ext cx="5212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5A636B"/>
                </a:solidFill>
                <a:latin typeface="맑은 고딕"/>
              </a:rPr>
              <a:t>B-Maps 지도가 WGS84 인지 EPSG:5179 타일인지. 5179 면 재투영을 생략하는 옵션으로 바로 맞춘다.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200400"/>
            <a:ext cx="55778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00400"/>
            <a:ext cx="54864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310128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A43"/>
                </a:solidFill>
                <a:latin typeface="맑은 고딕"/>
              </a:rPr>
              <a:t>③ 인증 방식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584448"/>
            <a:ext cx="5212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5A636B"/>
                </a:solidFill>
                <a:latin typeface="맑은 고딕"/>
              </a:rPr>
              <a:t>내부망 전용 / API Key(X-API-Key) / B-Maps SSO 중 택1.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242816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맑은 고딕"/>
              </a:rPr>
              <a:t>KICT 측 자료가 있으면 바로 좋아지는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572000"/>
            <a:ext cx="5577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실 교량 제원(연장·경간·폭·형하고)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지금은 전국교량표준데이터·OSM 추정. PINN EI 가 제원 기반이라 여기서 정확도가 갈린다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점검·보수 이력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CRI 이상 구간과 대조하면 참고지표가 검증 가능한 지표가 된다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코너리플렉터 설치 후보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교면 PS 밀도의 유일한 실질적 해법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건강 교량 CRI 코호트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지금 기준치는 합성 코호트(노이즈 10mm·24시점)다. 한강 15개소 실측으로 재적합하면 등급이 '잠정'을 벗는다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00584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맑은 고딕"/>
              </a:rPr>
              <a:t>단계별 계획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335024"/>
            <a:ext cx="5532120" cy="310896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335024"/>
            <a:ext cx="37777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8301" y="1335024"/>
            <a:ext cx="374043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내용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93327" y="1335024"/>
            <a:ext cx="92013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상태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1645920"/>
            <a:ext cx="3777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8301" y="1645920"/>
            <a:ext cx="3740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InSAR·PINN·FRAM 파이프라인 · 데이터 계약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93327" y="1645920"/>
            <a:ext cx="92013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E7D32"/>
                </a:solidFill>
                <a:latin typeface="맑은 고딕"/>
              </a:rPr>
              <a:t>완료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011680"/>
            <a:ext cx="55321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2011680"/>
            <a:ext cx="5532120" cy="3657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5936" y="2011680"/>
            <a:ext cx="3777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8301" y="2011680"/>
            <a:ext cx="3740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실 Sentinel-1 전 파이프라인 관통(교량 23개소)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93327" y="2011680"/>
            <a:ext cx="92013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E7D32"/>
                </a:solidFill>
                <a:latin typeface="맑은 고딕"/>
              </a:rPr>
              <a:t>완료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377440"/>
            <a:ext cx="55321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2377440"/>
            <a:ext cx="3777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8301" y="2377440"/>
            <a:ext cx="3740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B-Maps REST 사이드카 12 엔드포인트 · 탭 예제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93327" y="2377440"/>
            <a:ext cx="92013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E7D32"/>
                </a:solidFill>
                <a:latin typeface="맑은 고딕"/>
              </a:rPr>
              <a:t>완료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743200"/>
            <a:ext cx="55321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2743200"/>
            <a:ext cx="5532120" cy="3657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2743200"/>
            <a:ext cx="3777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8301" y="2743200"/>
            <a:ext cx="3740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교량관리번호·좌표계·인증 합의 → 스테이징 연동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93327" y="2743200"/>
            <a:ext cx="92013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협의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108960"/>
            <a:ext cx="55321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5936" y="3108960"/>
            <a:ext cx="3777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88301" y="3108960"/>
            <a:ext cx="3740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B-Maps 운영 탭 탑재 · 신규 SLC 자동 갱신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93327" y="3108960"/>
            <a:ext cx="92013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A636B"/>
                </a:solidFill>
                <a:latin typeface="맑은 고딕"/>
              </a:rPr>
              <a:t>예정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474720"/>
            <a:ext cx="55321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3474720"/>
            <a:ext cx="5532120" cy="3657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45936" y="3474720"/>
            <a:ext cx="3777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8301" y="3474720"/>
            <a:ext cx="3740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CR 설치·고해상도 SAR 로 교면 밀도 보강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93327" y="3474720"/>
            <a:ext cx="92013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A636B"/>
                </a:solidFill>
                <a:latin typeface="맑은 고딕"/>
              </a:rPr>
              <a:t>예정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840480"/>
            <a:ext cx="55321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45936" y="3840480"/>
            <a:ext cx="3777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8301" y="3840480"/>
            <a:ext cx="3740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VLM 시방서 평가(타 팀) 로 패키지 인계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93327" y="3840480"/>
            <a:ext cx="92013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A636B"/>
                </a:solidFill>
                <a:latin typeface="맑은 고딕"/>
              </a:rPr>
              <a:t>소켓 제공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4206240"/>
            <a:ext cx="55321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263640" y="4343400"/>
            <a:ext cx="5532120" cy="1737360"/>
          </a:xfrm>
          <a:prstGeom prst="roundRect">
            <a:avLst/>
          </a:prstGeom>
          <a:solidFill>
            <a:srgbClr val="E7F0F8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73952" y="44988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A43"/>
                </a:solidFill>
                <a:latin typeface="맑은 고딕"/>
              </a:rPr>
              <a:t>연동 시연은 지금 바로 가능합니다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3952" y="4809744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레지스트리에 교량관리번호만 넣으면 그 교량이 탭에 뜬다</a:t>
            </a:r>
          </a:p>
          <a:p>
            <a:pPr algn="l">
              <a:lnSpc>
                <a:spcPct val="130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새 SLC 가 쌓이면 --bmap-sync 가 감사 통과분만 자동 갱신</a:t>
            </a:r>
          </a:p>
          <a:p>
            <a:pPr algn="l">
              <a:lnSpc>
                <a:spcPct val="130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이미 받아 두신 아카이브(.SAFE)가 있으면 그 자리에서 처리 — 재다운로드 없음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문의 · 재현 자료: README.md · docs/Bmaps_연동_인터페이스.md · examples/bmaps_tab/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