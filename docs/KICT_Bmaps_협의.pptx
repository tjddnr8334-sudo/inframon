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74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20"/>
            <a:ext cx="12191695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</a:rPr>
              <a:t>inframon</a:t>
            </a:r>
            <a:r>
              <a:rPr sz="2400" b="1">
                <a:solidFill>
                  <a:srgbClr val="FFFFFF"/>
                </a:solidFill>
                <a:latin typeface="맑은 고딕"/>
              </a:rPr>
              <a:t> — 위성 InSAR·PINN 기반 교량 변위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BFD6E8"/>
                </a:solidFill>
                <a:latin typeface="맑은 고딕"/>
              </a:rPr>
              <a:t>좌표 하나로 Sentinel-1 아카이브 → 교면 변위 시계열 → 구조 역산 → 디지털트윈 → B-Maps 탭까지 자동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898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FADC6"/>
                </a:solidFill>
                <a:latin typeface="맑은 고딕"/>
              </a:rPr>
              <a:t>KICT B-Maps 연동 협의자료   |   위성데이터 기반 변위 예측·AI 연계 중소형 교량 지능형 스마트 유지관리 (RS-2026-25521660)</a:t>
            </a:r>
          </a:p>
        </p:txBody>
      </p:sp>
      <p:sp>
        <p:nvSpPr>
          <p:cNvPr id="8" name="Pentagon 7"/>
          <p:cNvSpPr/>
          <p:nvPr/>
        </p:nvSpPr>
        <p:spPr>
          <a:xfrm>
            <a:off x="566928" y="2176272"/>
            <a:ext cx="1789633" cy="804672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21992"/>
            <a:ext cx="134706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⓪ 교량·SLC 선별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제원·ROI·프레임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ERA5 master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420569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2905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① InSAR 처리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 코레지·간섭도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snaphu 언래핑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4210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6546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② 교면 점 정합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쉬프트 보정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데크 ±30 m</a:t>
            </a:r>
          </a:p>
        </p:txBody>
      </p:sp>
      <p:sp>
        <p:nvSpPr>
          <p:cNvPr id="14" name="Chevron 13"/>
          <p:cNvSpPr/>
          <p:nvPr/>
        </p:nvSpPr>
        <p:spPr>
          <a:xfrm>
            <a:off x="6127852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0188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③ PINN 역산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열·하중·침하·이상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가상센싱</a:t>
            </a:r>
          </a:p>
        </p:txBody>
      </p:sp>
      <p:sp>
        <p:nvSpPr>
          <p:cNvPr id="16" name="Chevron 15"/>
          <p:cNvSpPr/>
          <p:nvPr/>
        </p:nvSpPr>
        <p:spPr>
          <a:xfrm>
            <a:off x="7981493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9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④ FRAM·수명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공진위험 CRI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4단계 경보</a:t>
            </a:r>
          </a:p>
        </p:txBody>
      </p:sp>
      <p:sp>
        <p:nvSpPr>
          <p:cNvPr id="18" name="Chevron 17"/>
          <p:cNvSpPr/>
          <p:nvPr/>
        </p:nvSpPr>
        <p:spPr>
          <a:xfrm>
            <a:off x="9835134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7470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⑤ 산출·연동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IFC 트윈·CSV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B-Maps REST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127248"/>
            <a:ext cx="50292" cy="11155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51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장면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Sentinel-1 SLC (ASC path127)
2018-06-19 ~ 2025-12-27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6252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6252" y="3127248"/>
            <a:ext cx="50292" cy="111556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9132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9132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SLC 로 관통한 교량(한강 16개소 포함)
(같은 아카이브·같은 코드)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5576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5576" y="3127248"/>
            <a:ext cx="50292" cy="11155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456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178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456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결합 PS/DS 측점 · 101시점 시계열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4899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4899" y="3127248"/>
            <a:ext cx="50292" cy="111556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B-Maps 연동 REST 엔드포인트
(구현 완료 · 읽기 전용)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98848"/>
            <a:ext cx="5760720" cy="175564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실행은 한 줄 — 교량을 갈아 끼우는 데 코드 수정이 없다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983480"/>
            <a:ext cx="534924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983480"/>
            <a:ext cx="5120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python scripts/bridge_run.py --name 성수대교 \
    --lat 37.5374 --lon 127.0351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504688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트랙이 없으면 SLC 선별·다운로드·SNAP 처리부터 스스로 만든다</a:t>
            </a:r>
          </a:p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둔 기관 아카이브(.SAFE)면 그 자리에서 읽는다 — 재다운로드 없음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7104" y="4498848"/>
            <a:ext cx="5077663" cy="17556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6451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B-Maps 가 비어 있는 축을 채운다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9560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기존 탭은 현장 계측·점검 기반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성능평가·노후도·내하·계측안전성 …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성수대교·한강대교는 '처짐(경사)' 센서가 미설치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감시항목 순위엔 올라 있다(2024 한강교량 온라인 최종보고)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위성 InSAR 가 그 자리를 센서 없이 채운다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설치된 항목과는 교차검증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⚠ 연구용 프로토타입 — 전 파이프라인·해석해 검증 완료, 현장·상용FEM·실 붕괴라벨 검증 미수행. 산출은 파이프라인 결과이며 실무 안전판정이 아니다.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(1/2) — 교량을 고르고, 장면 수를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명령줄 없음 · 대시보드 ⓪ 시작 탭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960120"/>
            <a:ext cx="2222541" cy="566928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05840"/>
            <a:ext cx="191073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① 준비 상태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SNAP·snaphu·토큰</a:t>
            </a:r>
          </a:p>
        </p:txBody>
      </p:sp>
      <p:sp>
        <p:nvSpPr>
          <p:cNvPr id="8" name="Chevron 7"/>
          <p:cNvSpPr/>
          <p:nvPr/>
        </p:nvSpPr>
        <p:spPr>
          <a:xfrm>
            <a:off x="2698029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1493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② 교량명 검색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성수대교 → 찾기</a:t>
            </a:r>
          </a:p>
        </p:txBody>
      </p:sp>
      <p:sp>
        <p:nvSpPr>
          <p:cNvPr id="10" name="Chevron 9"/>
          <p:cNvSpPr/>
          <p:nvPr/>
        </p:nvSpPr>
        <p:spPr>
          <a:xfrm>
            <a:off x="4984577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8041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③ 장면 수·기간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51장 · 2018~2025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71126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4590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④ 계획 보기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몇 초 · 무료</a:t>
            </a:r>
          </a:p>
        </p:txBody>
      </p:sp>
      <p:sp>
        <p:nvSpPr>
          <p:cNvPr id="14" name="Chevron 13"/>
          <p:cNvSpPr/>
          <p:nvPr/>
        </p:nvSpPr>
        <p:spPr>
          <a:xfrm>
            <a:off x="9557675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41139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⑤ 전체 실행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SLC→트윈까지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교량명으로 찾기 — '성수대교'</a:t>
            </a:r>
          </a:p>
        </p:txBody>
      </p:sp>
      <p:pic>
        <p:nvPicPr>
          <p:cNvPr id="18" name="Picture 17" descr="w3_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40" y="2048256"/>
            <a:ext cx="5135785" cy="263347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11480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교량명 입력 → 🔎 찾기 → 검색 결과 '성수대교 · CSV · 37.5322,127.0342 · 1160m' → '이 교량으로 설정' (위도·경도가 자동으로 채워진다)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엔진 · SLC 장면 수 · 조회 기간</a:t>
            </a:r>
          </a:p>
        </p:txBody>
      </p:sp>
      <p:pic>
        <p:nvPicPr>
          <p:cNvPr id="23" name="Picture 22" descr="w4_run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684" y="2048256"/>
            <a:ext cx="4324871" cy="263347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144768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snap 엔진 · 장면 수 51 · 2018-06-19~2025-12-27 → 화면이 바로 '51장 · 90개월 · 약 357 GB — 기준 충족' 이라고 알려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175504"/>
            <a:ext cx="11368735" cy="111556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257800"/>
            <a:ext cx="109115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여기서 정하는 것이 결과의 정밀도를 정한다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22976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SLC 장면 수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화면이 바로 계산해 준다: '51장 · 90개월 · 약 357 GB — 속도·CI 판정 기준(25장·12개월) 충족'. 기준 미달이면 노란 경고가 뜨고 그 사실이 감사 기록에도 남는다.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조회 기간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속도의 95% 신뢰구간은 장면 수와 기간이 정한다. 기간이 짧으면 '추세 없음'도 '추세 있음'도 말할 수 없다.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교량 선택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전국교량표준데이터 + OSM 을 함께 찾는다. 어떤 교량이든 된다 — 특정 교량 전용 도구가 아니다.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① 준비 상태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그 앞 화면에서 처리 레인 3/3 · 점검 8/8 을 먼저 확인한다. '모든 항목 준비 완료' 가 아니면 무엇이 없는지와 설치 명령을 그 자리에 띄운다.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화면 캡처는 실제 동작 화면 그대로 — scripts/capture_workflow.py 로 다시 찍을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②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(2/2) — 계획을 확인하고, 결과를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⓪ 시작 → ① InSAR → ② PINN → ③ FRAM → ④ 잔존수명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6400800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960120"/>
            <a:ext cx="6144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📋 계획 보기 — 누르기 전에 무엇이 돌지 먼저 본다</a:t>
            </a:r>
          </a:p>
        </p:txBody>
      </p:sp>
      <p:pic>
        <p:nvPicPr>
          <p:cNvPr id="8" name="Picture 7" descr="w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41" y="1380744"/>
            <a:ext cx="5790878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1380744"/>
            <a:ext cx="6400800" cy="4114800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95544"/>
            <a:ext cx="6400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네트워크 조회만 해서 몇 초. ①교량선정 ②④SLC·트랙·프레임 ⑤ERA5 master ⑥궤도·DEM ⑦연직분해 ⑪교량메타 까지 실제로 조회하고, ⑧~⑭ 는 '전체 실행 시 무엇을 할지' 를 보여 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6016" y="960120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960120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① InSAR 탭 — ▶ 이 단계 실행</a:t>
            </a:r>
          </a:p>
        </p:txBody>
      </p:sp>
      <p:pic>
        <p:nvPicPr>
          <p:cNvPr id="13" name="Picture 12" descr="w6_ins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62" y="1380744"/>
            <a:ext cx="2026364" cy="15910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986016" y="1380744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971800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한 번에 끝까지 가려면 ⓪ 시작의 ▶ 전체 실행, 한 단계씩 보려면 각 탭의 ▶ 이 단계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6016" y="3483864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483864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⑥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③ FRAM 탭 — CRI·경보(잠정 표시 포함)</a:t>
            </a:r>
          </a:p>
        </p:txBody>
      </p:sp>
      <p:pic>
        <p:nvPicPr>
          <p:cNvPr id="18" name="Picture 17" descr="w8_f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562" y="3904488"/>
            <a:ext cx="2026364" cy="15910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86016" y="3904488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5495544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관측조건이 기준치 학습 조건과 다르면 배지가 '위험 (잠정)' 으로 내려가고 사유가 함께 뜬다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▶ 전체 실행은 SLC 다운로드·SAR 처리로 수 시간 — 계획 보기로 장면 수·기간·용량을 먼저 확인하고 누르는 것이 정석이다.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③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한강 교량 16개소 실증 — 교량만 갈아 끼웠다 (전수)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Sentinel-1 ASC path127 · 51장면 · 2018-06-19 ~ 2025-12-27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6969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상부형식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0162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연장×폭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3354" y="1024128"/>
            <a:ext cx="6127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준공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0704" y="1024128"/>
            <a:ext cx="5155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0885" y="1024128"/>
            <a:ext cx="8070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교면 측점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2571" y="1024128"/>
            <a:ext cx="177878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LOS 변위속도 ±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5945" y="1024128"/>
            <a:ext cx="90426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CI 가 0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4800" y="1024128"/>
            <a:ext cx="19731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현장 SHM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3350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행주대교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6969" y="13350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사장·PSC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0162" y="13350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1460×14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3354" y="133502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0704" y="133502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0885" y="133502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75 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2571" y="133502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-2.30 ± 3.30 mm/yr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5945" y="133502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4800" y="133502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5864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58648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15864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6969" y="15864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0162" y="15864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1700×34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3354" y="158648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0704" y="158648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0885" y="158648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167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2571" y="158648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+0.17 ± 2.99 mm/yr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5945" y="158648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4800" y="158648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18379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" y="18379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월드컵대교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6969" y="18379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사장·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0162" y="18379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1492×31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3354" y="183794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0704" y="183794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0885" y="183794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82 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2571" y="183794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-4.26 ± 5.47 mm/yr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5945" y="183794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4800" y="183794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20894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208940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0894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성산대교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6969" y="20894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20162" y="20894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1410×8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3354" y="208940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60704" y="208940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0885" y="208940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56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2571" y="208940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-0.36 ± 3.20 mm/yr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5945" y="208940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4800" y="208940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3408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" y="23408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양화대교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56969" y="23408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20162" y="23408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1457×8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3354" y="234086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60704" y="234086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40885" y="234086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54 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2571" y="234086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+0.07 ± 2.48 mm/yr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55945" y="234086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81%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24800" y="234086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25923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1480" y="259232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" y="25923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서강대교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56969" y="25923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아치·강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20162" y="25923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1771×7 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83354" y="259232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60704" y="259232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40885" y="259232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38 점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12571" y="259232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+0.40 ± 1.29 mm/yr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55945" y="259232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24800" y="259232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28437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3776" y="28437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원효대교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56969" y="28437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박스거더·PSC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20162" y="28437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2171×20 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83354" y="284378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1981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60704" y="284378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40885" y="284378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45 점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12571" y="284378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-0.36 ± 1.72 mm/yr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55945" y="284378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24800" y="284378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11480" y="30952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11480" y="309524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3776" y="30952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한강대교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56969" y="30952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아치·강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20162" y="30952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841×20 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83354" y="309524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60704" y="309524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40885" y="309524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 점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12571" y="309524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+1.78 ± 1.42 mm/yr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55945" y="309524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E06C2C"/>
                </a:solidFill>
                <a:latin typeface="맑은 고딕"/>
              </a:rPr>
              <a:t>26%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724800" y="309524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이내(신축변위 지속관찰)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11480" y="33467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3776" y="33467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잠수교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756969" y="33467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거더·강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020162" y="33467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795×18 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83354" y="334670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1976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60704" y="334670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740885" y="334670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68 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12571" y="334670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-1.02 ± 2.18 mm/yr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55945" y="334670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99%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24800" y="334670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11480" y="35981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11480" y="359816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93776" y="35981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756969" y="35981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트러스·강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20162" y="35981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1160×35 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83354" y="359816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1997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60704" y="359816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40885" y="359816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103 점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12571" y="359816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-0.17 ± 1.30 mm/yr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55945" y="359816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83%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24800" y="359816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11480" y="38496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93776" y="38496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영동대교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56969" y="38496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거더·강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020162" y="38496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946×6 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283354" y="384962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060704" y="384962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40885" y="384962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55 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712571" y="384962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-0.14 ± 1.45 mm/yr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55945" y="384962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75%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724800" y="384962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11480" y="41010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11480" y="410108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3776" y="41010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청담대교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56969" y="41010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거더·강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020162" y="410108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982×14 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283354" y="410108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60704" y="410108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740885" y="410108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 점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712571" y="410108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-0.99 ± 1.73 mm/yr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55945" y="410108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95%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24800" y="410108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11480" y="43525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93776" y="43525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756969" y="43525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사장·강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020162" y="435254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1470×30 m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83354" y="435254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1990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60704" y="435254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740885" y="435254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56 점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712571" y="435254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-1.38 ± 2.16 mm/yr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655945" y="435254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80%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724800" y="435254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11480" y="46040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11480" y="460400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93776" y="46040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천호대교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56969" y="46040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20162" y="460400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1149×35 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283354" y="460400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060704" y="460400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740885" y="460400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54 점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712571" y="460400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-0.66 ± 2.34 mm/yr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55945" y="460400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93%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24800" y="460400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11480" y="48554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93776" y="48554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56969" y="48554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아치·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020162" y="485546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1136×28 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283354" y="485546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2016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060704" y="485546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740885" y="485546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237 점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12571" y="485546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-0.23 ± 2.64 mm/yr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655945" y="485546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724800" y="485546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11480" y="51069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11480" y="5106924"/>
            <a:ext cx="11368735" cy="2514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93776" y="51069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>
                <a:solidFill>
                  <a:srgbClr val="102A43"/>
                </a:solidFill>
                <a:latin typeface="맑은 고딕"/>
              </a:rPr>
              <a:t>샛강다리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756969" y="51069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거더·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020162" y="5106924"/>
            <a:ext cx="1098601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327×6 m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283354" y="5106924"/>
            <a:ext cx="612757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060704" y="5106924"/>
            <a:ext cx="51558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740885" y="5106924"/>
            <a:ext cx="807095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50 점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712571" y="5106924"/>
            <a:ext cx="1778782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+0.50 ± 2.74 mm/yr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655945" y="5106924"/>
            <a:ext cx="904263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2E7D32"/>
                </a:solidFill>
                <a:latin typeface="맑은 고딕"/>
              </a:rPr>
              <a:t>96%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724800" y="5106924"/>
            <a:ext cx="1973119" cy="2514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11480" y="53583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411480" y="5468112"/>
            <a:ext cx="11368735" cy="402336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21792" y="5468112"/>
            <a:ext cx="1095725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판독 —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교면 측점의 LOS 변위속도 95% 신뢰구간이 0 을 포함한다(15/16개소 — 가장 높은 곳은 암사대교 100%·잠수교 99%·가양대교 98%). 관측 정밀도 안에서 유의한 거동이 없다는 뜻이고, 2024년 현장 SHM 의 '관리기준 이내' 판정과 어긋나지 않는다.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LOS 변위속도는 교면 ±30 m 결합 측점의 중앙값 ± 95% 신뢰구간(부호 −=위성에서 멀어짐). 'CI 가 0 포함' 이 높을수록 유의한 거동이 없다는 뜻. 현장 SHM 은 2024년 한강교량 온라인 안전감시시스템 유지관리 최종보고의 판정.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④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교량별 산출 — 건기연 브리프 4단 그림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brief.png · 교량 폴더에 자동 생성</a:t>
            </a:r>
          </a:p>
        </p:txBody>
      </p:sp>
      <p:pic>
        <p:nvPicPr>
          <p:cNvPr id="6" name="Picture 5" descr="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0786"/>
            <a:ext cx="7635240" cy="47444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24128"/>
            <a:ext cx="7635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75320" y="1097280"/>
            <a:ext cx="35204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(a) 점을 교량 위에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가로=교대에서 잰 거리, 세로=중심선에서 벗어난 거리. ×는 정밀도 기준에 못 미쳐 뺀 점.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(b) 교면 위가 맞나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위 점이 제방 점보다 유의하게 높아야 한다. 아니면 뒤 숫자를 믿으면 안 된다.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(c) 어디가 얼마나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점마다 mm/yr ± 95% CI. 초록 띠(±0.5) 안이면 '움직임 없음'.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(d) 시간에 따라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점 중앙값 시계열. 흔들림은 계절(열), 기울기가 장기 변위.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2980944"/>
            <a:ext cx="3520440" cy="841248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2980944"/>
            <a:ext cx="3246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한 줄로 — 이 레인은 시점별 잡음이 ±14 mm 라 **점 하나의 mm/yr 는 못 믿는다.** 그래서 (c)(d) 에서 점 하나가 아니라 **교면 점 전체의 중앙값 ± 신뢰구간**까지만 말한다. 그 이상은 이 데이터가 답하지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96849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현장 계측이 비워 둔 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4279392"/>
            <a:ext cx="352044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79392"/>
            <a:ext cx="5897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1996" y="4279392"/>
            <a:ext cx="17632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SHM 감시항목(설치)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9856" y="4279392"/>
            <a:ext cx="6736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위성 InSAR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455371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1996" y="455371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9856" y="455371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91947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4919472"/>
            <a:ext cx="352044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6" y="491947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한강대교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1996" y="491947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신축변위◯·처짐◯·바닥판진동◯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39856" y="491947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20" y="528523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528523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996" y="528523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케이블장력◯·주탑경사◯·신축변위◯·처짐◯·바닥판진동◯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9856" y="528523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565099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5760720"/>
            <a:ext cx="3520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성수대교·한강대교는 감시항목 순위에 '처짐(경사)'이 올라 있는데 센서가 미설치다(2024 최종보고). 위성 InSAR 는 센서 없이 그 항목을 채우고, 설치된 항목과는 결과가 서로 맞는지 대조된다.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그림은 산출물 그대로 — 발표용으로 다시 그리지 않는다. 재현: python scripts/bridge_run.py --name &lt;교량&gt; --lat &lt;위도&gt; --lon &lt;경도&gt; --track &lt;트랙&gt;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⑤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측점은 어디서 나오나 — 암사대교 전 과정을 한 장에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OSM 데크선 · 쉬프트 되돌림 · 데크 ±30 m 선별 · IFC 부재 결합</a:t>
            </a:r>
          </a:p>
        </p:txBody>
      </p:sp>
      <p:pic>
        <p:nvPicPr>
          <p:cNvPr id="6" name="Picture 5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686" y="914400"/>
            <a:ext cx="8332324" cy="4553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541264"/>
            <a:ext cx="50292" cy="7680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20000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트랙 전체(이 교량 반경 안 PS/DS 후보)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541264"/>
            <a:ext cx="50292" cy="768096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32.4 m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형하고 때문에 밀린 거리 δh/tanθ — 되돌려야 교면에 앉는다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541264"/>
            <a:ext cx="50292" cy="76809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237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데크 ±30 m 안으로 남은 교면 측점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ⓐ→ⓑ 선별은 파이프라인 ④단계와 같은 코드다(geolocation.apply_correction + deck_geometry.project_to_polyline) — 발표용으로 다시 고른 것이 아니다. ⓒ→ⓓ 는 트윈 산출물(twin.viewer.html)을 그대로 읽는다.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⑥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디지털 트윈 위의 PS 점 — 교량마다, 부재에 묶어서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부재 + 측점 결합 · twin.viewer.html(자립형 3D) · 3D Tiles</a:t>
            </a:r>
          </a:p>
        </p:txBody>
      </p:sp>
      <p:pic>
        <p:nvPicPr>
          <p:cNvPr id="6" name="Picture 5" descr="hangang_트윈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626" y="914400"/>
            <a:ext cx="75724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좌표 하나로 IFC 트윈까지 나온 교량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트윈에 얹힌 교면 PS/DS 측점 합계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94%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결합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 부재 GlobalId 에 묶인 측점 1113점 — 시계열↔부재 영구결합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결합률이 낮으면 측점이 데크 밖(제방·교대 주변)에 있거나 프록시 배치가 어긋난 것이다 — 그림으로 바로 보인다. 부재 결합은 IFC 4.3 GlobalId 외래키라 모델을 다시 만들어도 시계열이 따라간다.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⑦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OSM 에서 무엇을 가져오는가 — 한강 16개소 교면선 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교면 중심선이 틀리면 뒤의 모든 숫자가 틀린다</a:t>
            </a:r>
          </a:p>
        </p:txBody>
      </p:sp>
      <p:pic>
        <p:nvPicPr>
          <p:cNvPr id="6" name="Picture 5" descr="hangang_지도_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" y="932688"/>
            <a:ext cx="6462979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389120"/>
            <a:ext cx="6720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36B"/>
                </a:solidFill>
                <a:latin typeface="맑은 고딕"/>
              </a:rPr>
              <a:t>지도는 산출물 그대로 — </a:t>
            </a:r>
            <a:r>
              <a:rPr sz="1000" b="1">
                <a:solidFill>
                  <a:srgbClr val="102A43"/>
                </a:solidFill>
                <a:latin typeface="맑은 고딕"/>
              </a:rPr>
              <a:t>docs/bridges/한강_지도.html</a:t>
            </a:r>
            <a:r>
              <a:rPr sz="1000" b="0">
                <a:solidFill>
                  <a:srgbClr val="5A636B"/>
                </a:solidFill>
                <a:latin typeface="맑은 고딕"/>
              </a:rPr>
              <a:t> (교량을 누르면 그 교량의 결과·산출물 링크가 뜬다)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바탕지도는 Esri — tile.openstreetmap.org 는 클라이언트에 따라 차단돼 'Access blocked' 가 뜨고, CARTO 는 키를 요구한다.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932688"/>
            <a:ext cx="4419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OSM way 를 그대로 믿지 않는다 — 네 가지를 고친다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298448"/>
            <a:ext cx="4419295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1353312"/>
            <a:ext cx="416326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이름과 연장이 함께 맞아야 한다</a:t>
            </a:r>
          </a:p>
          <a:p>
            <a:pPr algn="l">
              <a:lnSpc>
                <a:spcPct val="105000"/>
              </a:lnSpc>
            </a:pPr>
            <a:r>
              <a:rPr sz="880" b="0">
                <a:solidFill>
                  <a:srgbClr val="5A636B"/>
                </a:solidFill>
                <a:latin typeface="맑은 고딕"/>
              </a:rPr>
              <a:t>이름만 믿으면 같은 이름의 접속 고가부가 잡힌다(내곡교 401 m ↔ 실교량 162 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901952"/>
            <a:ext cx="4419295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8936" y="1956816"/>
            <a:ext cx="416326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닫힌 way 는 한쪽 차도만 남긴다</a:t>
            </a:r>
          </a:p>
          <a:p>
            <a:pPr algn="l">
              <a:lnSpc>
                <a:spcPct val="105000"/>
              </a:lnSpc>
            </a:pPr>
            <a:r>
              <a:rPr sz="880" b="0">
                <a:solidFill>
                  <a:srgbClr val="5A636B"/>
                </a:solidFill>
                <a:latin typeface="맑은 고딕"/>
              </a:rPr>
              <a:t>양방향을 도는 선이면 첫점=끝점이라 방위가 0° 로 계산된다(5개소에서 그랬다)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2505456"/>
            <a:ext cx="4419295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8936" y="2560320"/>
            <a:ext cx="416326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굽은 접속램프는 잘라낸다</a:t>
            </a:r>
          </a:p>
          <a:p>
            <a:pPr algn="l">
              <a:lnSpc>
                <a:spcPct val="105000"/>
              </a:lnSpc>
            </a:pPr>
            <a:r>
              <a:rPr sz="880" b="0">
                <a:solidFill>
                  <a:srgbClr val="5A636B"/>
                </a:solidFill>
                <a:latin typeface="맑은 고딕"/>
              </a:rPr>
              <a:t>현 대비 편차 8 % 를 넘을 때만 — 본교까지 자르면 안 된다(청담 12.7 %)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3108960"/>
            <a:ext cx="4419295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3163824"/>
            <a:ext cx="416326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F6FB2"/>
                </a:solidFill>
                <a:latin typeface="맑은 고딕"/>
              </a:rPr>
              <a:t>맞는 way 가 없으면 표준데이터 선분</a:t>
            </a:r>
          </a:p>
          <a:p>
            <a:pPr algn="l">
              <a:lnSpc>
                <a:spcPct val="105000"/>
              </a:lnSpc>
            </a:pPr>
            <a:r>
              <a:rPr sz="880" b="0">
                <a:solidFill>
                  <a:srgbClr val="5A636B"/>
                </a:solidFill>
                <a:latin typeface="맑은 고딕"/>
              </a:rPr>
              <a:t>가양·한강·성수·올림픽 4개소는 OSM way 가 토막나 시점–종점 선분을 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895344"/>
            <a:ext cx="1412138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3895344"/>
            <a:ext cx="50292" cy="7315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4041648"/>
            <a:ext cx="113781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11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480560"/>
            <a:ext cx="11378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OSM way 에서 뽑은 교면선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4498" y="3895344"/>
            <a:ext cx="1412138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4498" y="3895344"/>
            <a:ext cx="50292" cy="731520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47378" y="4041648"/>
            <a:ext cx="113781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7378" y="4480560"/>
            <a:ext cx="11378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표준데이터 시점–종점 선분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68077" y="3895344"/>
            <a:ext cx="1412138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368077" y="3895344"/>
            <a:ext cx="50292" cy="731520"/>
          </a:xfrm>
          <a:prstGeom prst="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50957" y="4041648"/>
            <a:ext cx="113781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5A636B"/>
                </a:solidFill>
                <a:latin typeface="맑은 고딕"/>
              </a:rPr>
              <a:t>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50957" y="4480560"/>
            <a:ext cx="11378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데크선을 직접 지정(보행교)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교면선은 산출의 출발점이다 — 여기서 틀리면 측점 선별·부재 결합·판정이 모두 따라 틀린다. 그래서 무엇을 어디서 가져왔는지 교량마다 결과.md 에 적는다.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⑧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IFC 디지털 트윈 — 한강 16개소 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· 측점을 부재 GlobalId 에 결합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3268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932688"/>
            <a:ext cx="141439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2767" y="932688"/>
            <a:ext cx="88806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5428" y="932688"/>
            <a:ext cx="78280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IFC 부재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2822" y="932688"/>
            <a:ext cx="57227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측점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9685" y="932688"/>
            <a:ext cx="57227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46547" y="932688"/>
            <a:ext cx="6775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결합률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676" y="932688"/>
            <a:ext cx="530924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형식별 상부구조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1243584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행주대교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2767" y="1243584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428" y="1243584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2822" y="124358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685" y="124358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6547" y="1243584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676" y="1243584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주경간 실측이 없어 세우지 않음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51333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1513332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1513332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2767" y="1513332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5428" y="1513332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2822" y="151333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685" y="151333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6547" y="1513332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8676" y="1513332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178308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1783080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월드컵대교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72767" y="1783080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5428" y="1783080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2822" y="178308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685" y="178308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6547" y="1783080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676" y="1783080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주경간 실측이 없어 세우지 않음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05282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2052828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" y="2052828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성산대교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72767" y="2052828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25428" y="2052828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72822" y="205282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9685" y="205282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46547" y="2052828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8676" y="2052828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232257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322576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양화대교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2767" y="2322576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25428" y="2322576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72822" y="232257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9685" y="232257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6547" y="2322576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69%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88676" y="2322576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25923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2592324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3776" y="2592324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서강대교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72767" y="2592324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25428" y="2592324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72822" y="259232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9685" y="259232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46547" y="2592324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95%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88676" y="2592324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아치리브 2련(라이즈 27 m) · 행어 18본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286207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3776" y="2862072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원효대교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2767" y="2862072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25428" y="2862072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72822" y="286207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685" y="286207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46547" y="2862072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98%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88676" y="2862072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313182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1480" y="3131820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" y="3131820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한강대교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72767" y="3131820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25428" y="3131820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117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72822" y="313182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09685" y="313182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46547" y="3131820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84%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88676" y="3131820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아치리브 2련(라이즈 12 m) · 행어 18본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" y="340156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" y="3401568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잠수교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72767" y="3401568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25428" y="3401568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72822" y="340156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09685" y="340156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46547" y="3401568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88676" y="3401568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367131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11480" y="3671316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3776" y="3671316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2767" y="3671316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트러스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25428" y="3671316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72822" y="367131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09685" y="367131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46547" y="3671316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88676" y="3671316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상현재 2련(데크 위 12 m) · 수직재 78본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1480" y="39410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3776" y="3941064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영동대교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72767" y="3941064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25428" y="3941064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72822" y="394106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09685" y="394106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546547" y="3941064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88676" y="3941064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1480" y="421081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11480" y="4210812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93776" y="4210812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청담대교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2767" y="4210812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25428" y="4210812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072822" y="421081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20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09685" y="4210812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46547" y="4210812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80%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88676" y="4210812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11480" y="448056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93776" y="4480560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2767" y="4480560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사장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25428" y="4480560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637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072822" y="448056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09685" y="4480560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546547" y="4480560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95%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88676" y="4480560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주탑 2기(데크 위 28 m) · 케이블 48본 (주경간 138 m 기준)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11480" y="475030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11480" y="4750308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93776" y="4750308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천호대교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72767" y="4750308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박스거더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25428" y="4750308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72822" y="475030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9685" y="4750308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546547" y="4750308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88676" y="4750308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11480" y="502005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93776" y="5020056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72767" y="5020056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아치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125428" y="5020056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072822" y="502005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237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09685" y="5020056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237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546547" y="5020056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100%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88676" y="5020056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주경간 실측이 없어 세우지 않음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1480" y="52898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11480" y="5289804"/>
            <a:ext cx="11368735" cy="269748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93776" y="5289804"/>
            <a:ext cx="141439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샛강문화다리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2767" y="5289804"/>
            <a:ext cx="888069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거더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125428" y="5289804"/>
            <a:ext cx="78280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72822" y="528980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09685" y="5289804"/>
            <a:ext cx="572270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46547" y="5289804"/>
            <a:ext cx="677537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94%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88676" y="5289804"/>
            <a:ext cx="5309243" cy="2697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11480" y="555955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411480" y="5705856"/>
            <a:ext cx="3643274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11480" y="5705856"/>
            <a:ext cx="50292" cy="74980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94360" y="5852160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1,972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부재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94360" y="6291072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16개소 IFC 프록시 부재 — 교대·교각·슬래브 + 형식별 상부구조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274210" y="5705856"/>
            <a:ext cx="3643274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74210" y="5705856"/>
            <a:ext cx="50292" cy="7498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457090" y="5852160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1,113/1,179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457090" y="6291072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부재 GlobalId 에 결합된 측점 (94%)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136941" y="5705856"/>
            <a:ext cx="3643274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136941" y="5705856"/>
            <a:ext cx="50292" cy="7498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319821" y="5852160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4.3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IFC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319821" y="6291072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IfcMapConversion 으로 지오레퍼런싱 — Bmaps 는 tileset.json 을 그대로 쓴다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형식이 형상을 정하는 교량(사장·현수·아치·트러스)은 **최대경간장 실측이 있을 때만** 상부구조를 세운다 — 없으면 추정으로 만들지 않고 그 사유를 남긴다. 산출: &lt;교량&gt;_proxy.ifc · &lt;교량&gt;_elements.json · twin.glb · twin.viewer.html · tileset.json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⑨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PINN · 공진위험지수(CRI) — 한강 16개소 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물리식을 함께 푸는 신경망 → CRI 4단계 경보 · 감사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3268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932688"/>
            <a:ext cx="17764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4780" y="932688"/>
            <a:ext cx="80591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CRI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5281" y="932688"/>
            <a:ext cx="80591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등급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5783" y="932688"/>
            <a:ext cx="163776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감사 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8144" y="932688"/>
            <a:ext cx="17764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9147" y="932688"/>
            <a:ext cx="80591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CRI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9649" y="932688"/>
            <a:ext cx="80591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등급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60151" y="932688"/>
            <a:ext cx="163776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감사 판정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124358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행주대교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4780" y="12435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5281" y="12435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783" y="124358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8144" y="124358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잠수교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9147" y="12435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649" y="12435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60151" y="124358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5179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1517904"/>
            <a:ext cx="11368735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151790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34780" y="15179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0.866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5281" y="15179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5783" y="151790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4" y="151790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9147" y="15179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649" y="15179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60151" y="151790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17922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179222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월드컵대교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4780" y="17922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0.929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5281" y="17922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5783" y="179222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8144" y="179222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영동대교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9147" y="17922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9649" y="17922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60151" y="179222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20665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2066544"/>
            <a:ext cx="11368735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" y="206654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성산대교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34780" y="206654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05281" y="206654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75783" y="206654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8144" y="206654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청담대교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9147" y="206654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0.786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89649" y="206654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60151" y="206654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234086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234086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양화대교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34780" y="234086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05281" y="234086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75783" y="234086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78144" y="234086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올림픽대교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19147" y="234086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0.914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89649" y="234086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60151" y="234086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261518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2615184"/>
            <a:ext cx="11368735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3776" y="261518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서강대교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34780" y="26151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5281" y="26151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5783" y="261518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8144" y="261518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천호대교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19147" y="26151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0.854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89649" y="261518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60151" y="261518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288950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3776" y="288950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원효대교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34780" y="28895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05281" y="28895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75783" y="288950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8144" y="288950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9147" y="28895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89649" y="288950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60151" y="288950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316382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1480" y="3163824"/>
            <a:ext cx="11368735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" y="316382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한강대교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34780" y="31638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0.801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05281" y="31638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경고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75783" y="316382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78144" y="3163824"/>
            <a:ext cx="17764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샛강문화다리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19147" y="31638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0.907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89649" y="3163824"/>
            <a:ext cx="80591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028"/>
                </a:solidFill>
                <a:latin typeface="맑은 고딕"/>
              </a:rPr>
              <a:t>위험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60151" y="3163824"/>
            <a:ext cx="16377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3438144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11480" y="3602736"/>
            <a:ext cx="11368735" cy="1115568"/>
          </a:xfrm>
          <a:prstGeom prst="roundRect">
            <a:avLst/>
          </a:prstGeom>
          <a:solidFill>
            <a:srgbClr val="FDF3E6"/>
          </a:solidFill>
          <a:ln w="9525">
            <a:solidFill>
              <a:srgbClr val="E06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3694176"/>
            <a:ext cx="11057839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06C2C"/>
                </a:solidFill>
                <a:latin typeface="맑은 고딕"/>
              </a:rPr>
              <a:t>이 표를 그대로 '이 교량이 위험하다' 로 읽으면 안 된다</a:t>
            </a:r>
          </a:p>
          <a:p>
            <a:pPr algn="l">
              <a:lnSpc>
                <a:spcPct val="112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· CRI 기준치는 노이즈 10 mm · 관측기간 552일 · 24시점 조건에서 학습됐다. 한강 교량들은 노이즈 14~26 mm · 관측기간 2748일이라 분포가 통째로 밀려 있다 — 감사가 등급을 **잠정**으로 내리는 이유다.</a:t>
            </a:r>
          </a:p>
          <a:p>
            <a:pPr algn="l">
              <a:lnSpc>
                <a:spcPct val="112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· 같은 자료를 변위속도로 보면 16개소 중 14개소가 현장 보고서 판정과 일치하고, 95% 신뢰구간이 0 을 포함한다(⑤장). CRI 와 변위속도가 엇갈리면 **변위속도 쪽이 관측에 가깝다**.</a:t>
            </a:r>
          </a:p>
          <a:p>
            <a:pPr algn="l">
              <a:lnSpc>
                <a:spcPct val="112000"/>
              </a:lnSpc>
            </a:pPr>
            <a:r>
              <a:rPr sz="980" b="0">
                <a:solidFill>
                  <a:srgbClr val="102A43"/>
                </a:solidFill>
                <a:latin typeface="맑은 고딕"/>
              </a:rPr>
              <a:t>· 감사 '보고 불가' 는 산출이 틀렸다는 뜻이 아니라 **그대로 보고에 쓰지 말라**는 뜻이다(대상 30 m 안 점 부족 등). 사유는 교량마다 결과.md 에 있다.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EI·고유진동수는 관측값이 아니라 설계 제원(기하 EI) 기반이다 — InSAR 는 상대 변위라 절대 강성을 식별할 수 없다. PINN 은 그 위에서 열·하중·침하·이상 성분을 나눈다.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산출물과 신뢰성 게이트 — 무엇이 나오고, 무엇을 올리지 않는가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교량 하나가 남기는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557784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25880"/>
            <a:ext cx="144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산출물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2768" y="1325880"/>
            <a:ext cx="2624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688" y="1325880"/>
            <a:ext cx="1015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소비처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3677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project.h5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2768" y="163677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전 단계 배열 + 출처 매니페스트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1688" y="163677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계약(전 하류)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6596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965960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965960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brief.png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2768" y="1965960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건기연 브리프 4단 그림 (a)(b)(c)(d)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1688" y="1965960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보고서·발표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95144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95144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*_proxy.ifc · twin.glb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2768" y="2295144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IFC4 프록시 트윈 + 측점 GlobalId 결합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1688" y="2295144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BIM·3D Tiles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24328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624328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624328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displacement.csv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2768" y="2624328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점×시점 롱포맷 변위 (mm·ISO 날짜)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1688" y="2624328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다운로드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53512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2953512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*_vlm.zip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2768" y="2953512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manifest·summary·narrative·지식그래프·figures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1688" y="2953512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팀 핸드오프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282696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282696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28269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결과.md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2768" y="328269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무엇을 어디서 가져왔고 무엇이 없었는지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1688" y="328269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감사 추적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61188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67588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'BIM 에 InSAR 를 올린다'가 실제로 뜻하는 것</a:t>
            </a:r>
          </a:p>
        </p:txBody>
      </p:sp>
      <p:pic>
        <p:nvPicPr>
          <p:cNvPr id="38" name="Picture 37" descr="ondeck_jeongjag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15512"/>
            <a:ext cx="5577840" cy="19896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11480" y="59618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지오코딩 산출물은 점을 DEM 지면에 놓고 δh/tanθ 만큼 밀어 둔다 — 둘 다 되돌려야 데크 위에 앉는다</a:t>
            </a:r>
          </a:p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데크 폭은 추정이 아니라 OSM 양측 보도선 간격 + 보도 반폭 (그림은 정자교 · 방법은 모든 교량 공통)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감사(audit) — 통과한 것만 플랫폼에 올린다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1371600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1371600"/>
            <a:ext cx="54864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137160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32"/>
                </a:solidFill>
                <a:latin typeface="맑은 고딕"/>
              </a:rPr>
              <a:t>보고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1371600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교면 위 측점 확보 · 위상 언래핑 완료 · PINN 정상 수렴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029968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029968"/>
            <a:ext cx="54864" cy="56692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029968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2029968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제원 출처가 불확실하거나 시점 수가 기준(≥100장) 미달 — 수치는 내되 판정 보류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688336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688336"/>
            <a:ext cx="54864" cy="566928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688336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0" y="2688336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래핑 위상 · 교량 밖 측점 · 퇴화 PINN — B-Maps 로 아예 전송하지 않는다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3401568"/>
            <a:ext cx="5532120" cy="713232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3401568"/>
            <a:ext cx="5166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'보고 불가'는 전송 자체가 막힌다. 그리고 CRI 등급은 관측조건(노이즈·기간·에폭)이 기준치 학습 조건과 다르면 '잠정'으로 내려가고, API·B-Maps 탭까지 그 표시가 따라간다 — 이번 한강 3개 교량이 그 경우다.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26110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이 방식이 원리상 못 하는 것 — 먼저 밝힌다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572000"/>
            <a:ext cx="5532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절대 강성 EI 관측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InSAR 는 상대 변위라 자중 처짐을 못 본다. EI·f₁ 은 설계 제원 기반.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교면 PS 밀도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Sentinel-1 화소 ~11 m. 코너리플렉터·고해상도 SAR 가 답이다.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화소보다 작은 국부 손상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정자교 보도부 붕괴도 잔차 계단이 잡음과 구별되지 않았다.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단일 궤도 LOS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연직·수평 분해는 상승+하강 궤도가 모두 있어야 한다(융합 경로 구현 완료).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5815584"/>
            <a:ext cx="5532120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815584"/>
            <a:ext cx="5120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못 하는 것을 적어 두는 이유 — 판정이 관측 한계 안에서 내려졌는지를 받는 쪽이 알아야 한다. 결과.md 가 교량마다 같은 목록을 함께 남긴다.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감사·전송 기록은 sync_state.json 에 남는다 — 무엇을 언제 왜 올렸는지/걸렀는지.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⑪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B-Maps 연동 — 사이드카 REST 마이크로서비스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설계·구현 완료 · 읽기 전용 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5760720" cy="214884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02A43"/>
                </a:solidFill>
                <a:latin typeface="맑은 고딕"/>
              </a:rPr>
              <a:t>왜 사이드카인가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26464"/>
            <a:ext cx="5440680" cy="45720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B-Maps  [성능평가][노후도]…[★ InSAR 위성 변위 분석]  ← 새 탭(프론트)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REST/JSON (교량관리번호로 조회)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39696"/>
            <a:ext cx="5440680" cy="402336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39696"/>
            <a:ext cx="5120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inframon-api (FastAPI 사이드카)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78608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읽기 전용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40680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743200"/>
            <a:ext cx="5120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교량별 project.h5 (데이터 계약)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21868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본체를 오염시키지 않는다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GDAL·SARvey·PyTorch·WSL2 의존이 B-Maps 배포에 섞이지 않음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즉시 반영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파이프라인이 project.h5 를 갱신하면 다음 요청부터 새 값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내부망 + API Key 또는 B-Maps SSO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CORS 는 B-Maps 도메인만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576072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0416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B-Maps 탭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091" y="40416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엔드포인트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3159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상단 경보 배지(정상~위험 · 잠정 표시)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091" y="43159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5902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59028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5902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지도 측점 레이어(색=변위 또는 CRI)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091" y="45902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/insar/points(.geojson)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8646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486460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측점 클릭 → 시계열 팝업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91" y="486460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/insar/points/{id}/series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3892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513892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513892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CRI 안전성 추세 차트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91" y="513892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/insar/cri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1324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54132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기능 공명 다이어그램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091" y="54132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/insar/function-network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8756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68756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56875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가상센싱 거더·상판 변위장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091" y="56875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/pinn/girder·deck-displacement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618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59618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변위 CSV / VLM 패키지 내려받기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091" y="59618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/insar/export.csv · vlm-package.zip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62362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bmap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95785"/>
            <a:ext cx="5440680" cy="258159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5080" y="3785616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실제 동작 화면 — 성수대교 (101시점 · 교면 103측점)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096512"/>
            <a:ext cx="5440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경보 배지가 '위험 (잠정)'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관측조건이 CRI 기준치 학습 조건과 달라 등급을 구조 상태로 읽지 말라는 표시가 API 에서 탭까지 따라온다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측점 클릭 → 시계열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LOS·종방향 변위와 CRI, PINN 절대 강성 EI·열팽창계수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변위 CSV · VLM 패키지(zip)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탭 오른쪽 위 버튼 그대로 내려받기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VWorld 베이스맵 어댑터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React 컴포넌트 예제 동봉(examples/bmaps_tab/)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python -m inframon --serve-api --registry data/bridge_registry.json  →  GET /api/v1/bridges  ·  좌표 WGS84(lat,lon) 또는 EPSG:5179 선택 · 변위 mm · 날짜 ISO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⑫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합의가 필요한 것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지금 KICT 와 정해야 하는 3가지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35024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35024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① 교량관리번호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19072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bridge_id 를 B-Maps 교량관리번호와 1:1 매핑. 모든 엔드포인트의 경로 파라미터라 이것부터 정해야 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67712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267712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7744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② 지도 좌표계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51760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B-Maps 지도가 WGS84 인지 EPSG:5179 타일인지. 5179 면 재투영을 생략하는 옵션으로 바로 맞춘다.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310128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③ 인증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584448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내부망 전용 / API Key(X-API-Key) / B-Maps SSO 중 택1.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4281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KICT 측 자료가 있으면 바로 좋아지는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572000"/>
            <a:ext cx="5577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실 교량 제원(연장·경간·폭·형하고)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지금은 전국교량표준데이터·OSM 추정. PINN EI 가 제원 기반이라 여기서 정확도가 갈린다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점검·보수 이력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CRI 이상 구간과 대조하면 참고지표가 검증 가능한 지표가 된다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코너리플렉터 설치 후보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PS 밀도의 유일한 실질적 해법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건강 교량 CRI 코호트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 기준치는 합성 코호트(노이즈 10mm·24시점)다. 한강 15개소 실측으로 재적합하면 등급이 '잠정'을 벗는다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단계별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335024"/>
            <a:ext cx="553212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335024"/>
            <a:ext cx="37777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8301" y="1335024"/>
            <a:ext cx="374043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3327" y="1335024"/>
            <a:ext cx="9201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6459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8301" y="16459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파이프라인 · 데이터 계약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3327" y="16459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0116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01168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20116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8301" y="20116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실 Sentinel-1 전 파이프라인 관통(교량 23개소)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3327" y="20116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774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37744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8301" y="237744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REST 사이드카 12 엔드포인트 · 탭 예제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327" y="237744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74320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74320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274320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8301" y="274320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교량관리번호·좌표계·인증 합의 → 스테이징 연동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3327" y="274320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협의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10896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310896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8301" y="310896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운영 탭 탑재 · 신규 SLC 자동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327" y="310896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7472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47472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5936" y="34747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8301" y="34747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CR 설치·고해상도 SAR 로 교면 밀도 보강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93327" y="34747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8404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8301" y="38404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시방서 평가(타 팀) 로 패키지 인계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93327" y="38404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소켓 제공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42062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263640" y="4343400"/>
            <a:ext cx="5532120" cy="1737360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44988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연동 시연은 지금 바로 가능합니다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73952" y="4809744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레지스트리에 교량관리번호만 넣으면 그 교량이 탭에 뜬다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새 SLC 가 쌓이면 --bmap-sync 가 감사 통과분만 자동 갱신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두신 아카이브(.SAFE)가 있으면 그 자리에서 처리 — 재다운로드 없음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문의 · 재현 자료: README.md · docs/Bmaps_연동_인터페이스.md · examples/bmaps_tab/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