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6395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Inframon 을 연구개발과제 구성에 맞춰 네 부분으로 말씀드리겠습니다. 왜 필요한지, 무엇을 목표로 하는지, 지금까지 무엇을 했는지, 앞으로 KICT 와 어떻게 진행할지입니다. Inframon 은 좌표 하나만 넣으면 위성 자료에서 교량 변위를 뽑고, AI 로 해석하고, 디지털 트윈과 B-Maps 까지 자동으로 잇는 플랫폼입니다.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필요성입니다. 지금 교량 상태 판단은 센서를 붙인 교량과 정기 점검에 의존합니다. 센서가 없는 교량, 점검과 점검 사이는 비어 있고, 성수대교·한강대교조차 처짐 센서는 설치되어 있지 않습니다. 위성 InSAR 는 2018년부터 쌓인 공개 자료로 과거까지 보고, 교량에 아무것도 달지 않으며, 교량 수가 늘어도 비용이 비례해 늘지 않습니다. 그리고 이 결과가 쓰이려면 이미 전국 교량 자산을 가진 B-Maps 에 붙어야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연구 목표입니다. 최종 목표는 계측기가 없는 교량까지 위성 변위로 상태를 파악하는 유지관리 체계를 만들고, 이를 B-Maps 에 연계하는 것입니다. 세부 목표는 네 가지로, 위성 변위 자동 산출, 물리 기반 AI 해석, 교량 디지털 트윈, B-Maps 연계 서비스입니다. 아래 표는 지표별로 지금 어디까지 왔는지와 다음 목표를 함께 보여 드립니다. 인터페이스와 트윈은 이미 구현되었고, 남은 핵심은 현장 계측과의 정밀 검증과 운영 탑재입니다.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Inframon 이 무엇인지 설명드리겠습니다. 여섯 단계로 되어 있습니다. 교량과 위성영상을 고르고, InSAR 로 간섭 처리를 해 측점을 뽑고, 그 측점을 교면 위에 정확히 앉힙니다. 그다음 PINN 이라는 물리식을 함께 푸는 신경망으로 온도, 하중, 침하 성분을 나누고, 공명 위험 지수와 경보를 만듭니다. 마지막으로 IFC 트윈과 B-Maps 용 데이터로 내보냅니다. 이 전 과정이 명령 한 줄, 또는 대시보드 버튼 하나로 돌아가고, 교량을 바꿔도 코드를 고칠 필요가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실증 결과입니다. 한강 교량 16개소를 같은 코드로 전부 처리했고, 모든 교량에서 IFC 트윈이 나왔습니다. 왼쪽 표는 그중 현장 GNSS 계측이 있어 답을 맞춰 볼 수 있는 7개소입니다. 품질 판정은 자동으로 붙어서, 관측 조건이 기준에 못 미치면 B-Maps 로 보내지 않고 보류합니다. 오른쪽 그림은 16개소 트윈에 위성 측점을 얹은 산출물 원본이고, 측점의 94%가 IFC 부재에 묶였습니다.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B-Maps 연동과 검증입니다. 왼쪽은 실제 동작하는 탭 화면으로, 측점을 누르면 변위 시계열이 뜹니다. B-Maps 본체는 건드리지 않고, 사이드카 서버가 결과 파일을 읽어 JSON 으로 내줍니다. 검증은 2024년 한강교량 안전감시 보고서와 비교했고, 16개소 중 14개소에서 판정이 같았습니다. 월 단위 수치 상관은 아직 편차가 있는데, 계측기 위치를 받아 비교할 측점을 미리 정하면 개선됩니다. 이 부분이 향후 계획의 KICT 협력 항목입니다.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향후 계획입니다. 파이프라인, 실증, 연동 인터페이스는 이미 완료했습니다. 다음 단계는 KICT 와 교량관리번호, 좌표계, 인증 방식을 정해 스테이징 서버에 붙이는 시범 연동입니다. 그 후 B-Maps 운영 탭에 올리고, 계측 위치를 받아 정확도 검증을 완성하고, 코너리플렉터나 고해상도 위성으로 측점 밀도를 보강하겠습니다. KICT 께 요청드리는 것은 아래 네 가지이고, 연동 시연은 오늘이라도 바로 보여드릴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43400" cy="6656832"/>
          </a:xfrm>
          <a:prstGeom prst="rect">
            <a:avLst/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6C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KICT B-Maps 연계 · 2026 KAIA 자문회의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Inframon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6E2E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위성 InSAR · PINN 기반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6E2E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 변위 모니터링 플랫폼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9B6C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좌표 하나로 </a:t>
            </a: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위성 → 변위 → AI 해석 → 디지털 트윈 → B-Maps</a:t>
            </a:r>
            <a:r>
              <a:rPr lang="en-US" sz="1200" dirty="0">
                <a:solidFill>
                  <a:srgbClr val="A9B6C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까지 자동으로 잇는다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50749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39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연구개발과제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2E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위성데이터 기반 변위 예측·AI 연계 중소형 교량 지능형 스마트 유지관리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39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RS-2026-25521660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목차</a:t>
            </a:r>
            <a:r>
              <a:rPr lang="en-US" sz="1300" dirty="0">
                <a:solidFill>
                  <a:srgbClr val="8A939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 CONTENTS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1600200"/>
            <a:ext cx="713232" cy="713232"/>
          </a:xfrm>
          <a:prstGeom prst="ellipse">
            <a:avLst/>
          </a:prstGeom>
          <a:solidFill>
            <a:srgbClr val="1C5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983480" y="1600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Ⅰ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15453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연구개발과제의 필요성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0025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 유지관리 현황과 한계 · 위성 InSAR 와 B-Maps 연계의 필요성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0" y="154533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939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83480" y="2606040"/>
            <a:ext cx="6793992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983480" y="2862072"/>
            <a:ext cx="713232" cy="713232"/>
          </a:xfrm>
          <a:prstGeom prst="ellipse">
            <a:avLst/>
          </a:prstGeom>
          <a:solidFill>
            <a:srgbClr val="1C5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983480" y="28620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Ⅱ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807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연구성과 목표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2644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최종 목표 · 세부 목표 · 성과 지표와 현재 달성도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881360" y="28072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939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83480" y="3867912"/>
            <a:ext cx="6793992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983480" y="4123944"/>
            <a:ext cx="713232" cy="713232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4983480" y="412394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Ⅲ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연구수행 내용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4526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① Inframon 플랫폼 구성   ② 한강 교량 실증 · 디지털 트윈   ③ B-Maps 연동 · 서비스 제공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0881360" y="4069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939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 – 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83480" y="5129784"/>
            <a:ext cx="6793992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0" y="5385816"/>
            <a:ext cx="713232" cy="713232"/>
          </a:xfrm>
          <a:prstGeom prst="ellipse">
            <a:avLst/>
          </a:prstGeom>
          <a:solidFill>
            <a:srgbClr val="1C5B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83480" y="538581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Ⅳ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0" y="5330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향후 계획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0" y="57881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단계별 추진 계획 · KICT 협의 요청 · 기대 효과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0881360" y="53309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939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45752" y="66385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" y="137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"/>
            <a:ext cx="18288" cy="320040"/>
          </a:xfrm>
          <a:prstGeom prst="rect">
            <a:avLst/>
          </a:prstGeom>
          <a:solidFill>
            <a:srgbClr val="4A5361"/>
          </a:solidFill>
          <a:ln w="12700">
            <a:solidFill>
              <a:srgbClr val="4A53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801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연구개발과제의 필요성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710928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10928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314432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14432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17936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17936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521440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521440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현장 계측은 일부 교량·지점에 머문다 — 위성으로 전 교량의 변위 이력을 채우고 B-Maps 에 연결해야 한다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0" y="6656832"/>
            <a:ext cx="2743200" cy="201168"/>
          </a:xfrm>
          <a:prstGeom prst="rect">
            <a:avLst/>
          </a:prstGeom>
          <a:solidFill>
            <a:srgbClr val="E9EBEE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" y="6656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2026 KAIA 자문회의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45752" y="66385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13716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05840" y="1225296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5840" y="122529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유지관리 현황과 한계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1755648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상시 계측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센서를 붙인 교량·지점만 본다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정기 점검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점검과 점검 사이는 관측 공백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센서 미설치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성수·한강대교도 처짐(경사) 센서 없음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11396" y="13716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05756" y="1225296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905756" y="122529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위성 InSAR 의 필요성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4539996" y="1755648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소급 관측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2018년부터 쌓인 공개 위성자료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무설치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교량에 장비를 달지 않는다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확장성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비용이 교량 수에 비례하지 않는다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211312" y="13716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05672" y="1225296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805672" y="122529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B-Maps 연계의 필요성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8439912" y="1755648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공간 + 시간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자산·도면에 변위 이력을 더한다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부재 단위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부재 GUID 로 결과를 묶는다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서비스화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노후도·안정성 판단에 바로 투입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1148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9436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년치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9436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2018년 6월부터 쌓인 위성 관측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29184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47472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12</a:t>
            </a: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일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347472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재방문 주기 — 사람이 가지 않아도 갱신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17220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5508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35508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현장 설치 장비 — 교량에 손대지 않는다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905256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23544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전량</a:t>
            </a: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무상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923544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Sentinel-1 공개 위성자료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937760"/>
          <a:ext cx="11365992" cy="131673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구분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지금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위성 InSAR · B-Maps 연계 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계측기가 달린 교량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상시 감시 — 센서를 붙인 지점만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위성으로 교차검증 · 나머지 구간까지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계측기가 없는 교량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점검 간 날에만 판단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12일마다 전 구간 변위 갱신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과거 이력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점검 기록이 전부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2018년 6월까지 소급해 다시 본다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Text 43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센서 미설치 항목은 2024 한강교량 온라인 안전감시시스템 유지관리 최종보고 기준. 위성 관측 기간은 실제 처리한 Sentinel-1 스택(2018-06-19 ~ 2025-12-27).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" y="137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"/>
            <a:ext cx="18288" cy="320040"/>
          </a:xfrm>
          <a:prstGeom prst="rect">
            <a:avLst/>
          </a:prstGeom>
          <a:solidFill>
            <a:srgbClr val="4A5361"/>
          </a:solidFill>
          <a:ln w="12700">
            <a:solidFill>
              <a:srgbClr val="4A53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2801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연구성과 목표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710928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710928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314432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0314432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17936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917936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521440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1521440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위성 InSAR · PINN 기반 교량 변위 모니터링 플랫폼(Inframon)을 개발하고 B-Maps 에 연계한다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0" y="6656832"/>
            <a:ext cx="2743200" cy="201168"/>
          </a:xfrm>
          <a:prstGeom prst="rect">
            <a:avLst/>
          </a:prstGeom>
          <a:solidFill>
            <a:srgbClr val="E9EBEE"/>
          </a:solidFill>
          <a:ln w="12700">
            <a:solidFill>
              <a:srgbClr val="E9EBE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109728" y="6656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2026 KAIA 자문회의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9445752" y="66385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1261872"/>
            <a:ext cx="11365992" cy="804672"/>
          </a:xfrm>
          <a:prstGeom prst="roundRect">
            <a:avLst>
              <a:gd name="adj" fmla="val 6818"/>
            </a:avLst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640080" y="1517904"/>
            <a:ext cx="1188720" cy="283464"/>
          </a:xfrm>
          <a:prstGeom prst="roundRect">
            <a:avLst>
              <a:gd name="adj" fmla="val 4838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640080" y="1517904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최종 목표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1261872"/>
            <a:ext cx="9601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계측기가 없는 교량까지 위성 변위로 상태를 파악하는 지능형 유지관리 체계 — Inframon 개발 및 B-Maps 연계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1148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594360" y="2450592"/>
            <a:ext cx="384048" cy="384048"/>
          </a:xfrm>
          <a:prstGeom prst="ellipse">
            <a:avLst/>
          </a:prstGeom>
          <a:solidFill>
            <a:srgbClr val="1C5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59436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09728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위성 변위 자동 산출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59436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좌표 1개로 Sentinel-1 수집부터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교면 변위 시계열까지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29184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474720" y="2450592"/>
            <a:ext cx="384048" cy="384048"/>
          </a:xfrm>
          <a:prstGeom prst="ellipse">
            <a:avLst/>
          </a:prstGeom>
          <a:solidFill>
            <a:srgbClr val="1C5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347472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397764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물리 기반 AI 해석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347472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PINN 으로 열·하중·침하 성분 분리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위험 지수(CRI) 산출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17220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6355080" y="2450592"/>
            <a:ext cx="384048" cy="384048"/>
          </a:xfrm>
          <a:prstGeom prst="ellipse">
            <a:avLst/>
          </a:prstGeom>
          <a:solidFill>
            <a:srgbClr val="1C5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635508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85800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 디지털 트윈</a:t>
            </a:r>
            <a:endParaRPr lang="en-US" sz="1350" dirty="0"/>
          </a:p>
        </p:txBody>
      </p:sp>
      <p:sp>
        <p:nvSpPr>
          <p:cNvPr id="40" name="Text 37"/>
          <p:cNvSpPr txBox="1"/>
          <p:nvPr/>
        </p:nvSpPr>
        <p:spPr>
          <a:xfrm>
            <a:off x="635508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부재에 위성 측점 결합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3D Tiles 로 지도 레이어 출력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905256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9235440" y="2450592"/>
            <a:ext cx="384048" cy="384048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923544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973836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B-Maps 연계 서비스</a:t>
            </a:r>
            <a:endParaRPr lang="en-US" sz="1350" dirty="0"/>
          </a:p>
        </p:txBody>
      </p:sp>
      <p:sp>
        <p:nvSpPr>
          <p:cNvPr id="45" name="Text 42"/>
          <p:cNvSpPr txBox="1"/>
          <p:nvPr/>
        </p:nvSpPr>
        <p:spPr>
          <a:xfrm>
            <a:off x="923544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REST 사이드카로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탭에 결과 제공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822192"/>
          <a:ext cx="11365992" cy="235915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세부 목표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성과 지표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지금 단계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목표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1  위성 변위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실 위성자료 전 과정 처리 교량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좌표 1개로 수집–처리–교면 변위 시계열까지 자동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시범 연동 교량 전수 · 신규 영상 자동 갱신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2  AI 해석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PINN · CRI 산출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열·하중 성분 분리 · CRI 산출 (기준 잠정)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실측 건강 교량으로 기준 재설정 → 잠정 해제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3  디지털 트윈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IFC 트윈 · 측점–부재 결합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IFC 부재 GUID 에 교면 측점 결합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B-Maps 보유 IFC 와 직접 결합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4  B-Maps 연계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연동 인터페이스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REST 사이드카 · 탭 예제 구현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스테이징 연동 → 운영 탭 탑재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7" name="Text 43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지금 단계 = 실제 Sentinel-1 자료(ASC path127, 2018-06-19 ~ 2025-12-27)로 전 과정을 돌려 본 결과다. 정확도 지표는 계측 대조와 측점 밀도 확보 뒤에 제시한다.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" y="137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"/>
            <a:ext cx="18288" cy="320040"/>
          </a:xfrm>
          <a:prstGeom prst="rect">
            <a:avLst/>
          </a:prstGeom>
          <a:solidFill>
            <a:srgbClr val="4A5361"/>
          </a:solidFill>
          <a:ln w="12700">
            <a:solidFill>
              <a:srgbClr val="4A53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801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연구수행 내용 ① — Inframon 플랫폼 구성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710928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10928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314432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14432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17936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17936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521440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521440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Inframon 은 좌표 하나로 위성 → 변위 → AI 해석 → 트윈 → B-Maps 까지 잇는 6단계 파이프라인이다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0" y="6656832"/>
            <a:ext cx="2743200" cy="201168"/>
          </a:xfrm>
          <a:prstGeom prst="rect">
            <a:avLst/>
          </a:prstGeom>
          <a:solidFill>
            <a:srgbClr val="E9EBEE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" y="6656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2026 KAIA 자문회의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45752" y="66385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1664208"/>
            <a:ext cx="1773936" cy="201168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4632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⓪ 교량·영상 선별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 제원·관심영역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궤도·프레임 자동 선택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ERA5 기준영상 선정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203704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329891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329891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329891" y="1664208"/>
            <a:ext cx="1773936" cy="201168"/>
          </a:xfrm>
          <a:prstGeom prst="rect">
            <a:avLst/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403043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InSAR 처리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2467051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SNAP 정합·간섭도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snaphu 위상 언래핑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PS·DS 측점 추출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122115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248302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48302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248302" y="1664208"/>
            <a:ext cx="1773936" cy="201168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321454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교면 측점 정합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85462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형하고 쉬프트 보정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OSM 교면선 정합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교면 ±30 m 선별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040526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166714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166714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166714" y="1664208"/>
            <a:ext cx="1773936" cy="201168"/>
          </a:xfrm>
          <a:prstGeom prst="rect">
            <a:avLst/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239866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PINN 역산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6303874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물리식 구속 신경망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열·하중·침하·이상 분리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가상 센싱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958938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085125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085125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085125" y="1664208"/>
            <a:ext cx="1773936" cy="201168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158277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④ 위험도 평가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8222285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위험 지수 CRI 산출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4단계 경보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등급 기준은 잠정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9877349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003536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003536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003536" y="1664208"/>
            <a:ext cx="1773936" cy="201168"/>
          </a:xfrm>
          <a:prstGeom prst="rect">
            <a:avLst/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0076688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⑤ 산출 · 연동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10140696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트윈 · 3D Tiles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변위 CSV · 보고 그림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REST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411480" y="3657600"/>
            <a:ext cx="690372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857500" y="3520440"/>
            <a:ext cx="2011680" cy="283464"/>
          </a:xfrm>
          <a:prstGeom prst="roundRect">
            <a:avLst>
              <a:gd name="adj" fmla="val 4838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2857500" y="3520440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플랫폼의 특징</a:t>
            </a:r>
            <a:endParaRPr lang="en-US" sz="1150" dirty="0"/>
          </a:p>
        </p:txBody>
      </p:sp>
      <p:sp>
        <p:nvSpPr>
          <p:cNvPr id="60" name="Shape 57"/>
          <p:cNvSpPr/>
          <p:nvPr/>
        </p:nvSpPr>
        <p:spPr>
          <a:xfrm>
            <a:off x="640080" y="397764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04672" y="3977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좌표 1개 실행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교량을 바꿔도 코드 수정이 없다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3950208" y="397764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4114800" y="3977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근거 기록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관측 조건과 신뢰구간을 결과에 함께 남긴다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640080" y="507492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04672" y="5074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계약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project.h5 하나로 전 단계를 연결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3950208" y="507492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114800" y="5074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대시보드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명령줄 없이 화면에서 단계별 실행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7589520" y="3520440"/>
            <a:ext cx="202082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7772400" y="363016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51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장면</a:t>
            </a:r>
            <a:endParaRPr lang="en-US" sz="1100" dirty="0"/>
          </a:p>
        </p:txBody>
      </p:sp>
      <p:sp>
        <p:nvSpPr>
          <p:cNvPr id="70" name="Text 67"/>
          <p:cNvSpPr txBox="1"/>
          <p:nvPr/>
        </p:nvSpPr>
        <p:spPr>
          <a:xfrm>
            <a:off x="7772400" y="4123944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실제 Sentinel-1 영상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9756648" y="3520440"/>
            <a:ext cx="202082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9939528" y="363016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23</a:t>
            </a: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개소</a:t>
            </a:r>
            <a:endParaRPr lang="en-US" sz="1100" dirty="0"/>
          </a:p>
        </p:txBody>
      </p:sp>
      <p:sp>
        <p:nvSpPr>
          <p:cNvPr id="73" name="Text 70"/>
          <p:cNvSpPr txBox="1"/>
          <p:nvPr/>
        </p:nvSpPr>
        <p:spPr>
          <a:xfrm>
            <a:off x="9939528" y="4123944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전 과정 시범 처리 교량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7589520" y="4892040"/>
            <a:ext cx="202082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772400" y="500176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16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개소</a:t>
            </a:r>
            <a:endParaRPr lang="en-US" sz="1100" dirty="0"/>
          </a:p>
        </p:txBody>
      </p:sp>
      <p:sp>
        <p:nvSpPr>
          <p:cNvPr id="76" name="Text 73"/>
          <p:cNvSpPr txBox="1"/>
          <p:nvPr/>
        </p:nvSpPr>
        <p:spPr>
          <a:xfrm>
            <a:off x="7772400" y="5495544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한강 교량 트윈 시범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9756648" y="4892040"/>
            <a:ext cx="202082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9939528" y="500176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12</a:t>
            </a: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</a:t>
            </a:r>
            <a:endParaRPr lang="en-US" sz="1100" dirty="0"/>
          </a:p>
        </p:txBody>
      </p:sp>
      <p:sp>
        <p:nvSpPr>
          <p:cNvPr id="79" name="Text 76"/>
          <p:cNvSpPr txBox="1"/>
          <p:nvPr/>
        </p:nvSpPr>
        <p:spPr>
          <a:xfrm>
            <a:off x="9939528" y="5495544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REST 엔드포인트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실행 예: python scripts/bridge_run.py --name 성수대교 --lat 37.5374 --lon 127.0351 — 궤도 자료가 없으면 영상 선별·다운로드·처리부터 스스로 수행.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" y="137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"/>
            <a:ext cx="18288" cy="320040"/>
          </a:xfrm>
          <a:prstGeom prst="rect">
            <a:avLst/>
          </a:prstGeom>
          <a:solidFill>
            <a:srgbClr val="4A5361"/>
          </a:solidFill>
          <a:ln w="12700">
            <a:solidFill>
              <a:srgbClr val="4A53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2801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연구수행 내용 ② — 한강 교량 실증 · 디지털 트윈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710928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710928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314432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0314432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17936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917936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521440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1521440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교량마다 사람 손 없이 같은 산출물과 IFC 트윈이 나온다 — 좌표 하나로 끝까지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0" y="6656832"/>
            <a:ext cx="2743200" cy="201168"/>
          </a:xfrm>
          <a:prstGeom prst="rect">
            <a:avLst/>
          </a:prstGeom>
          <a:solidFill>
            <a:srgbClr val="E9EBEE"/>
          </a:solidFill>
          <a:ln w="12700">
            <a:solidFill>
              <a:srgbClr val="E9EBE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109728" y="6656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2026 KAIA 자문회의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9445752" y="66385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5715001" cy="2706624"/>
        </p:xfrm>
        <a:graphic>
          <a:graphicData uri="http://schemas.openxmlformats.org/drawingml/2006/table">
            <a:tbl>
              <a:tblPr/>
              <a:tblGrid>
                <a:gridCol w="1672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4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교량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형식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관측 시점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교면 측점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가양대교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박스거더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167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원효대교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박스거더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45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올림픽대교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사장교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101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56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청담대교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20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천호대교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박스거더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54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암사대교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아치교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237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월드컵대교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사장교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29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82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411480" y="4050792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관측 시점 수와 교면 측점 수는 교량마다 다르다 — 변위속도와 정밀도는 측점 밀도를 확보한 뒤에 제시한다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11480" y="4526280"/>
            <a:ext cx="5715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2080260" y="4389120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 txBox="1"/>
          <p:nvPr/>
        </p:nvSpPr>
        <p:spPr>
          <a:xfrm>
            <a:off x="2080260" y="4389120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 1개소당 자동 산출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66928" y="47548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676656" y="4754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변위 시계열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측점·속도·해석값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377440" y="47548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 txBox="1"/>
          <p:nvPr/>
        </p:nvSpPr>
        <p:spPr>
          <a:xfrm>
            <a:off x="2487168" y="4754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IFC 부재 모델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부재 GUID 포함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187952" y="47548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 txBox="1"/>
          <p:nvPr/>
        </p:nvSpPr>
        <p:spPr>
          <a:xfrm>
            <a:off x="4297680" y="4754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3D 타일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지도 레이어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66928" y="54406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 txBox="1"/>
          <p:nvPr/>
        </p:nvSpPr>
        <p:spPr>
          <a:xfrm>
            <a:off x="676656" y="5440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평면·종단 브리프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보고서용 그림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2377440" y="54406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36" name="Text 32"/>
          <p:cNvSpPr txBox="1"/>
          <p:nvPr/>
        </p:nvSpPr>
        <p:spPr>
          <a:xfrm>
            <a:off x="2487168" y="5440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주변 도로망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반경 500 m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187952" y="54406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38" name="Text 34"/>
          <p:cNvSpPr txBox="1"/>
          <p:nvPr/>
        </p:nvSpPr>
        <p:spPr>
          <a:xfrm>
            <a:off x="4297680" y="5440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 기록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출처·근거 문서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6355080" y="1280160"/>
            <a:ext cx="5422392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pic>
        <p:nvPicPr>
          <p:cNvPr id="40" name="Image 0" descr="/tmp/claude-0/-home-claude/65dffca3-2835-51dd-a007-950964c02f5b/scratchpad/img/o10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371600"/>
            <a:ext cx="5202936" cy="3053408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6464808" y="4416552"/>
            <a:ext cx="5202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트윈 + 교면 위성 측점 (산출물 원본)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6355080" y="4892040"/>
            <a:ext cx="170992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43" name="Text 38"/>
          <p:cNvSpPr txBox="1"/>
          <p:nvPr/>
        </p:nvSpPr>
        <p:spPr>
          <a:xfrm>
            <a:off x="6537960" y="50017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IFC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4x3</a:t>
            </a:r>
            <a:endParaRPr lang="en-US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6537960" y="5495544"/>
            <a:ext cx="1389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부재 GUID 포함 트윈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8211312" y="4892040"/>
            <a:ext cx="170992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 txBox="1"/>
          <p:nvPr/>
        </p:nvSpPr>
        <p:spPr>
          <a:xfrm>
            <a:off x="8394192" y="50017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1,972</a:t>
            </a: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</a:t>
            </a:r>
            <a:endParaRPr lang="en-US" sz="1100" dirty="0"/>
          </a:p>
        </p:txBody>
      </p:sp>
      <p:sp>
        <p:nvSpPr>
          <p:cNvPr id="47" name="Text 42"/>
          <p:cNvSpPr txBox="1"/>
          <p:nvPr/>
        </p:nvSpPr>
        <p:spPr>
          <a:xfrm>
            <a:off x="8394192" y="5495544"/>
            <a:ext cx="1389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부재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10067544" y="4892040"/>
            <a:ext cx="170992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49" name="Text 44"/>
          <p:cNvSpPr txBox="1"/>
          <p:nvPr/>
        </p:nvSpPr>
        <p:spPr>
          <a:xfrm>
            <a:off x="10250424" y="50017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3D</a:t>
            </a: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Tiles</a:t>
            </a:r>
            <a:endParaRPr lang="en-US" sz="1100" dirty="0"/>
          </a:p>
        </p:txBody>
      </p:sp>
      <p:sp>
        <p:nvSpPr>
          <p:cNvPr id="50" name="Text 45"/>
          <p:cNvSpPr txBox="1"/>
          <p:nvPr/>
        </p:nvSpPr>
        <p:spPr>
          <a:xfrm>
            <a:off x="10250424" y="5495544"/>
            <a:ext cx="1389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지도 레이어 출력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표의 값은 각 교량 폴더의 bridge.json · 결과.md · project.h5 에서 직접 읽음.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4864" y="137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"/>
            <a:ext cx="18288" cy="320040"/>
          </a:xfrm>
          <a:prstGeom prst="rect">
            <a:avLst/>
          </a:prstGeom>
          <a:solidFill>
            <a:srgbClr val="4A5361"/>
          </a:solidFill>
          <a:ln w="12700">
            <a:solidFill>
              <a:srgbClr val="4A53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13232" y="12801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연구수행 내용 ③ — B-Maps 연동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710928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710928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314432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0314432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17936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0917936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521440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1521440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B-Maps 본체를 고치지 않고 읽기 전용 사이드카로 붙인다 — 교량관리번호로 조회하면 교면 변위와 IFC 트윈이 그대로 올라온다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0" y="6656832"/>
            <a:ext cx="2743200" cy="201168"/>
          </a:xfrm>
          <a:prstGeom prst="rect">
            <a:avLst/>
          </a:prstGeom>
          <a:solidFill>
            <a:srgbClr val="E9EBEE"/>
          </a:solidFill>
          <a:ln w="12700">
            <a:solidFill>
              <a:srgbClr val="E9EB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109728" y="6656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2026 KAIA 자문회의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9445752" y="66385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1280160"/>
            <a:ext cx="635508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0" descr="/tmp/claude-0/-home-claude/65dffca3-2835-51dd-a007-950964c02f5b/scratchpad/img/o15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71600"/>
            <a:ext cx="6117336" cy="290267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30352" y="4315968"/>
            <a:ext cx="6117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실제 동작 화면 — 성수대교 · 101시점 · 교면 103측점 · 측점 클릭 → 변위 시계열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11480" y="4846320"/>
            <a:ext cx="1801368" cy="822960"/>
          </a:xfrm>
          <a:prstGeom prst="roundRect">
            <a:avLst>
              <a:gd name="adj" fmla="val 666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 txBox="1"/>
          <p:nvPr/>
        </p:nvSpPr>
        <p:spPr>
          <a:xfrm>
            <a:off x="502920" y="4846320"/>
            <a:ext cx="161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B-Maps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1E7E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위성 변위 분석 탭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2286000" y="5148072"/>
            <a:ext cx="329184" cy="219456"/>
          </a:xfrm>
          <a:prstGeom prst="leftRightArrow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2688336" y="4846320"/>
            <a:ext cx="1801368" cy="822960"/>
          </a:xfrm>
          <a:prstGeom prst="roundRect">
            <a:avLst>
              <a:gd name="adj" fmla="val 666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 txBox="1"/>
          <p:nvPr/>
        </p:nvSpPr>
        <p:spPr>
          <a:xfrm>
            <a:off x="2779776" y="4846320"/>
            <a:ext cx="161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inframon-api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1E7E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사이드카 · 읽기 전용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562856" y="5148072"/>
            <a:ext cx="329184" cy="219456"/>
          </a:xfrm>
          <a:prstGeom prst="leftRightArrow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4965192" y="4846320"/>
            <a:ext cx="1801368" cy="822960"/>
          </a:xfrm>
          <a:prstGeom prst="roundRect">
            <a:avLst>
              <a:gd name="adj" fmla="val 666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 txBox="1"/>
          <p:nvPr/>
        </p:nvSpPr>
        <p:spPr>
          <a:xfrm>
            <a:off x="5056632" y="4846320"/>
            <a:ext cx="161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교량별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1E7E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project.h5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411480" y="576072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REST/JSON · 교량관리번호로 조회 · B-Maps 본체 수정 없음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8357616" y="1143000"/>
            <a:ext cx="2103120" cy="283464"/>
          </a:xfrm>
          <a:prstGeom prst="roundRect">
            <a:avLst>
              <a:gd name="adj" fmla="val 4838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1"/>
          <p:cNvSpPr txBox="1"/>
          <p:nvPr/>
        </p:nvSpPr>
        <p:spPr>
          <a:xfrm>
            <a:off x="8357616" y="1143000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교면 전용 MT-InSAR 산출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7040880" y="1417320"/>
            <a:ext cx="2295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3"/>
          <p:cNvSpPr txBox="1"/>
          <p:nvPr/>
        </p:nvSpPr>
        <p:spPr>
          <a:xfrm>
            <a:off x="7223760" y="152704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7A54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4종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값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7223760" y="2020824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측점마다 산출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속도 · 잔차고도 · 열팽창 · 코히런스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9482328" y="1417320"/>
            <a:ext cx="2295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6"/>
          <p:cNvSpPr txBox="1"/>
          <p:nvPr/>
        </p:nvSpPr>
        <p:spPr>
          <a:xfrm>
            <a:off x="9665208" y="152704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APS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제거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9665208" y="2020824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기선망 뒤 동시 추정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수직·시간 기선망 · 점별 DEM 오차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7040880" y="2743200"/>
            <a:ext cx="4736592" cy="868680"/>
          </a:xfrm>
          <a:prstGeom prst="roundRect">
            <a:avLst>
              <a:gd name="adj" fmla="val 6316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 txBox="1"/>
          <p:nvPr/>
        </p:nvSpPr>
        <p:spPr>
          <a:xfrm>
            <a:off x="7223760" y="2743200"/>
            <a:ext cx="4416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한계  </a:t>
            </a: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교면 측점 밀도가 한계다 — Sentinel-1 IW 는 지상 5×20 m 이고 데크 폭은 1~2 화소다. 주경간에 코너리플렉터를 놓거나 고해상도 SAR 을 쓰면 교면 측점이 채워진다 (Ⅳ 참조)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8357616" y="3840480"/>
            <a:ext cx="2103120" cy="283464"/>
          </a:xfrm>
          <a:prstGeom prst="roundRect">
            <a:avLst>
              <a:gd name="adj" fmla="val 4838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1"/>
          <p:cNvSpPr txBox="1"/>
          <p:nvPr/>
        </p:nvSpPr>
        <p:spPr>
          <a:xfrm>
            <a:off x="8357616" y="3840480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연동 접점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4160520"/>
          <a:ext cx="4736592" cy="2057400"/>
        </p:xfrm>
        <a:graphic>
          <a:graphicData uri="http://schemas.openxmlformats.org/drawingml/2006/table">
            <a:tbl>
              <a:tblPr/>
              <a:tblGrid>
                <a:gridCol w="98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접점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Inframon 제공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B-Maps 활용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자산 모델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IFC 부재 GUID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기존 IFC 체계에 그대로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3D 레이어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3D Tiles · glTF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지도 위 레이어로 적재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좌표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WGS84 / EPSG:5179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대장 좌표와 직접 대응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시계열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REST /api/v1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대시보드 · 경보 규칙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" name="Text 42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교면 전용 재선별(MT-InSAR: 기선망 · 점별 DEM 오차 · 열팽창 · APS) 뒤의 교면 PS 를 쓴다. 연동은 읽기 전용 사이드카라 B-Maps 본체를 고치지 않는다.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" y="137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"/>
            <a:ext cx="18288" cy="320040"/>
          </a:xfrm>
          <a:prstGeom prst="rect">
            <a:avLst/>
          </a:prstGeom>
          <a:solidFill>
            <a:srgbClr val="4A5361"/>
          </a:solidFill>
          <a:ln w="12700">
            <a:solidFill>
              <a:srgbClr val="4A53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2801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향후 계획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710928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10928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314432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14432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17936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17936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521440" y="155448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521440" y="1554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파이프라인은 끝까지 돌아간다 — KICT 와 연동 규칙을 정하면 시범 연동부터 시작할 수 있다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0" y="6656832"/>
            <a:ext cx="2743200" cy="201168"/>
          </a:xfrm>
          <a:prstGeom prst="rect">
            <a:avLst/>
          </a:prstGeom>
          <a:solidFill>
            <a:srgbClr val="E9EBEE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" y="6656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2026 KAIA 자문회의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45752" y="66385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132588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2648" y="152704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2648" y="15270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진행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508760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개발 · 실증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203911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6단계 파이프라인 · 데이터 계약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실 Sentinel-1 자료로 전 과정 시범 처리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REST 사이드카 · 탭 예제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069080" y="2061972"/>
            <a:ext cx="155448" cy="31089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11396" y="132588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12564" y="152704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12564" y="15270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협의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408676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시범 연동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539996" y="203911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교량관리번호 ↔ bridge_id 매핑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좌표계 · 인증 방식 합의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스테이징 서버 연동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968996" y="2061972"/>
            <a:ext cx="155448" cy="31089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211312" y="132588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412480" y="152704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12480" y="15270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예정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9308592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운영 · 고도화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439912" y="203911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운영 탭 · 신규 영상 자동 갱신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계측 위치 기반 정확도 검증 · CRI 기준 재설정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코너리플렉터 · 고해상도 SAR 보강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11480" y="3429000"/>
            <a:ext cx="55778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148840" y="3282696"/>
            <a:ext cx="2103120" cy="283464"/>
          </a:xfrm>
          <a:prstGeom prst="roundRect">
            <a:avLst>
              <a:gd name="adj" fmla="val 4838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148840" y="3282696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KICT 협의 요청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594360" y="390448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9436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37947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시범 교량 선정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계측 자료가 있는 곳부터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246120" y="390448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24612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3703320" y="37947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화면 필드 매핑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교량관리번호 · B-Maps 표시 항목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594360" y="477316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9436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1051560" y="466344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운영 규칙 합의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갱신 주기 · 경보 임계 · 인증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3246120" y="477316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24612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3703320" y="466344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검증 자료 공유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계측 위치 · 실 제원 · 점검 이력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6199632" y="3429000"/>
            <a:ext cx="55778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936992" y="3282696"/>
            <a:ext cx="2103120" cy="283464"/>
          </a:xfrm>
          <a:prstGeom prst="roundRect">
            <a:avLst>
              <a:gd name="adj" fmla="val 4838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936992" y="3282696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기대 효과</a:t>
            </a:r>
            <a:endParaRPr lang="en-US" sz="1150" dirty="0"/>
          </a:p>
        </p:txBody>
      </p:sp>
      <p:sp>
        <p:nvSpPr>
          <p:cNvPr id="57" name="Text 54"/>
          <p:cNvSpPr txBox="1"/>
          <p:nvPr/>
        </p:nvSpPr>
        <p:spPr>
          <a:xfrm>
            <a:off x="6400800" y="38404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노후도 평가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'몇 년 됐나'에서 '실제로 얼마나 움직였나'로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안정성 추정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전 구간을 훑고 이상 구간만 현장 확인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유지관리 우선순위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같은 예산으로 먼저 볼 곳을 근거로 결정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411480" y="5687568"/>
            <a:ext cx="11365992" cy="566928"/>
          </a:xfrm>
          <a:prstGeom prst="roundRect">
            <a:avLst>
              <a:gd name="adj" fmla="val 9677"/>
            </a:avLst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85800" y="56875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연동 시연은 지금 바로 가능합니다   </a:t>
            </a: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레지스트리에 교량관리번호만 넣으면 그 교량이 B-Maps 탭에 뜬다</a:t>
            </a:r>
            <a:endParaRPr lang="en-US" sz="1400" dirty="0"/>
          </a:p>
        </p:txBody>
      </p:sp>
      <p:sp>
        <p:nvSpPr>
          <p:cNvPr id="60" name="Text 57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문의 · 재현 자료: README.md · docs/Bmaps_연동_인터페이스.md · examples/bmaps_tab/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1986</Words>
  <Application>Microsoft Office PowerPoint</Application>
  <PresentationFormat>와이드스크린</PresentationFormat>
  <Paragraphs>349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Paperlogy 5 Medium</vt:lpstr>
      <vt:lpstr>Paperlogy 7 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Inframon × B-Maps 연계 제안</dc:title>
  <dc:subject>PptxGenJS Presentation</dc:subject>
  <dc:creator>PptxGenJS</dc:creator>
  <cp:lastModifiedBy>A</cp:lastModifiedBy>
  <cp:revision>1</cp:revision>
  <dcterms:created xsi:type="dcterms:W3CDTF">2026-09-16T13:35:07Z</dcterms:created>
  <dcterms:modified xsi:type="dcterms:W3CDTF">2026-09-17T00:45:45Z</dcterms:modified>
</cp:coreProperties>
</file>