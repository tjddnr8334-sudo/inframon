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7104063" cy="10234613"/>
  <p:embeddedFontLst>
    <p:embeddedFont>
      <p:font typeface="12롯데마트드림Bold" panose="020B0600000101010101" charset="-127"/>
      <p:regular r:id="rId13"/>
    </p:embeddedFont>
    <p:embeddedFont>
      <p:font typeface="Paperlogy 4 Regular" pitchFamily="2" charset="-127"/>
      <p:regular r:id="rId14"/>
    </p:embeddedFont>
    <p:embeddedFont>
      <p:font typeface="Paperlogy 5 Medium" pitchFamily="2" charset="-127"/>
      <p:regular r:id="rId15"/>
    </p:embeddedFont>
    <p:embeddedFont>
      <p:font typeface="Paperlogy 7 Bold" pitchFamily="2" charset="-127"/>
      <p:bold r:id="rId16"/>
    </p:embeddedFont>
    <p:embeddedFont>
      <p:font typeface="Pretendard" panose="02000503000000020004" pitchFamily="2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A0B6F17-C26F-43FB-831C-EA58927E2B2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서식" id="{DDF278CF-ADA6-4C98-B57F-8DA450EC3DB7}">
          <p14:sldIdLst/>
        </p14:section>
        <p14:section name="본문" id="{28065E0A-B8FD-4313-8E73-291547E2D5D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316FB6-C249-FF8E-3EAB-EBF74372A5C7}" name="선우린" initials="우선" userId="S::lynn@smartinside.ai::8266e99a-492c-4aeb-b0bf-c7bb5c4f60e9" providerId="AD"/>
  <p188:author id="{EA59F4CB-818A-144A-B007-87B8AD83CA12}" name="김한선" initials="" userId="S::butan90@o365.skku.edu::317d3101-5e51-4b24-877b-583fa87dbd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  <a:srgbClr val="1C5B8A"/>
    <a:srgbClr val="BBD9F7"/>
    <a:srgbClr val="D6E8FA"/>
    <a:srgbClr val="EAF3FC"/>
    <a:srgbClr val="FFDE75"/>
    <a:srgbClr val="3B95F7"/>
    <a:srgbClr val="074FA1"/>
    <a:srgbClr val="7EB9FA"/>
    <a:srgbClr val="B7D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36" autoAdjust="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66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B86E2F54-72BD-6E42-AEBA-33695E9DE06A}" type="datetimeFigureOut">
              <a:rPr lang="en-KR" smtClean="0"/>
              <a:pPr/>
              <a:t>09/20/2026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1"/>
            <a:ext cx="5683250" cy="4029879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4563FB02-C4B1-5640-BDA0-815292349273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927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F8A8-4175-A74C-BC57-4E521DAE3076}" type="datetimeFigureOut">
              <a:rPr lang="en-KR" smtClean="0"/>
              <a:t>09/20/2026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84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목차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many lines&#10;&#10;AI-generated content may be incorrect.">
            <a:extLst>
              <a:ext uri="{FF2B5EF4-FFF2-40B4-BE49-F238E27FC236}">
                <a16:creationId xmlns:a16="http://schemas.microsoft.com/office/drawing/2014/main" id="{E46BFB2A-D3E3-1988-0826-A62EFF769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1000"/>
          </a:blip>
          <a:srcRect l="23064"/>
          <a:stretch/>
        </p:blipFill>
        <p:spPr>
          <a:xfrm>
            <a:off x="1" y="0"/>
            <a:ext cx="938010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BD490-65BD-A1DF-FD80-8CE57CE3D033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6CC81-4EAC-80DA-7B8E-AAB7CDEED1BD}"/>
              </a:ext>
            </a:extLst>
          </p:cNvPr>
          <p:cNvSpPr/>
          <p:nvPr userDrawn="1"/>
        </p:nvSpPr>
        <p:spPr>
          <a:xfrm>
            <a:off x="0" y="6812286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D6AB0EDE-1AAE-327B-32A0-6CAF21FB07B0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88D076-0591-2285-3ED6-1EDA9406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6320"/>
            <a:ext cx="2743200" cy="365125"/>
          </a:xfrm>
          <a:prstGeom prst="rect">
            <a:avLst/>
          </a:prstGeom>
        </p:spPr>
        <p:txBody>
          <a:bodyPr/>
          <a:lstStyle/>
          <a:p>
            <a:fld id="{E1DA906B-CB66-1048-98AE-AAE046A9E502}" type="slidenum">
              <a:rPr lang="en-KR" smtClean="0"/>
              <a:pPr/>
              <a:t>‹#›</a:t>
            </a:fld>
            <a:endParaRPr lang="en-KR"/>
          </a:p>
        </p:txBody>
      </p:sp>
      <p:sp>
        <p:nvSpPr>
          <p:cNvPr id="12" name="Round Diagonal Corner Rectangle 17">
            <a:extLst>
              <a:ext uri="{FF2B5EF4-FFF2-40B4-BE49-F238E27FC236}">
                <a16:creationId xmlns:a16="http://schemas.microsoft.com/office/drawing/2014/main" id="{EE63A46E-225A-962A-89B1-6CED782929EA}"/>
              </a:ext>
            </a:extLst>
          </p:cNvPr>
          <p:cNvSpPr/>
          <p:nvPr userDrawn="1"/>
        </p:nvSpPr>
        <p:spPr>
          <a:xfrm flipH="1">
            <a:off x="-4" y="6635413"/>
            <a:ext cx="2864648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E78DA-40D7-951A-3166-C8E44AE31029}"/>
              </a:ext>
            </a:extLst>
          </p:cNvPr>
          <p:cNvSpPr txBox="1"/>
          <p:nvPr userDrawn="1"/>
        </p:nvSpPr>
        <p:spPr>
          <a:xfrm>
            <a:off x="-11998" y="6635314"/>
            <a:ext cx="2936173" cy="23691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>
              <a:defRPr/>
            </a:pP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</p:spTree>
    <p:extLst>
      <p:ext uri="{BB962C8B-B14F-4D97-AF65-F5344CB8AC3E}">
        <p14:creationId xmlns:p14="http://schemas.microsoft.com/office/powerpoint/2010/main" val="151173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F6B0B0-CC67-00A4-D1D4-FFFFAD144F76}"/>
              </a:ext>
            </a:extLst>
          </p:cNvPr>
          <p:cNvSpPr/>
          <p:nvPr userDrawn="1"/>
        </p:nvSpPr>
        <p:spPr>
          <a:xfrm>
            <a:off x="0" y="0"/>
            <a:ext cx="12192000" cy="624691"/>
          </a:xfrm>
          <a:prstGeom prst="rect">
            <a:avLst/>
          </a:prstGeom>
          <a:solidFill>
            <a:srgbClr val="10171E">
              <a:lumMod val="10000"/>
              <a:lumOff val="90000"/>
              <a:alpha val="34000"/>
            </a:srgbClr>
          </a:solidFill>
          <a:ln w="1905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1DA194-CBAB-3778-F334-8CFC0F22B433}"/>
              </a:ext>
            </a:extLst>
          </p:cNvPr>
          <p:cNvSpPr/>
          <p:nvPr userDrawn="1"/>
        </p:nvSpPr>
        <p:spPr>
          <a:xfrm>
            <a:off x="0" y="588691"/>
            <a:ext cx="12192000" cy="36000"/>
          </a:xfrm>
          <a:prstGeom prst="roundRect">
            <a:avLst>
              <a:gd name="adj" fmla="val 0"/>
            </a:avLst>
          </a:prstGeom>
          <a:solidFill>
            <a:srgbClr val="10171E">
              <a:lumMod val="10000"/>
              <a:lumOff val="9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094134B1-D98C-B7C2-0CB9-BF20FB716CF3}"/>
              </a:ext>
            </a:extLst>
          </p:cNvPr>
          <p:cNvSpPr/>
          <p:nvPr userDrawn="1"/>
        </p:nvSpPr>
        <p:spPr>
          <a:xfrm rot="5400000">
            <a:off x="21379" y="-63640"/>
            <a:ext cx="479045" cy="897623"/>
          </a:xfrm>
          <a:prstGeom prst="round2SameRect">
            <a:avLst>
              <a:gd name="adj1" fmla="val 12189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2B8B964-5829-35DA-FFE9-B75B4560FED1}"/>
              </a:ext>
            </a:extLst>
          </p:cNvPr>
          <p:cNvSpPr/>
          <p:nvPr userDrawn="1"/>
        </p:nvSpPr>
        <p:spPr>
          <a:xfrm rot="5400000">
            <a:off x="238265" y="162517"/>
            <a:ext cx="36000" cy="888348"/>
          </a:xfrm>
          <a:custGeom>
            <a:avLst/>
            <a:gdLst>
              <a:gd name="connsiteX0" fmla="*/ 0 w 36000"/>
              <a:gd name="connsiteY0" fmla="*/ 888348 h 888348"/>
              <a:gd name="connsiteX1" fmla="*/ 0 w 36000"/>
              <a:gd name="connsiteY1" fmla="*/ 0 h 888348"/>
              <a:gd name="connsiteX2" fmla="*/ 18901 w 36000"/>
              <a:gd name="connsiteY2" fmla="*/ 7829 h 888348"/>
              <a:gd name="connsiteX3" fmla="*/ 31414 w 36000"/>
              <a:gd name="connsiteY3" fmla="*/ 26390 h 888348"/>
              <a:gd name="connsiteX4" fmla="*/ 36000 w 36000"/>
              <a:gd name="connsiteY4" fmla="*/ 49103 h 888348"/>
              <a:gd name="connsiteX5" fmla="*/ 36000 w 36000"/>
              <a:gd name="connsiteY5" fmla="*/ 888348 h 8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0" h="888348">
                <a:moveTo>
                  <a:pt x="0" y="888348"/>
                </a:moveTo>
                <a:lnTo>
                  <a:pt x="0" y="0"/>
                </a:lnTo>
                <a:lnTo>
                  <a:pt x="18901" y="7829"/>
                </a:lnTo>
                <a:cubicBezTo>
                  <a:pt x="24184" y="13113"/>
                  <a:pt x="28460" y="19404"/>
                  <a:pt x="31414" y="26390"/>
                </a:cubicBezTo>
                <a:lnTo>
                  <a:pt x="36000" y="49103"/>
                </a:lnTo>
                <a:lnTo>
                  <a:pt x="36000" y="888348"/>
                </a:lnTo>
                <a:close/>
              </a:path>
            </a:pathLst>
          </a:custGeom>
          <a:solidFill>
            <a:schemeClr val="tx2">
              <a:lumMod val="50000"/>
              <a:alpha val="5519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F4A933-FE4E-10C0-1A56-8DB6665D3458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5E9E3-8815-B25B-782F-CF437DFB69C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id="{1546BE10-9EC5-7A70-9059-5FDBB17D1541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A4F33486-4A06-6DB5-84CE-54833F86A165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4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DA906B-CB66-1048-98AE-AAE046A9E502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96175194-B9B3-FECC-547B-79C942CA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713" y="127208"/>
            <a:ext cx="9188772" cy="465385"/>
          </a:xfrm>
        </p:spPr>
        <p:txBody>
          <a:bodyPr anchor="b">
            <a:normAutofit/>
          </a:bodyPr>
          <a:lstStyle>
            <a:lvl1pPr>
              <a:defRPr kumimoji="0" lang="en-KR" sz="1900" b="1" i="0" u="none" strike="noStrike" kern="1200" cap="none" spc="0" normalizeH="0" baseline="0" dirty="0">
                <a:ln>
                  <a:noFill/>
                </a:ln>
                <a:solidFill>
                  <a:srgbClr val="373D47"/>
                </a:solidFill>
                <a:effectLst/>
                <a:uLnTx/>
                <a:uFillTx/>
                <a:latin typeface="Paperlogy 7 Bold" pitchFamily="2" charset="-127"/>
                <a:ea typeface="Paperlogy 7 Bold" pitchFamily="2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페이지 타이틀</a:t>
            </a:r>
            <a:endParaRPr lang="en-KR" dirty="0"/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0C16CA44-2417-8527-CD45-E3DEBB1290A2}"/>
              </a:ext>
            </a:extLst>
          </p:cNvPr>
          <p:cNvSpPr/>
          <p:nvPr userDrawn="1"/>
        </p:nvSpPr>
        <p:spPr>
          <a:xfrm flipH="1">
            <a:off x="-2" y="6635413"/>
            <a:ext cx="27432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0F641F-5269-9EB0-7EAB-3DEDB0FDD2B3}"/>
              </a:ext>
            </a:extLst>
          </p:cNvPr>
          <p:cNvSpPr txBox="1"/>
          <p:nvPr userDrawn="1"/>
        </p:nvSpPr>
        <p:spPr>
          <a:xfrm>
            <a:off x="-11998" y="6625586"/>
            <a:ext cx="2743200" cy="226591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E6688C-5B2C-E1DE-498F-DD8F05D31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573" b="6791"/>
          <a:stretch>
            <a:fillRect/>
          </a:stretch>
        </p:blipFill>
        <p:spPr>
          <a:xfrm>
            <a:off x="11045634" y="0"/>
            <a:ext cx="1146366" cy="5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17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F29C-DF81-4046-ACF8-D5C3F487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6AF9-4982-4C31-97AE-D209C6AE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8DF1-F1BB-42EA-BF89-835255F5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F0E3-C562-498F-826B-D316EB0C04C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DADF-35E3-47B4-B06B-AC7A0B5D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3F33-8C12-4C31-85E0-493C6B01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C6E0-099D-428C-8CCD-C52AB5491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5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365125"/>
            <a:ext cx="11591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7" y="1825625"/>
            <a:ext cx="11591925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EF8A8-4175-A74C-BC57-4E521DAE3076}" type="datetimeFigureOut">
              <a:rPr lang="en-KR" smtClean="0"/>
              <a:t>09/20/2026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439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44" r:id="rId2"/>
    <p:sldLayoutId id="2147483704" r:id="rId3"/>
    <p:sldLayoutId id="2147483745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aperlogy 5 Medium" pitchFamily="2" charset="-127"/>
          <a:ea typeface="Paperlogy 5 Medium" pitchFamily="2" charset="-127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 userDrawn="1">
          <p15:clr>
            <a:srgbClr val="F26B43"/>
          </p15:clr>
        </p15:guide>
        <p15:guide id="2" pos="7491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"/>
            <a:ext cx="12191695" cy="2103120"/>
          </a:xfrm>
          <a:prstGeom prst="rect">
            <a:avLst/>
          </a:prstGeom>
          <a:solidFill>
            <a:srgbClr val="053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0"/>
            <a:ext cx="256032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3622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위성 InSAR · PINN 기반 교량 변위 모니터링 플랫폼</a:t>
            </a:r>
          </a:p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Inframon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24912"/>
            <a:ext cx="10936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좌표 하나로 위성 → 변위 → AI 해석 → 디지털 트윈 → B-Maps 까지 자동으로 잇는다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936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KICT B-Maps 연계 · 2026 KAIA 자문회의 · 강원대학교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4747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739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교량 유지관리 현황과 한계 · 위성 InSAR 와 B-Maps 연계의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34747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4023360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9651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361688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최종 목표 · 세부 목표 · 성과 지표와 지금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4096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645152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71830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연구수행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83480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① Inframon 플랫폼 구성   ② 한강 교량 실증 · 디지털 트윈   ③ B-Maps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471830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4 –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266944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34009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605272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단계별 추진 계획 · KICT 협의 요청 · 기대 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34009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888736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1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6126480"/>
            <a:ext cx="1225296" cy="393192"/>
          </a:xfrm>
          <a:prstGeom prst="rect">
            <a:avLst/>
          </a:prstGeom>
        </p:spPr>
      </p:pic>
      <p:pic>
        <p:nvPicPr>
          <p:cNvPr id="32" name="Picture 31" descr="s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6153912"/>
            <a:ext cx="1801368" cy="320040"/>
          </a:xfrm>
          <a:prstGeom prst="rect">
            <a:avLst/>
          </a:prstGeom>
        </p:spPr>
      </p:pic>
      <p:pic>
        <p:nvPicPr>
          <p:cNvPr id="33" name="Picture 32" descr="s1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6153912"/>
            <a:ext cx="1746504" cy="374904"/>
          </a:xfrm>
          <a:prstGeom prst="rect">
            <a:avLst/>
          </a:prstGeom>
        </p:spPr>
      </p:pic>
      <p:pic>
        <p:nvPicPr>
          <p:cNvPr id="34" name="Picture 33" descr="s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6172200"/>
            <a:ext cx="1901952" cy="365760"/>
          </a:xfrm>
          <a:prstGeom prst="rect">
            <a:avLst/>
          </a:prstGeom>
        </p:spPr>
      </p:pic>
      <p:pic>
        <p:nvPicPr>
          <p:cNvPr id="35" name="Picture 34" descr="s1_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6035040"/>
            <a:ext cx="2002536" cy="512064"/>
          </a:xfrm>
          <a:prstGeom prst="rect">
            <a:avLst/>
          </a:prstGeom>
        </p:spPr>
      </p:pic>
      <p:pic>
        <p:nvPicPr>
          <p:cNvPr id="36" name="Picture 35" descr="s1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6236208"/>
            <a:ext cx="2203704" cy="29260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[소관부처] 국토교통부 │ [전문기관] 국토교통과학기술진흥원 │ [주관연구개발기관] 강원대학교 │ [공동연구개발기관] 스마트인사이드에이아이 │ [자문/협력기관] 한국건설기술연구원(KICT), 지티에스엔지니어링(GTS)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현장 계측은 일부 교량·지점에 머문다 — 위성으로 전 교량의 변위 이력을 채우고 B-Maps 에 연결해야 한다</a:t>
            </a:r>
            <a:endParaRPr lang="en-US" sz="1450" dirty="0"/>
          </a:p>
        </p:txBody>
      </p:sp>
      <p:sp>
        <p:nvSpPr>
          <p:cNvPr id="2476" name="Shape 19"/>
          <p:cNvSpPr/>
          <p:nvPr/>
        </p:nvSpPr>
        <p:spPr>
          <a:xfrm>
            <a:off x="411480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80" name="Shape 20"/>
          <p:cNvSpPr/>
          <p:nvPr/>
        </p:nvSpPr>
        <p:spPr>
          <a:xfrm>
            <a:off x="1005840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484" name="Text 21"/>
          <p:cNvSpPr txBox="1"/>
          <p:nvPr/>
        </p:nvSpPr>
        <p:spPr>
          <a:xfrm>
            <a:off x="1005840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유지관리 현황과 한계</a:t>
            </a:r>
            <a:endParaRPr lang="en-US" sz="1150" dirty="0"/>
          </a:p>
        </p:txBody>
      </p:sp>
      <p:sp>
        <p:nvSpPr>
          <p:cNvPr id="2488" name="Text 22"/>
          <p:cNvSpPr txBox="1"/>
          <p:nvPr/>
        </p:nvSpPr>
        <p:spPr>
          <a:xfrm>
            <a:off x="640080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상시 계측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센서를 붙인 교량·지점만 본다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정기 점검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점검과 점검 사이는 관측 공백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센서 미설치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성수·한강대교도 처짐(경사) 센서 없음</a:t>
            </a:r>
            <a:endParaRPr lang="en-US" sz="1200" dirty="0"/>
          </a:p>
        </p:txBody>
      </p:sp>
      <p:sp>
        <p:nvSpPr>
          <p:cNvPr id="2492" name="Shape 23"/>
          <p:cNvSpPr/>
          <p:nvPr/>
        </p:nvSpPr>
        <p:spPr>
          <a:xfrm>
            <a:off x="4311396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96" name="Shape 24"/>
          <p:cNvSpPr/>
          <p:nvPr/>
        </p:nvSpPr>
        <p:spPr>
          <a:xfrm>
            <a:off x="4905756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500" name="Text 25"/>
          <p:cNvSpPr txBox="1"/>
          <p:nvPr/>
        </p:nvSpPr>
        <p:spPr>
          <a:xfrm>
            <a:off x="4905756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위성 InSAR 의 필요성</a:t>
            </a:r>
            <a:endParaRPr lang="en-US" sz="1150" dirty="0"/>
          </a:p>
        </p:txBody>
      </p:sp>
      <p:sp>
        <p:nvSpPr>
          <p:cNvPr id="2504" name="Text 26"/>
          <p:cNvSpPr txBox="1"/>
          <p:nvPr/>
        </p:nvSpPr>
        <p:spPr>
          <a:xfrm>
            <a:off x="4539996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소급 관측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2018년부터 쌓인 공개 위성자료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교량에 장비를 달지 않는다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확장성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비용이 교량 수에 비례하지 않는다</a:t>
            </a:r>
            <a:endParaRPr lang="en-US" sz="1200" dirty="0"/>
          </a:p>
        </p:txBody>
      </p:sp>
      <p:sp>
        <p:nvSpPr>
          <p:cNvPr id="2508" name="Shape 27"/>
          <p:cNvSpPr/>
          <p:nvPr/>
        </p:nvSpPr>
        <p:spPr>
          <a:xfrm>
            <a:off x="8211312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12" name="Shape 28"/>
          <p:cNvSpPr/>
          <p:nvPr/>
        </p:nvSpPr>
        <p:spPr>
          <a:xfrm>
            <a:off x="8805672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2516" name="Text 29"/>
          <p:cNvSpPr txBox="1"/>
          <p:nvPr/>
        </p:nvSpPr>
        <p:spPr>
          <a:xfrm>
            <a:off x="8805672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B-Maps 연계의 필요성</a:t>
            </a:r>
            <a:endParaRPr lang="en-US" sz="1150" dirty="0"/>
          </a:p>
        </p:txBody>
      </p:sp>
      <p:sp>
        <p:nvSpPr>
          <p:cNvPr id="2520" name="Text 30"/>
          <p:cNvSpPr txBox="1"/>
          <p:nvPr/>
        </p:nvSpPr>
        <p:spPr>
          <a:xfrm>
            <a:off x="8439912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공간 + 시간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자산·도면에 변위 이력을 더한다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부재 단위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 GUID 로 결과를 묶는다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서비스화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노후도·안정성 판단에 바로 투입</a:t>
            </a:r>
            <a:endParaRPr lang="en-US" sz="1200" dirty="0"/>
          </a:p>
        </p:txBody>
      </p:sp>
      <p:sp>
        <p:nvSpPr>
          <p:cNvPr id="2524" name="Shape 31"/>
          <p:cNvSpPr/>
          <p:nvPr/>
        </p:nvSpPr>
        <p:spPr>
          <a:xfrm>
            <a:off x="41148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28" name="Text 32"/>
          <p:cNvSpPr txBox="1"/>
          <p:nvPr/>
        </p:nvSpPr>
        <p:spPr>
          <a:xfrm>
            <a:off x="59436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년치</a:t>
            </a:r>
            <a:endParaRPr lang="en-US" sz="1100" dirty="0"/>
          </a:p>
        </p:txBody>
      </p:sp>
      <p:sp>
        <p:nvSpPr>
          <p:cNvPr id="2532" name="Text 33"/>
          <p:cNvSpPr txBox="1"/>
          <p:nvPr/>
        </p:nvSpPr>
        <p:spPr>
          <a:xfrm>
            <a:off x="59436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 6월부터 쌓인 위성 관측</a:t>
            </a:r>
            <a:endParaRPr lang="en-US" sz="1000" dirty="0"/>
          </a:p>
        </p:txBody>
      </p:sp>
      <p:sp>
        <p:nvSpPr>
          <p:cNvPr id="2536" name="Shape 34"/>
          <p:cNvSpPr/>
          <p:nvPr/>
        </p:nvSpPr>
        <p:spPr>
          <a:xfrm>
            <a:off x="329184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40" name="Text 35"/>
          <p:cNvSpPr txBox="1"/>
          <p:nvPr/>
        </p:nvSpPr>
        <p:spPr>
          <a:xfrm>
            <a:off x="347472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일</a:t>
            </a:r>
            <a:endParaRPr lang="en-US" sz="1100" dirty="0"/>
          </a:p>
        </p:txBody>
      </p:sp>
      <p:sp>
        <p:nvSpPr>
          <p:cNvPr id="2544" name="Text 36"/>
          <p:cNvSpPr txBox="1"/>
          <p:nvPr/>
        </p:nvSpPr>
        <p:spPr>
          <a:xfrm>
            <a:off x="347472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재방문 </a:t>
            </a:r>
            <a:r>
              <a:rPr lang="en-US" sz="1000" dirty="0" err="1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주기</a:t>
            </a: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- 사람이 가지 않아도 갱신</a:t>
            </a:r>
            <a:endParaRPr lang="en-US" sz="1000" dirty="0"/>
          </a:p>
        </p:txBody>
      </p:sp>
      <p:sp>
        <p:nvSpPr>
          <p:cNvPr id="2548" name="Shape 37"/>
          <p:cNvSpPr/>
          <p:nvPr/>
        </p:nvSpPr>
        <p:spPr>
          <a:xfrm>
            <a:off x="617220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52" name="Text 38"/>
          <p:cNvSpPr txBox="1"/>
          <p:nvPr/>
        </p:nvSpPr>
        <p:spPr>
          <a:xfrm>
            <a:off x="635508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2556" name="Text 39"/>
          <p:cNvSpPr txBox="1"/>
          <p:nvPr/>
        </p:nvSpPr>
        <p:spPr>
          <a:xfrm>
            <a:off x="635508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현장 설치 </a:t>
            </a:r>
            <a:r>
              <a:rPr lang="en-US" sz="1000" dirty="0" err="1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장비</a:t>
            </a: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- 교량에 손대지 않는다</a:t>
            </a:r>
            <a:endParaRPr lang="en-US" sz="1000" dirty="0"/>
          </a:p>
        </p:txBody>
      </p:sp>
      <p:sp>
        <p:nvSpPr>
          <p:cNvPr id="2560" name="Shape 40"/>
          <p:cNvSpPr/>
          <p:nvPr/>
        </p:nvSpPr>
        <p:spPr>
          <a:xfrm>
            <a:off x="905256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64" name="Text 41"/>
          <p:cNvSpPr txBox="1"/>
          <p:nvPr/>
        </p:nvSpPr>
        <p:spPr>
          <a:xfrm>
            <a:off x="923544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전량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무상</a:t>
            </a:r>
            <a:endParaRPr lang="en-US" sz="1100" dirty="0"/>
          </a:p>
        </p:txBody>
      </p:sp>
      <p:sp>
        <p:nvSpPr>
          <p:cNvPr id="2568" name="Text 42"/>
          <p:cNvSpPr txBox="1"/>
          <p:nvPr/>
        </p:nvSpPr>
        <p:spPr>
          <a:xfrm>
            <a:off x="923544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Sentinel-1 공개 위성자료</a:t>
            </a:r>
            <a:endParaRPr lang="en-US" sz="1000" dirty="0"/>
          </a:p>
        </p:txBody>
      </p:sp>
      <p:graphicFrame>
        <p:nvGraphicFramePr>
          <p:cNvPr id="25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25209"/>
              </p:ext>
            </p:extLst>
          </p:nvPr>
        </p:nvGraphicFramePr>
        <p:xfrm>
          <a:off x="411480" y="4937760"/>
          <a:ext cx="11365992" cy="13167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위성 InSAR · B-Maps 연계 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달린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상시 </a:t>
                      </a:r>
                      <a:r>
                        <a:rPr lang="en-US" sz="1100" dirty="0" err="1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감시</a:t>
                      </a: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 - 센서를 붙인 지점만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위성으로 교차검증 · 나머지 구간까지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없는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간 날에만 판단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12일마다 전 구간 변위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과거 이력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기록이 전부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2018년 6월까지 소급해 다시 본다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센서 미설치 항목은 2024 한강교량 온라인 안전감시시스템 유지관리 최종보고 기준. 위성 관측 기간은 실제 처리한 Sentinel-1 스택(2018-06-19 ~ 2025-12-27).</a:t>
            </a:r>
            <a:endParaRPr lang="en-US" sz="8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CDABDA9-C861-4104-BB01-CD84194D5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6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InSAR · PINN 기반 교량 변위 모니터링 플랫폼(Inframon)을 개발하고 B-Maps 에 연계한다</a:t>
            </a:r>
            <a:endParaRPr lang="en-US" sz="1450" dirty="0"/>
          </a:p>
        </p:txBody>
      </p:sp>
      <p:sp>
        <p:nvSpPr>
          <p:cNvPr id="2676" name="Shape 19"/>
          <p:cNvSpPr/>
          <p:nvPr/>
        </p:nvSpPr>
        <p:spPr>
          <a:xfrm>
            <a:off x="411480" y="1261872"/>
            <a:ext cx="11365992" cy="804672"/>
          </a:xfrm>
          <a:prstGeom prst="roundRect">
            <a:avLst>
              <a:gd name="adj" fmla="val 6818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0" name="Shape 20"/>
          <p:cNvSpPr/>
          <p:nvPr/>
        </p:nvSpPr>
        <p:spPr>
          <a:xfrm>
            <a:off x="640080" y="151790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4" name="Text 21"/>
          <p:cNvSpPr txBox="1"/>
          <p:nvPr/>
        </p:nvSpPr>
        <p:spPr>
          <a:xfrm>
            <a:off x="640080" y="151790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최종 목표</a:t>
            </a:r>
            <a:endParaRPr lang="en-US" sz="1100" dirty="0"/>
          </a:p>
        </p:txBody>
      </p:sp>
      <p:sp>
        <p:nvSpPr>
          <p:cNvPr id="2688" name="Text 22"/>
          <p:cNvSpPr txBox="1"/>
          <p:nvPr/>
        </p:nvSpPr>
        <p:spPr>
          <a:xfrm>
            <a:off x="2011680" y="1261872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계측기가 없는 교량까지 위성 변위로 상태를 파악하는 지능형 유지관리 체계 — Inframon 개발 및 B-Maps 연계</a:t>
            </a:r>
            <a:endParaRPr lang="en-US" sz="1500" dirty="0"/>
          </a:p>
        </p:txBody>
      </p:sp>
      <p:sp>
        <p:nvSpPr>
          <p:cNvPr id="2692" name="Shape 23"/>
          <p:cNvSpPr/>
          <p:nvPr/>
        </p:nvSpPr>
        <p:spPr>
          <a:xfrm>
            <a:off x="41148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96" name="Shape 24"/>
          <p:cNvSpPr/>
          <p:nvPr/>
        </p:nvSpPr>
        <p:spPr>
          <a:xfrm>
            <a:off x="59436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00" name="Text 25"/>
          <p:cNvSpPr txBox="1"/>
          <p:nvPr/>
        </p:nvSpPr>
        <p:spPr>
          <a:xfrm>
            <a:off x="5943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704" name="Text 26"/>
          <p:cNvSpPr txBox="1"/>
          <p:nvPr/>
        </p:nvSpPr>
        <p:spPr>
          <a:xfrm>
            <a:off x="109728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변위 자동 산출</a:t>
            </a:r>
            <a:endParaRPr lang="en-US" sz="1350" dirty="0"/>
          </a:p>
        </p:txBody>
      </p:sp>
      <p:sp>
        <p:nvSpPr>
          <p:cNvPr id="2708" name="Text 27"/>
          <p:cNvSpPr txBox="1"/>
          <p:nvPr/>
        </p:nvSpPr>
        <p:spPr>
          <a:xfrm>
            <a:off x="59436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 1개로 Sentinel-1 수집부터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변위 시계열까지</a:t>
            </a:r>
            <a:endParaRPr lang="en-US" sz="1050" dirty="0"/>
          </a:p>
        </p:txBody>
      </p:sp>
      <p:sp>
        <p:nvSpPr>
          <p:cNvPr id="2712" name="Shape 28"/>
          <p:cNvSpPr/>
          <p:nvPr/>
        </p:nvSpPr>
        <p:spPr>
          <a:xfrm>
            <a:off x="329184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6" name="Shape 29"/>
          <p:cNvSpPr/>
          <p:nvPr/>
        </p:nvSpPr>
        <p:spPr>
          <a:xfrm>
            <a:off x="347472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0" name="Text 30"/>
          <p:cNvSpPr txBox="1"/>
          <p:nvPr/>
        </p:nvSpPr>
        <p:spPr>
          <a:xfrm>
            <a:off x="34747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724" name="Text 31"/>
          <p:cNvSpPr txBox="1"/>
          <p:nvPr/>
        </p:nvSpPr>
        <p:spPr>
          <a:xfrm>
            <a:off x="397764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물리 기반 AI 해석</a:t>
            </a:r>
            <a:endParaRPr lang="en-US" sz="1350" dirty="0"/>
          </a:p>
        </p:txBody>
      </p:sp>
      <p:sp>
        <p:nvSpPr>
          <p:cNvPr id="2728" name="Text 32"/>
          <p:cNvSpPr txBox="1"/>
          <p:nvPr/>
        </p:nvSpPr>
        <p:spPr>
          <a:xfrm>
            <a:off x="347472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PINN 으로 열·하중·침하 성분 분리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지수(CRI) 산출</a:t>
            </a:r>
            <a:endParaRPr lang="en-US" sz="1050" dirty="0"/>
          </a:p>
        </p:txBody>
      </p:sp>
      <p:sp>
        <p:nvSpPr>
          <p:cNvPr id="2732" name="Shape 33"/>
          <p:cNvSpPr/>
          <p:nvPr/>
        </p:nvSpPr>
        <p:spPr>
          <a:xfrm>
            <a:off x="617220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6" name="Shape 34"/>
          <p:cNvSpPr/>
          <p:nvPr/>
        </p:nvSpPr>
        <p:spPr>
          <a:xfrm>
            <a:off x="635508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40" name="Text 35"/>
          <p:cNvSpPr txBox="1"/>
          <p:nvPr/>
        </p:nvSpPr>
        <p:spPr>
          <a:xfrm>
            <a:off x="6355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44" name="Text 36"/>
          <p:cNvSpPr txBox="1"/>
          <p:nvPr/>
        </p:nvSpPr>
        <p:spPr>
          <a:xfrm>
            <a:off x="685800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디지털 트윈</a:t>
            </a:r>
            <a:endParaRPr lang="en-US" sz="1350" dirty="0"/>
          </a:p>
        </p:txBody>
      </p:sp>
      <p:sp>
        <p:nvSpPr>
          <p:cNvPr id="2748" name="Text 37"/>
          <p:cNvSpPr txBox="1"/>
          <p:nvPr/>
        </p:nvSpPr>
        <p:spPr>
          <a:xfrm>
            <a:off x="635508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부재에 위성 측점 결합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3D Tiles 로 지도 레이어 출력</a:t>
            </a:r>
            <a:endParaRPr lang="en-US" sz="1050" dirty="0"/>
          </a:p>
        </p:txBody>
      </p:sp>
      <p:sp>
        <p:nvSpPr>
          <p:cNvPr id="2752" name="Shape 38"/>
          <p:cNvSpPr/>
          <p:nvPr/>
        </p:nvSpPr>
        <p:spPr>
          <a:xfrm>
            <a:off x="905256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6" name="Shape 39"/>
          <p:cNvSpPr/>
          <p:nvPr/>
        </p:nvSpPr>
        <p:spPr>
          <a:xfrm>
            <a:off x="9235440" y="2450592"/>
            <a:ext cx="384048" cy="384048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0" name="Text 40"/>
          <p:cNvSpPr txBox="1"/>
          <p:nvPr/>
        </p:nvSpPr>
        <p:spPr>
          <a:xfrm>
            <a:off x="92354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2764" name="Text 41"/>
          <p:cNvSpPr txBox="1"/>
          <p:nvPr/>
        </p:nvSpPr>
        <p:spPr>
          <a:xfrm>
            <a:off x="973836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연계 서비스</a:t>
            </a:r>
            <a:endParaRPr lang="en-US" sz="1350" dirty="0"/>
          </a:p>
        </p:txBody>
      </p:sp>
      <p:sp>
        <p:nvSpPr>
          <p:cNvPr id="2768" name="Text 42"/>
          <p:cNvSpPr txBox="1"/>
          <p:nvPr/>
        </p:nvSpPr>
        <p:spPr>
          <a:xfrm>
            <a:off x="923544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 사이드카로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탭에 결과 제공</a:t>
            </a:r>
            <a:endParaRPr lang="en-US" sz="1050" dirty="0"/>
          </a:p>
        </p:txBody>
      </p:sp>
      <p:graphicFrame>
        <p:nvGraphicFramePr>
          <p:cNvPr id="27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794964"/>
              </p:ext>
            </p:extLst>
          </p:nvPr>
        </p:nvGraphicFramePr>
        <p:xfrm>
          <a:off x="411480" y="3822192"/>
          <a:ext cx="11365992" cy="245973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4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세부 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 지표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 단계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  위성 변위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 위성자료 전 과정 처리 교량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 1개로 수집–처리–교면 변위 시계열까지 자동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시범 연동 교량 전수 · 신규 영상 자동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  AI 해석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PINN · CRI 산출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열·하중 성분 분리 · CRI 산출 (기준 잠정)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실측 건강 교량으로 기준 재설정 → 잠정 해제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  디지털 트윈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트윈 · 측점–부재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IFC 부재 GUID 에 교면 측점 결합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B-Maps 보유 IFC 와 직접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  B-Maps 연계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연동 인터페이스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REST 사이드카 · 탭 예제 구현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스테이징 연동 → 운영 탭 탑재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지금 단계 = 실제 Sentinel-1 자료(ASC path127, 2018-06-19 ~ 2025-12-27)로 전 과정을 돌려 본 결과다. 정확도 지표는 계측 대조와 측점 밀도 확보 뒤에 제시한다.</a:t>
            </a:r>
            <a:endParaRPr lang="en-US" sz="8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05E41E2-5E4B-426C-967B-5897F744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① — Inframon 플랫폼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8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 은 좌표 하나로 위성 → 변위 → AI 해석 → 트윈 → B-Maps 까지 잇는 6단계 파이프라인이다</a:t>
            </a:r>
            <a:endParaRPr lang="en-US" sz="1450" dirty="0"/>
          </a:p>
        </p:txBody>
      </p:sp>
      <p:sp>
        <p:nvSpPr>
          <p:cNvPr id="2876" name="Shape 19"/>
          <p:cNvSpPr/>
          <p:nvPr/>
        </p:nvSpPr>
        <p:spPr>
          <a:xfrm>
            <a:off x="411480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880" name="Shape 20"/>
          <p:cNvSpPr/>
          <p:nvPr/>
        </p:nvSpPr>
        <p:spPr>
          <a:xfrm>
            <a:off x="411480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84" name="Shape 21"/>
          <p:cNvSpPr/>
          <p:nvPr/>
        </p:nvSpPr>
        <p:spPr>
          <a:xfrm>
            <a:off x="411480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88" name="Text 22"/>
          <p:cNvSpPr txBox="1"/>
          <p:nvPr/>
        </p:nvSpPr>
        <p:spPr>
          <a:xfrm>
            <a:off x="484632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⓪ 교량·영상 선별</a:t>
            </a:r>
            <a:endParaRPr lang="en-US" sz="1200" dirty="0"/>
          </a:p>
        </p:txBody>
      </p:sp>
      <p:sp>
        <p:nvSpPr>
          <p:cNvPr id="2892" name="Text 23"/>
          <p:cNvSpPr txBox="1"/>
          <p:nvPr/>
        </p:nvSpPr>
        <p:spPr>
          <a:xfrm>
            <a:off x="548640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 제원·관심영역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궤도·프레임 자동 선택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ERA5 기준영상 선정</a:t>
            </a:r>
            <a:endParaRPr lang="en-US" sz="1050" dirty="0"/>
          </a:p>
        </p:txBody>
      </p:sp>
      <p:sp>
        <p:nvSpPr>
          <p:cNvPr id="2896" name="Shape 24"/>
          <p:cNvSpPr/>
          <p:nvPr/>
        </p:nvSpPr>
        <p:spPr>
          <a:xfrm>
            <a:off x="2203704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00" name="Shape 25"/>
          <p:cNvSpPr/>
          <p:nvPr/>
        </p:nvSpPr>
        <p:spPr>
          <a:xfrm>
            <a:off x="2329891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04" name="Shape 26"/>
          <p:cNvSpPr/>
          <p:nvPr/>
        </p:nvSpPr>
        <p:spPr>
          <a:xfrm>
            <a:off x="2329891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08" name="Shape 27"/>
          <p:cNvSpPr/>
          <p:nvPr/>
        </p:nvSpPr>
        <p:spPr>
          <a:xfrm>
            <a:off x="2329891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12" name="Text 28"/>
          <p:cNvSpPr txBox="1"/>
          <p:nvPr/>
        </p:nvSpPr>
        <p:spPr>
          <a:xfrm>
            <a:off x="2403043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InSAR 처리</a:t>
            </a:r>
            <a:endParaRPr lang="en-US" sz="1200" dirty="0"/>
          </a:p>
        </p:txBody>
      </p:sp>
      <p:sp>
        <p:nvSpPr>
          <p:cNvPr id="2916" name="Text 29"/>
          <p:cNvSpPr txBox="1"/>
          <p:nvPr/>
        </p:nvSpPr>
        <p:spPr>
          <a:xfrm>
            <a:off x="2467051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 정합·간섭도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snaphu 위상 언래핑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PS·DS 측점 추출</a:t>
            </a:r>
            <a:endParaRPr lang="en-US" sz="1050" dirty="0"/>
          </a:p>
        </p:txBody>
      </p:sp>
      <p:sp>
        <p:nvSpPr>
          <p:cNvPr id="2920" name="Shape 30"/>
          <p:cNvSpPr/>
          <p:nvPr/>
        </p:nvSpPr>
        <p:spPr>
          <a:xfrm>
            <a:off x="4122115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24" name="Shape 31"/>
          <p:cNvSpPr/>
          <p:nvPr/>
        </p:nvSpPr>
        <p:spPr>
          <a:xfrm>
            <a:off x="4248302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28" name="Shape 32"/>
          <p:cNvSpPr/>
          <p:nvPr/>
        </p:nvSpPr>
        <p:spPr>
          <a:xfrm>
            <a:off x="4248302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32" name="Shape 33"/>
          <p:cNvSpPr/>
          <p:nvPr/>
        </p:nvSpPr>
        <p:spPr>
          <a:xfrm>
            <a:off x="4248302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36" name="Text 34"/>
          <p:cNvSpPr txBox="1"/>
          <p:nvPr/>
        </p:nvSpPr>
        <p:spPr>
          <a:xfrm>
            <a:off x="4321454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교면 측점 정합</a:t>
            </a:r>
            <a:endParaRPr lang="en-US" sz="1200" dirty="0"/>
          </a:p>
        </p:txBody>
      </p:sp>
      <p:sp>
        <p:nvSpPr>
          <p:cNvPr id="2940" name="Text 35"/>
          <p:cNvSpPr txBox="1"/>
          <p:nvPr/>
        </p:nvSpPr>
        <p:spPr>
          <a:xfrm>
            <a:off x="4385462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형하고 쉬프트 보정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OSM 교면선 정합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±30 m 선별</a:t>
            </a:r>
            <a:endParaRPr lang="en-US" sz="1050" dirty="0"/>
          </a:p>
        </p:txBody>
      </p:sp>
      <p:sp>
        <p:nvSpPr>
          <p:cNvPr id="2944" name="Shape 36"/>
          <p:cNvSpPr/>
          <p:nvPr/>
        </p:nvSpPr>
        <p:spPr>
          <a:xfrm>
            <a:off x="6040526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48" name="Shape 37"/>
          <p:cNvSpPr/>
          <p:nvPr/>
        </p:nvSpPr>
        <p:spPr>
          <a:xfrm>
            <a:off x="6166714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52" name="Shape 38"/>
          <p:cNvSpPr/>
          <p:nvPr/>
        </p:nvSpPr>
        <p:spPr>
          <a:xfrm>
            <a:off x="6166714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56" name="Shape 39"/>
          <p:cNvSpPr/>
          <p:nvPr/>
        </p:nvSpPr>
        <p:spPr>
          <a:xfrm>
            <a:off x="6166714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60" name="Text 40"/>
          <p:cNvSpPr txBox="1"/>
          <p:nvPr/>
        </p:nvSpPr>
        <p:spPr>
          <a:xfrm>
            <a:off x="6239866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PINN 역산</a:t>
            </a:r>
            <a:endParaRPr lang="en-US" sz="1200" dirty="0"/>
          </a:p>
        </p:txBody>
      </p:sp>
      <p:sp>
        <p:nvSpPr>
          <p:cNvPr id="2964" name="Text 41"/>
          <p:cNvSpPr txBox="1"/>
          <p:nvPr/>
        </p:nvSpPr>
        <p:spPr>
          <a:xfrm>
            <a:off x="6303874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물리식 구속 신경망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열·하중·침하·이상 분리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가상 센싱</a:t>
            </a:r>
            <a:endParaRPr lang="en-US" sz="1050" dirty="0"/>
          </a:p>
        </p:txBody>
      </p:sp>
      <p:sp>
        <p:nvSpPr>
          <p:cNvPr id="2968" name="Shape 42"/>
          <p:cNvSpPr/>
          <p:nvPr/>
        </p:nvSpPr>
        <p:spPr>
          <a:xfrm>
            <a:off x="7958938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72" name="Shape 43"/>
          <p:cNvSpPr/>
          <p:nvPr/>
        </p:nvSpPr>
        <p:spPr>
          <a:xfrm>
            <a:off x="8085125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76" name="Shape 44"/>
          <p:cNvSpPr/>
          <p:nvPr/>
        </p:nvSpPr>
        <p:spPr>
          <a:xfrm>
            <a:off x="8085125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80" name="Shape 45"/>
          <p:cNvSpPr/>
          <p:nvPr/>
        </p:nvSpPr>
        <p:spPr>
          <a:xfrm>
            <a:off x="8085125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84" name="Text 46"/>
          <p:cNvSpPr txBox="1"/>
          <p:nvPr/>
        </p:nvSpPr>
        <p:spPr>
          <a:xfrm>
            <a:off x="8158277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위험도 평가</a:t>
            </a:r>
            <a:endParaRPr lang="en-US" sz="1200" dirty="0"/>
          </a:p>
        </p:txBody>
      </p:sp>
      <p:sp>
        <p:nvSpPr>
          <p:cNvPr id="2988" name="Text 47"/>
          <p:cNvSpPr txBox="1"/>
          <p:nvPr/>
        </p:nvSpPr>
        <p:spPr>
          <a:xfrm>
            <a:off x="8222285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 CRI 산출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4단계 경보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등급 기준은 잠정</a:t>
            </a:r>
            <a:endParaRPr lang="en-US" sz="1050" dirty="0"/>
          </a:p>
        </p:txBody>
      </p:sp>
      <p:sp>
        <p:nvSpPr>
          <p:cNvPr id="2992" name="Shape 48"/>
          <p:cNvSpPr/>
          <p:nvPr/>
        </p:nvSpPr>
        <p:spPr>
          <a:xfrm>
            <a:off x="9877349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96" name="Shape 49"/>
          <p:cNvSpPr/>
          <p:nvPr/>
        </p:nvSpPr>
        <p:spPr>
          <a:xfrm>
            <a:off x="10003536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00" name="Shape 50"/>
          <p:cNvSpPr/>
          <p:nvPr/>
        </p:nvSpPr>
        <p:spPr>
          <a:xfrm>
            <a:off x="10003536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004" name="Shape 51"/>
          <p:cNvSpPr/>
          <p:nvPr/>
        </p:nvSpPr>
        <p:spPr>
          <a:xfrm>
            <a:off x="10003536" y="1664208"/>
            <a:ext cx="1773936" cy="201168"/>
          </a:xfrm>
          <a:prstGeom prst="rect">
            <a:avLst/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008" name="Text 52"/>
          <p:cNvSpPr txBox="1"/>
          <p:nvPr/>
        </p:nvSpPr>
        <p:spPr>
          <a:xfrm>
            <a:off x="10076688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산출 · 연동</a:t>
            </a:r>
            <a:endParaRPr lang="en-US" sz="1200" dirty="0"/>
          </a:p>
        </p:txBody>
      </p:sp>
      <p:sp>
        <p:nvSpPr>
          <p:cNvPr id="3012" name="Text 53"/>
          <p:cNvSpPr txBox="1"/>
          <p:nvPr/>
        </p:nvSpPr>
        <p:spPr>
          <a:xfrm>
            <a:off x="10140696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· 3D Tiles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변위 CSV · 보고 그림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</a:t>
            </a:r>
            <a:endParaRPr lang="en-US" sz="1050" dirty="0"/>
          </a:p>
        </p:txBody>
      </p:sp>
      <p:sp>
        <p:nvSpPr>
          <p:cNvPr id="3016" name="Shape 54"/>
          <p:cNvSpPr/>
          <p:nvPr/>
        </p:nvSpPr>
        <p:spPr>
          <a:xfrm>
            <a:off x="411480" y="3657600"/>
            <a:ext cx="690372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20" name="Shape 55"/>
          <p:cNvSpPr/>
          <p:nvPr/>
        </p:nvSpPr>
        <p:spPr>
          <a:xfrm>
            <a:off x="2857500" y="3520440"/>
            <a:ext cx="201168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024" name="Text 56"/>
          <p:cNvSpPr txBox="1"/>
          <p:nvPr/>
        </p:nvSpPr>
        <p:spPr>
          <a:xfrm>
            <a:off x="2857500" y="35204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플랫폼의 특징</a:t>
            </a:r>
            <a:endParaRPr lang="en-US" sz="1150" dirty="0"/>
          </a:p>
        </p:txBody>
      </p:sp>
      <p:sp>
        <p:nvSpPr>
          <p:cNvPr id="3028" name="Shape 57"/>
          <p:cNvSpPr/>
          <p:nvPr/>
        </p:nvSpPr>
        <p:spPr>
          <a:xfrm>
            <a:off x="640080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32" name="Text 58"/>
          <p:cNvSpPr txBox="1"/>
          <p:nvPr/>
        </p:nvSpPr>
        <p:spPr>
          <a:xfrm>
            <a:off x="804672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좌표 1개 실행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교량을 바꿔도 코드 수정이 없다</a:t>
            </a:r>
            <a:endParaRPr lang="en-US" sz="1100" dirty="0"/>
          </a:p>
        </p:txBody>
      </p:sp>
      <p:sp>
        <p:nvSpPr>
          <p:cNvPr id="3036" name="Shape 59"/>
          <p:cNvSpPr/>
          <p:nvPr/>
        </p:nvSpPr>
        <p:spPr>
          <a:xfrm>
            <a:off x="3950208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40" name="Text 60"/>
          <p:cNvSpPr txBox="1"/>
          <p:nvPr/>
        </p:nvSpPr>
        <p:spPr>
          <a:xfrm>
            <a:off x="4114800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근거 기록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조건과 신뢰구간을 결과에 함께 남긴다</a:t>
            </a:r>
            <a:endParaRPr lang="en-US" sz="1100" dirty="0"/>
          </a:p>
        </p:txBody>
      </p:sp>
      <p:sp>
        <p:nvSpPr>
          <p:cNvPr id="3044" name="Shape 61"/>
          <p:cNvSpPr/>
          <p:nvPr/>
        </p:nvSpPr>
        <p:spPr>
          <a:xfrm>
            <a:off x="640080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48" name="Text 62"/>
          <p:cNvSpPr txBox="1"/>
          <p:nvPr/>
        </p:nvSpPr>
        <p:spPr>
          <a:xfrm>
            <a:off x="804672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계약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 하나로 전 단계를 연결</a:t>
            </a:r>
            <a:endParaRPr lang="en-US" sz="1100" dirty="0"/>
          </a:p>
        </p:txBody>
      </p:sp>
      <p:sp>
        <p:nvSpPr>
          <p:cNvPr id="3052" name="Shape 63"/>
          <p:cNvSpPr/>
          <p:nvPr/>
        </p:nvSpPr>
        <p:spPr>
          <a:xfrm>
            <a:off x="3950208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56" name="Text 64"/>
          <p:cNvSpPr txBox="1"/>
          <p:nvPr/>
        </p:nvSpPr>
        <p:spPr>
          <a:xfrm>
            <a:off x="411480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대시보드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명령줄 없이 화면에서 단계별 실행</a:t>
            </a:r>
            <a:endParaRPr lang="en-US" sz="1100" dirty="0"/>
          </a:p>
        </p:txBody>
      </p:sp>
      <p:sp>
        <p:nvSpPr>
          <p:cNvPr id="3060" name="Shape 65"/>
          <p:cNvSpPr/>
          <p:nvPr/>
        </p:nvSpPr>
        <p:spPr>
          <a:xfrm>
            <a:off x="7589520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64" name="Text 66"/>
          <p:cNvSpPr txBox="1"/>
          <p:nvPr/>
        </p:nvSpPr>
        <p:spPr>
          <a:xfrm>
            <a:off x="7772400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51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장면</a:t>
            </a:r>
            <a:endParaRPr lang="en-US" sz="1100" dirty="0"/>
          </a:p>
        </p:txBody>
      </p:sp>
      <p:sp>
        <p:nvSpPr>
          <p:cNvPr id="3068" name="Text 67"/>
          <p:cNvSpPr txBox="1"/>
          <p:nvPr/>
        </p:nvSpPr>
        <p:spPr>
          <a:xfrm>
            <a:off x="7772400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Sentinel-1 영상</a:t>
            </a:r>
            <a:endParaRPr lang="en-US" sz="1000" dirty="0"/>
          </a:p>
        </p:txBody>
      </p:sp>
      <p:sp>
        <p:nvSpPr>
          <p:cNvPr id="3072" name="Shape 68"/>
          <p:cNvSpPr/>
          <p:nvPr/>
        </p:nvSpPr>
        <p:spPr>
          <a:xfrm>
            <a:off x="9756648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76" name="Text 69"/>
          <p:cNvSpPr txBox="1"/>
          <p:nvPr/>
        </p:nvSpPr>
        <p:spPr>
          <a:xfrm>
            <a:off x="9939528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23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3080" name="Text 70"/>
          <p:cNvSpPr txBox="1"/>
          <p:nvPr/>
        </p:nvSpPr>
        <p:spPr>
          <a:xfrm>
            <a:off x="9939528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과정 시범 처리 교량</a:t>
            </a:r>
            <a:endParaRPr lang="en-US" sz="1000" dirty="0"/>
          </a:p>
        </p:txBody>
      </p:sp>
      <p:sp>
        <p:nvSpPr>
          <p:cNvPr id="3084" name="Shape 71"/>
          <p:cNvSpPr/>
          <p:nvPr/>
        </p:nvSpPr>
        <p:spPr>
          <a:xfrm>
            <a:off x="7589520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88" name="Text 72"/>
          <p:cNvSpPr txBox="1"/>
          <p:nvPr/>
        </p:nvSpPr>
        <p:spPr>
          <a:xfrm>
            <a:off x="7772400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3092" name="Text 73"/>
          <p:cNvSpPr txBox="1"/>
          <p:nvPr/>
        </p:nvSpPr>
        <p:spPr>
          <a:xfrm>
            <a:off x="7772400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한강 교량 트윈 시범</a:t>
            </a:r>
            <a:endParaRPr lang="en-US" sz="1000" dirty="0"/>
          </a:p>
        </p:txBody>
      </p:sp>
      <p:sp>
        <p:nvSpPr>
          <p:cNvPr id="3096" name="Shape 74"/>
          <p:cNvSpPr/>
          <p:nvPr/>
        </p:nvSpPr>
        <p:spPr>
          <a:xfrm>
            <a:off x="9756648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100" name="Text 75"/>
          <p:cNvSpPr txBox="1"/>
          <p:nvPr/>
        </p:nvSpPr>
        <p:spPr>
          <a:xfrm>
            <a:off x="9939528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3104" name="Text 76"/>
          <p:cNvSpPr txBox="1"/>
          <p:nvPr/>
        </p:nvSpPr>
        <p:spPr>
          <a:xfrm>
            <a:off x="9939528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엔드포인트</a:t>
            </a:r>
            <a:endParaRPr lang="en-US" sz="1000" dirty="0"/>
          </a:p>
        </p:txBody>
      </p:sp>
      <p:sp>
        <p:nvSpPr>
          <p:cNvPr id="3108" name="Text 7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실행 예: python scripts/bridge_run.py --name 성수대교 --lat 37.5374 --lon 127.0351 — 궤도 자료가 없으면 영상 선별·다운로드·처리부터 스스로 수행.</a:t>
            </a:r>
            <a:endParaRPr lang="en-US" sz="850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B6999DC-7220-4D10-BDFB-8DA3E184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② — 한강 교량 실증 · 디지털 트윈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0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교량마다 사람 손 없이 같은 산출물과 IFC 트윈이 나온다 — 좌표 하나로 끝까지</a:t>
            </a:r>
            <a:endParaRPr lang="en-US" sz="1450" dirty="0"/>
          </a:p>
        </p:txBody>
      </p:sp>
      <p:graphicFrame>
        <p:nvGraphicFramePr>
          <p:cNvPr id="30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15001" cy="2706624"/>
        </p:xfrm>
        <a:graphic>
          <a:graphicData uri="http://schemas.openxmlformats.org/drawingml/2006/table">
            <a:tbl>
              <a:tblPr/>
              <a:tblGrid>
                <a:gridCol w="167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교량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형식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관측 시점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교면 측점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가양대교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167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원효대교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45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올림픽대교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101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56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청담대교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천호대교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54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암사대교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아치교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237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월드컵대교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82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80" name="Text 19"/>
          <p:cNvSpPr txBox="1"/>
          <p:nvPr/>
        </p:nvSpPr>
        <p:spPr>
          <a:xfrm>
            <a:off x="411480" y="405079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시점 수와 교면 측점 수는 교량마다 다르다 — 변위속도와 정밀도는 측점 밀도를 확보한 뒤에 제시한다</a:t>
            </a:r>
            <a:endParaRPr lang="en-US" sz="900" dirty="0"/>
          </a:p>
        </p:txBody>
      </p:sp>
      <p:sp>
        <p:nvSpPr>
          <p:cNvPr id="3084" name="Shape 20"/>
          <p:cNvSpPr/>
          <p:nvPr/>
        </p:nvSpPr>
        <p:spPr>
          <a:xfrm>
            <a:off x="411480" y="4526280"/>
            <a:ext cx="5715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88" name="Shape 21"/>
          <p:cNvSpPr/>
          <p:nvPr/>
        </p:nvSpPr>
        <p:spPr>
          <a:xfrm>
            <a:off x="2080260" y="4389120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2" name="Text 22"/>
          <p:cNvSpPr txBox="1"/>
          <p:nvPr/>
        </p:nvSpPr>
        <p:spPr>
          <a:xfrm>
            <a:off x="208026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1개소당 자동 산출</a:t>
            </a:r>
            <a:endParaRPr lang="en-US" sz="1150" dirty="0"/>
          </a:p>
        </p:txBody>
      </p:sp>
      <p:sp>
        <p:nvSpPr>
          <p:cNvPr id="3096" name="Shape 23"/>
          <p:cNvSpPr/>
          <p:nvPr/>
        </p:nvSpPr>
        <p:spPr>
          <a:xfrm>
            <a:off x="566928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0" name="Text 24"/>
          <p:cNvSpPr txBox="1"/>
          <p:nvPr/>
        </p:nvSpPr>
        <p:spPr>
          <a:xfrm>
            <a:off x="676656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변위 시계열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측점·속도·해석값</a:t>
            </a:r>
            <a:endParaRPr lang="en-US" sz="1100" dirty="0"/>
          </a:p>
        </p:txBody>
      </p:sp>
      <p:sp>
        <p:nvSpPr>
          <p:cNvPr id="3104" name="Shape 25"/>
          <p:cNvSpPr/>
          <p:nvPr/>
        </p:nvSpPr>
        <p:spPr>
          <a:xfrm>
            <a:off x="2377440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8" name="Text 26"/>
          <p:cNvSpPr txBox="1"/>
          <p:nvPr/>
        </p:nvSpPr>
        <p:spPr>
          <a:xfrm>
            <a:off x="2487168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 부재 모델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</a:t>
            </a:r>
            <a:endParaRPr lang="en-US" sz="1100" dirty="0"/>
          </a:p>
        </p:txBody>
      </p:sp>
      <p:sp>
        <p:nvSpPr>
          <p:cNvPr id="3112" name="Shape 27"/>
          <p:cNvSpPr/>
          <p:nvPr/>
        </p:nvSpPr>
        <p:spPr>
          <a:xfrm>
            <a:off x="4187952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6" name="Text 28"/>
          <p:cNvSpPr txBox="1"/>
          <p:nvPr/>
        </p:nvSpPr>
        <p:spPr>
          <a:xfrm>
            <a:off x="4297680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 타일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</a:t>
            </a:r>
            <a:endParaRPr lang="en-US" sz="1100" dirty="0"/>
          </a:p>
        </p:txBody>
      </p:sp>
      <p:sp>
        <p:nvSpPr>
          <p:cNvPr id="3120" name="Shape 29"/>
          <p:cNvSpPr/>
          <p:nvPr/>
        </p:nvSpPr>
        <p:spPr>
          <a:xfrm>
            <a:off x="566928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4" name="Text 30"/>
          <p:cNvSpPr txBox="1"/>
          <p:nvPr/>
        </p:nvSpPr>
        <p:spPr>
          <a:xfrm>
            <a:off x="676656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평면·종단 브리프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보고서용 그림</a:t>
            </a:r>
            <a:endParaRPr lang="en-US" sz="1100" dirty="0"/>
          </a:p>
        </p:txBody>
      </p:sp>
      <p:sp>
        <p:nvSpPr>
          <p:cNvPr id="3128" name="Shape 31"/>
          <p:cNvSpPr/>
          <p:nvPr/>
        </p:nvSpPr>
        <p:spPr>
          <a:xfrm>
            <a:off x="2377440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2" name="Text 32"/>
          <p:cNvSpPr txBox="1"/>
          <p:nvPr/>
        </p:nvSpPr>
        <p:spPr>
          <a:xfrm>
            <a:off x="2487168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주변 도로망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반경 500 m</a:t>
            </a:r>
            <a:endParaRPr lang="en-US" sz="1100" dirty="0"/>
          </a:p>
        </p:txBody>
      </p:sp>
      <p:sp>
        <p:nvSpPr>
          <p:cNvPr id="3136" name="Shape 33"/>
          <p:cNvSpPr/>
          <p:nvPr/>
        </p:nvSpPr>
        <p:spPr>
          <a:xfrm>
            <a:off x="4187952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40" name="Text 34"/>
          <p:cNvSpPr txBox="1"/>
          <p:nvPr/>
        </p:nvSpPr>
        <p:spPr>
          <a:xfrm>
            <a:off x="4297680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기록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출처·근거 문서</a:t>
            </a:r>
            <a:endParaRPr lang="en-US" sz="1100" dirty="0"/>
          </a:p>
        </p:txBody>
      </p:sp>
      <p:sp>
        <p:nvSpPr>
          <p:cNvPr id="3144" name="Shape 35"/>
          <p:cNvSpPr/>
          <p:nvPr/>
        </p:nvSpPr>
        <p:spPr>
          <a:xfrm>
            <a:off x="6355080" y="1280160"/>
            <a:ext cx="542239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48" name="Image 0" descr="/tmp/claude-0/-home-claude/65dffca3-2835-51dd-a007-950964c02f5b/scratchpad/img/o1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371600"/>
            <a:ext cx="5202936" cy="3053408"/>
          </a:xfrm>
          <a:prstGeom prst="rect">
            <a:avLst/>
          </a:prstGeom>
        </p:spPr>
      </p:pic>
      <p:sp>
        <p:nvSpPr>
          <p:cNvPr id="3152" name="Text 36"/>
          <p:cNvSpPr txBox="1"/>
          <p:nvPr/>
        </p:nvSpPr>
        <p:spPr>
          <a:xfrm>
            <a:off x="6464808" y="4416552"/>
            <a:ext cx="520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+ 교면 위성 측점 (산출물 원본)</a:t>
            </a:r>
            <a:endParaRPr lang="en-US" sz="900" dirty="0"/>
          </a:p>
        </p:txBody>
      </p:sp>
      <p:sp>
        <p:nvSpPr>
          <p:cNvPr id="3156" name="Shape 37"/>
          <p:cNvSpPr/>
          <p:nvPr/>
        </p:nvSpPr>
        <p:spPr>
          <a:xfrm>
            <a:off x="6355080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0" name="Text 38"/>
          <p:cNvSpPr txBox="1"/>
          <p:nvPr/>
        </p:nvSpPr>
        <p:spPr>
          <a:xfrm>
            <a:off x="6537960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4x3</a:t>
            </a:r>
            <a:endParaRPr lang="en-US" sz="1100" dirty="0"/>
          </a:p>
        </p:txBody>
      </p:sp>
      <p:sp>
        <p:nvSpPr>
          <p:cNvPr id="3164" name="Text 39"/>
          <p:cNvSpPr txBox="1"/>
          <p:nvPr/>
        </p:nvSpPr>
        <p:spPr>
          <a:xfrm>
            <a:off x="6537960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 트윈</a:t>
            </a:r>
            <a:endParaRPr lang="en-US" sz="1000" dirty="0"/>
          </a:p>
        </p:txBody>
      </p:sp>
      <p:sp>
        <p:nvSpPr>
          <p:cNvPr id="3168" name="Shape 40"/>
          <p:cNvSpPr/>
          <p:nvPr/>
        </p:nvSpPr>
        <p:spPr>
          <a:xfrm>
            <a:off x="8211312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72" name="Text 41"/>
          <p:cNvSpPr txBox="1"/>
          <p:nvPr/>
        </p:nvSpPr>
        <p:spPr>
          <a:xfrm>
            <a:off x="8394192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1,972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3176" name="Text 42"/>
          <p:cNvSpPr txBox="1"/>
          <p:nvPr/>
        </p:nvSpPr>
        <p:spPr>
          <a:xfrm>
            <a:off x="8394192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</a:t>
            </a:r>
            <a:endParaRPr lang="en-US" sz="1000" dirty="0"/>
          </a:p>
        </p:txBody>
      </p:sp>
      <p:sp>
        <p:nvSpPr>
          <p:cNvPr id="3180" name="Shape 43"/>
          <p:cNvSpPr/>
          <p:nvPr/>
        </p:nvSpPr>
        <p:spPr>
          <a:xfrm>
            <a:off x="10067544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4" name="Text 44"/>
          <p:cNvSpPr txBox="1"/>
          <p:nvPr/>
        </p:nvSpPr>
        <p:spPr>
          <a:xfrm>
            <a:off x="10250424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Tiles</a:t>
            </a:r>
            <a:endParaRPr lang="en-US" sz="1100" dirty="0"/>
          </a:p>
        </p:txBody>
      </p:sp>
      <p:sp>
        <p:nvSpPr>
          <p:cNvPr id="3188" name="Text 45"/>
          <p:cNvSpPr txBox="1"/>
          <p:nvPr/>
        </p:nvSpPr>
        <p:spPr>
          <a:xfrm>
            <a:off x="10250424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 출력</a:t>
            </a:r>
            <a:endParaRPr lang="en-US" sz="1000" dirty="0"/>
          </a:p>
        </p:txBody>
      </p:sp>
      <p:sp>
        <p:nvSpPr>
          <p:cNvPr id="3192" name="Text 46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표의 값은 각 교량 폴더의 bridge.json · 결과.md · project.h5 에서 직접 읽음.</a:t>
            </a:r>
            <a:endParaRPr lang="en-US" sz="85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BD0125F-1426-4D3A-A963-45AA0B9592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③ — B-Maps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2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본체를 고치지 않고 읽기 전용 사이드카로 붙인다 — 교량관리번호로 조회하면 교면 변위와 IFC 트윈이 그대로 올라온다</a:t>
            </a:r>
            <a:endParaRPr lang="en-US" sz="1450" dirty="0"/>
          </a:p>
        </p:txBody>
      </p:sp>
      <p:sp>
        <p:nvSpPr>
          <p:cNvPr id="3276" name="Shape 19"/>
          <p:cNvSpPr/>
          <p:nvPr/>
        </p:nvSpPr>
        <p:spPr>
          <a:xfrm>
            <a:off x="411480" y="1280160"/>
            <a:ext cx="635508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80" name="Image 0" descr="/tmp/claude-0/-home-claude/65dffca3-2835-51dd-a007-950964c02f5b/scratchpad/img/o15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71600"/>
            <a:ext cx="6117336" cy="2902670"/>
          </a:xfrm>
          <a:prstGeom prst="rect">
            <a:avLst/>
          </a:prstGeom>
        </p:spPr>
      </p:pic>
      <p:sp>
        <p:nvSpPr>
          <p:cNvPr id="3284" name="Text 20"/>
          <p:cNvSpPr txBox="1"/>
          <p:nvPr/>
        </p:nvSpPr>
        <p:spPr>
          <a:xfrm>
            <a:off x="530352" y="4315968"/>
            <a:ext cx="6117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동작 화면 — 성수대교 · 101시점 · 교면 103측점 · 측점 클릭 → 변위 시계열</a:t>
            </a:r>
            <a:endParaRPr lang="en-US" sz="950" dirty="0"/>
          </a:p>
        </p:txBody>
      </p:sp>
      <p:sp>
        <p:nvSpPr>
          <p:cNvPr id="3288" name="Shape 21"/>
          <p:cNvSpPr/>
          <p:nvPr/>
        </p:nvSpPr>
        <p:spPr>
          <a:xfrm>
            <a:off x="411480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92" name="Text 22"/>
          <p:cNvSpPr txBox="1"/>
          <p:nvPr/>
        </p:nvSpPr>
        <p:spPr>
          <a:xfrm>
            <a:off x="502920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위성 변위 분석 탭</a:t>
            </a:r>
            <a:endParaRPr lang="en-US" sz="1100" dirty="0"/>
          </a:p>
        </p:txBody>
      </p:sp>
      <p:sp>
        <p:nvSpPr>
          <p:cNvPr id="3296" name="Shape 23"/>
          <p:cNvSpPr/>
          <p:nvPr/>
        </p:nvSpPr>
        <p:spPr>
          <a:xfrm>
            <a:off x="2286000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0" name="Shape 24"/>
          <p:cNvSpPr/>
          <p:nvPr/>
        </p:nvSpPr>
        <p:spPr>
          <a:xfrm>
            <a:off x="2688336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4" name="Text 25"/>
          <p:cNvSpPr txBox="1"/>
          <p:nvPr/>
        </p:nvSpPr>
        <p:spPr>
          <a:xfrm>
            <a:off x="2779776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inframon-api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사이드카 · 읽기 전용</a:t>
            </a:r>
            <a:endParaRPr lang="en-US" sz="1100" dirty="0"/>
          </a:p>
        </p:txBody>
      </p:sp>
      <p:sp>
        <p:nvSpPr>
          <p:cNvPr id="3308" name="Shape 26"/>
          <p:cNvSpPr/>
          <p:nvPr/>
        </p:nvSpPr>
        <p:spPr>
          <a:xfrm>
            <a:off x="4562856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2" name="Shape 27"/>
          <p:cNvSpPr/>
          <p:nvPr/>
        </p:nvSpPr>
        <p:spPr>
          <a:xfrm>
            <a:off x="4965192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6" name="Text 28"/>
          <p:cNvSpPr txBox="1"/>
          <p:nvPr/>
        </p:nvSpPr>
        <p:spPr>
          <a:xfrm>
            <a:off x="5056632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교량별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</a:t>
            </a:r>
            <a:endParaRPr lang="en-US" sz="1100" dirty="0"/>
          </a:p>
        </p:txBody>
      </p:sp>
      <p:sp>
        <p:nvSpPr>
          <p:cNvPr id="3320" name="Text 29"/>
          <p:cNvSpPr txBox="1"/>
          <p:nvPr/>
        </p:nvSpPr>
        <p:spPr>
          <a:xfrm>
            <a:off x="411480" y="576072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REST/JSON · 교량관리번호로 조회 · B-Maps 본체 수정 없음</a:t>
            </a:r>
            <a:endParaRPr lang="en-US" sz="950" dirty="0"/>
          </a:p>
        </p:txBody>
      </p:sp>
      <p:sp>
        <p:nvSpPr>
          <p:cNvPr id="3324" name="Shape 30"/>
          <p:cNvSpPr/>
          <p:nvPr/>
        </p:nvSpPr>
        <p:spPr>
          <a:xfrm>
            <a:off x="8357616" y="114300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8" name="Text 31"/>
          <p:cNvSpPr txBox="1"/>
          <p:nvPr/>
        </p:nvSpPr>
        <p:spPr>
          <a:xfrm>
            <a:off x="8357616" y="114300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교면 전용 MT-InSAR 산출</a:t>
            </a:r>
            <a:endParaRPr lang="en-US" sz="1150" dirty="0"/>
          </a:p>
        </p:txBody>
      </p:sp>
      <p:sp>
        <p:nvSpPr>
          <p:cNvPr id="3332" name="Shape 32"/>
          <p:cNvSpPr/>
          <p:nvPr/>
        </p:nvSpPr>
        <p:spPr>
          <a:xfrm>
            <a:off x="7040880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6" name="Text 33"/>
          <p:cNvSpPr txBox="1"/>
          <p:nvPr/>
        </p:nvSpPr>
        <p:spPr>
          <a:xfrm>
            <a:off x="7223760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7A5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4종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값</a:t>
            </a:r>
            <a:endParaRPr lang="en-US" sz="1100" dirty="0"/>
          </a:p>
        </p:txBody>
      </p:sp>
      <p:sp>
        <p:nvSpPr>
          <p:cNvPr id="3340" name="Text 34"/>
          <p:cNvSpPr txBox="1"/>
          <p:nvPr/>
        </p:nvSpPr>
        <p:spPr>
          <a:xfrm>
            <a:off x="7223760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측점마다 산출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속도 · 잔차고도 · 열팽창 · 코히런스</a:t>
            </a:r>
            <a:endParaRPr lang="en-US" sz="1000" dirty="0"/>
          </a:p>
        </p:txBody>
      </p:sp>
      <p:sp>
        <p:nvSpPr>
          <p:cNvPr id="3344" name="Shape 35"/>
          <p:cNvSpPr/>
          <p:nvPr/>
        </p:nvSpPr>
        <p:spPr>
          <a:xfrm>
            <a:off x="9482328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8" name="Text 36"/>
          <p:cNvSpPr txBox="1"/>
          <p:nvPr/>
        </p:nvSpPr>
        <p:spPr>
          <a:xfrm>
            <a:off x="9665208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APS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제거</a:t>
            </a:r>
            <a:endParaRPr lang="en-US" sz="1100" dirty="0"/>
          </a:p>
        </p:txBody>
      </p:sp>
      <p:sp>
        <p:nvSpPr>
          <p:cNvPr id="3352" name="Text 37"/>
          <p:cNvSpPr txBox="1"/>
          <p:nvPr/>
        </p:nvSpPr>
        <p:spPr>
          <a:xfrm>
            <a:off x="9665208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기선망 뒤 동시 추정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수직·시간 기선망 · 점별 DEM 오차</a:t>
            </a:r>
            <a:endParaRPr lang="en-US" sz="1000" dirty="0"/>
          </a:p>
        </p:txBody>
      </p:sp>
      <p:sp>
        <p:nvSpPr>
          <p:cNvPr id="3356" name="Shape 38"/>
          <p:cNvSpPr/>
          <p:nvPr/>
        </p:nvSpPr>
        <p:spPr>
          <a:xfrm>
            <a:off x="7040880" y="2743200"/>
            <a:ext cx="4736592" cy="868680"/>
          </a:xfrm>
          <a:prstGeom prst="roundRect">
            <a:avLst>
              <a:gd name="adj" fmla="val 6316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0" name="Text 39"/>
          <p:cNvSpPr txBox="1"/>
          <p:nvPr/>
        </p:nvSpPr>
        <p:spPr>
          <a:xfrm>
            <a:off x="7223760" y="274320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한계  </a:t>
            </a: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측점 밀도가 한계다 — Sentinel-1 IW 는 지상 5×20 m 이고 데크 폭은 1~2 화소다. 주경간에 코너리플렉터를 놓거나 고해상도 SAR 을 쓰면 교면 측점이 채워진다 (Ⅳ 참조)</a:t>
            </a:r>
            <a:endParaRPr lang="en-US" sz="1050" dirty="0"/>
          </a:p>
        </p:txBody>
      </p:sp>
      <p:sp>
        <p:nvSpPr>
          <p:cNvPr id="3364" name="Shape 40"/>
          <p:cNvSpPr/>
          <p:nvPr/>
        </p:nvSpPr>
        <p:spPr>
          <a:xfrm>
            <a:off x="8357616" y="384048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8" name="Text 41"/>
          <p:cNvSpPr txBox="1"/>
          <p:nvPr/>
        </p:nvSpPr>
        <p:spPr>
          <a:xfrm>
            <a:off x="8357616" y="384048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접점</a:t>
            </a:r>
            <a:endParaRPr lang="en-US" sz="1150" dirty="0"/>
          </a:p>
        </p:txBody>
      </p:sp>
      <p:graphicFrame>
        <p:nvGraphicFramePr>
          <p:cNvPr id="33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60520"/>
          <a:ext cx="4736592" cy="205740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접점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Inframon 제공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B-Maps 활용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자산 모델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부재 GUID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기존 IFC 체계에 그대로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3D 레이어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3D Tiles · glTF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지도 위 레이어로 적재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WGS84 / EPSG:5179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대장 좌표와 직접 대응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시계열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REST /api/v1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대시보드 · 경보 규칙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76" name="Text 42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교면 전용 재선별(MT-InSAR: 기선망 · 점별 DEM 오차 · 열팽창 · APS) 뒤의 교면 PS 를 쓴다. 연동은 읽기 전용 사이드카라 B-Maps 본체를 고치지 않는다.</a:t>
            </a:r>
            <a:endParaRPr lang="en-US" sz="8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7E3C7C3-53D7-4BDF-B499-B01B0F2F6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파이프라인은 끝까지 돌아간다 — KICT 와 연동 규칙을 정하면 시범 연동부터 시작할 수 있다</a:t>
            </a:r>
            <a:endParaRPr lang="en-US" sz="1450" dirty="0"/>
          </a:p>
        </p:txBody>
      </p:sp>
      <p:sp>
        <p:nvSpPr>
          <p:cNvPr id="3476" name="Shape 19"/>
          <p:cNvSpPr/>
          <p:nvPr/>
        </p:nvSpPr>
        <p:spPr>
          <a:xfrm>
            <a:off x="411480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480" name="Shape 20"/>
          <p:cNvSpPr/>
          <p:nvPr/>
        </p:nvSpPr>
        <p:spPr>
          <a:xfrm>
            <a:off x="612648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484" name="Text 21"/>
          <p:cNvSpPr txBox="1"/>
          <p:nvPr/>
        </p:nvSpPr>
        <p:spPr>
          <a:xfrm>
            <a:off x="612648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진행</a:t>
            </a:r>
            <a:endParaRPr lang="en-US" sz="1100" dirty="0"/>
          </a:p>
        </p:txBody>
      </p:sp>
      <p:sp>
        <p:nvSpPr>
          <p:cNvPr id="3488" name="Text 22"/>
          <p:cNvSpPr txBox="1"/>
          <p:nvPr/>
        </p:nvSpPr>
        <p:spPr>
          <a:xfrm>
            <a:off x="150876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개발 · 실증</a:t>
            </a:r>
            <a:endParaRPr lang="en-US" sz="1500" dirty="0"/>
          </a:p>
        </p:txBody>
      </p:sp>
      <p:sp>
        <p:nvSpPr>
          <p:cNvPr id="3492" name="Text 23"/>
          <p:cNvSpPr txBox="1"/>
          <p:nvPr/>
        </p:nvSpPr>
        <p:spPr>
          <a:xfrm>
            <a:off x="640080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6단계 파이프라인 · 데이터 계약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 Sentinel-1 자료로 전 과정 시범 처리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사이드카 · 탭 예제</a:t>
            </a:r>
            <a:endParaRPr lang="en-US" sz="1100" dirty="0"/>
          </a:p>
        </p:txBody>
      </p:sp>
      <p:sp>
        <p:nvSpPr>
          <p:cNvPr id="3496" name="Shape 24"/>
          <p:cNvSpPr/>
          <p:nvPr/>
        </p:nvSpPr>
        <p:spPr>
          <a:xfrm>
            <a:off x="4069080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500" name="Shape 25"/>
          <p:cNvSpPr/>
          <p:nvPr/>
        </p:nvSpPr>
        <p:spPr>
          <a:xfrm>
            <a:off x="4311396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04" name="Shape 26"/>
          <p:cNvSpPr/>
          <p:nvPr/>
        </p:nvSpPr>
        <p:spPr>
          <a:xfrm>
            <a:off x="4512564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508" name="Text 27"/>
          <p:cNvSpPr txBox="1"/>
          <p:nvPr/>
        </p:nvSpPr>
        <p:spPr>
          <a:xfrm>
            <a:off x="4512564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협의</a:t>
            </a:r>
            <a:endParaRPr lang="en-US" sz="1100" dirty="0"/>
          </a:p>
        </p:txBody>
      </p:sp>
      <p:sp>
        <p:nvSpPr>
          <p:cNvPr id="3512" name="Text 28"/>
          <p:cNvSpPr txBox="1"/>
          <p:nvPr/>
        </p:nvSpPr>
        <p:spPr>
          <a:xfrm>
            <a:off x="5408676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연동</a:t>
            </a:r>
            <a:endParaRPr lang="en-US" sz="1500" dirty="0"/>
          </a:p>
        </p:txBody>
      </p:sp>
      <p:sp>
        <p:nvSpPr>
          <p:cNvPr id="3516" name="Text 29"/>
          <p:cNvSpPr txBox="1"/>
          <p:nvPr/>
        </p:nvSpPr>
        <p:spPr>
          <a:xfrm>
            <a:off x="4539996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↔ bridge_id 매핑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좌표계 · 인증 방식 합의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스테이징 서버 연동</a:t>
            </a:r>
            <a:endParaRPr lang="en-US" sz="1100" dirty="0"/>
          </a:p>
        </p:txBody>
      </p:sp>
      <p:sp>
        <p:nvSpPr>
          <p:cNvPr id="3520" name="Shape 30"/>
          <p:cNvSpPr/>
          <p:nvPr/>
        </p:nvSpPr>
        <p:spPr>
          <a:xfrm>
            <a:off x="7968996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524" name="Shape 31"/>
          <p:cNvSpPr/>
          <p:nvPr/>
        </p:nvSpPr>
        <p:spPr>
          <a:xfrm>
            <a:off x="8211312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28" name="Shape 32"/>
          <p:cNvSpPr/>
          <p:nvPr/>
        </p:nvSpPr>
        <p:spPr>
          <a:xfrm>
            <a:off x="8412480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532" name="Text 33"/>
          <p:cNvSpPr txBox="1"/>
          <p:nvPr/>
        </p:nvSpPr>
        <p:spPr>
          <a:xfrm>
            <a:off x="8412480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예정</a:t>
            </a:r>
            <a:endParaRPr lang="en-US" sz="1100" dirty="0"/>
          </a:p>
        </p:txBody>
      </p:sp>
      <p:sp>
        <p:nvSpPr>
          <p:cNvPr id="3536" name="Text 34"/>
          <p:cNvSpPr txBox="1"/>
          <p:nvPr/>
        </p:nvSpPr>
        <p:spPr>
          <a:xfrm>
            <a:off x="9308592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· 고도화</a:t>
            </a:r>
            <a:endParaRPr lang="en-US" sz="1500" dirty="0"/>
          </a:p>
        </p:txBody>
      </p:sp>
      <p:sp>
        <p:nvSpPr>
          <p:cNvPr id="3540" name="Text 35"/>
          <p:cNvSpPr txBox="1"/>
          <p:nvPr/>
        </p:nvSpPr>
        <p:spPr>
          <a:xfrm>
            <a:off x="8439912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운영 탭 · 신규 영상 자동 갱신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위치 기반 정확도 검증 · CRI 기준 재설정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코너리플렉터 · 고해상도 SAR 보강</a:t>
            </a:r>
            <a:endParaRPr lang="en-US" sz="1100" dirty="0"/>
          </a:p>
        </p:txBody>
      </p:sp>
      <p:sp>
        <p:nvSpPr>
          <p:cNvPr id="3544" name="Shape 36"/>
          <p:cNvSpPr/>
          <p:nvPr/>
        </p:nvSpPr>
        <p:spPr>
          <a:xfrm>
            <a:off x="411480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48" name="Shape 37"/>
          <p:cNvSpPr/>
          <p:nvPr/>
        </p:nvSpPr>
        <p:spPr>
          <a:xfrm>
            <a:off x="2148840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552" name="Text 38"/>
          <p:cNvSpPr txBox="1"/>
          <p:nvPr/>
        </p:nvSpPr>
        <p:spPr>
          <a:xfrm>
            <a:off x="2148840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KICT 자료 요청</a:t>
            </a:r>
            <a:endParaRPr lang="en-US" sz="1150" dirty="0"/>
          </a:p>
        </p:txBody>
      </p:sp>
      <p:sp>
        <p:nvSpPr>
          <p:cNvPr id="3556" name="Shape 39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60" name="Text 40"/>
          <p:cNvSpPr txBox="1"/>
          <p:nvPr/>
        </p:nvSpPr>
        <p:spPr>
          <a:xfrm>
            <a:off x="5943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564" name="Text 41"/>
          <p:cNvSpPr txBox="1"/>
          <p:nvPr/>
        </p:nvSpPr>
        <p:spPr>
          <a:xfrm>
            <a:off x="105156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대장 제원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연장 · 폭 · 경간 · 형하고</a:t>
            </a:r>
            <a:endParaRPr lang="en-US" sz="1100" dirty="0"/>
          </a:p>
        </p:txBody>
      </p:sp>
      <p:sp>
        <p:nvSpPr>
          <p:cNvPr id="3568" name="Shape 42"/>
          <p:cNvSpPr/>
          <p:nvPr/>
        </p:nvSpPr>
        <p:spPr>
          <a:xfrm>
            <a:off x="324612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72" name="Text 43"/>
          <p:cNvSpPr txBox="1"/>
          <p:nvPr/>
        </p:nvSpPr>
        <p:spPr>
          <a:xfrm>
            <a:off x="32461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3576" name="Text 44"/>
          <p:cNvSpPr txBox="1"/>
          <p:nvPr/>
        </p:nvSpPr>
        <p:spPr>
          <a:xfrm>
            <a:off x="370332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교량관리번호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대장 좌표와 함께</a:t>
            </a:r>
            <a:endParaRPr lang="en-US" sz="1100" dirty="0"/>
          </a:p>
        </p:txBody>
      </p:sp>
      <p:sp>
        <p:nvSpPr>
          <p:cNvPr id="3580" name="Shape 45"/>
          <p:cNvSpPr/>
          <p:nvPr/>
        </p:nvSpPr>
        <p:spPr>
          <a:xfrm>
            <a:off x="59436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84" name="Text 46"/>
          <p:cNvSpPr txBox="1"/>
          <p:nvPr/>
        </p:nvSpPr>
        <p:spPr>
          <a:xfrm>
            <a:off x="5943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3588" name="Text 47"/>
          <p:cNvSpPr txBox="1"/>
          <p:nvPr/>
        </p:nvSpPr>
        <p:spPr>
          <a:xfrm>
            <a:off x="105156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보유 IFC 모델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있는 교량만이라도</a:t>
            </a:r>
            <a:endParaRPr lang="en-US" sz="1100" dirty="0"/>
          </a:p>
        </p:txBody>
      </p:sp>
      <p:sp>
        <p:nvSpPr>
          <p:cNvPr id="3592" name="Shape 48"/>
          <p:cNvSpPr/>
          <p:nvPr/>
        </p:nvSpPr>
        <p:spPr>
          <a:xfrm>
            <a:off x="324612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96" name="Text 49"/>
          <p:cNvSpPr txBox="1"/>
          <p:nvPr/>
        </p:nvSpPr>
        <p:spPr>
          <a:xfrm>
            <a:off x="324612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3600" name="Text 50"/>
          <p:cNvSpPr txBox="1"/>
          <p:nvPr/>
        </p:nvSpPr>
        <p:spPr>
          <a:xfrm>
            <a:off x="370332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준공 · 보수 이력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연도와 일자만</a:t>
            </a:r>
            <a:endParaRPr lang="en-US" sz="1100" dirty="0"/>
          </a:p>
        </p:txBody>
      </p:sp>
      <p:sp>
        <p:nvSpPr>
          <p:cNvPr id="3604" name="Shape 51"/>
          <p:cNvSpPr/>
          <p:nvPr/>
        </p:nvSpPr>
        <p:spPr>
          <a:xfrm>
            <a:off x="6199632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608" name="Shape 52"/>
          <p:cNvSpPr/>
          <p:nvPr/>
        </p:nvSpPr>
        <p:spPr>
          <a:xfrm>
            <a:off x="7936992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612" name="Text 53"/>
          <p:cNvSpPr txBox="1"/>
          <p:nvPr/>
        </p:nvSpPr>
        <p:spPr>
          <a:xfrm>
            <a:off x="7936992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3616" name="Text 54"/>
          <p:cNvSpPr txBox="1"/>
          <p:nvPr/>
        </p:nvSpPr>
        <p:spPr>
          <a:xfrm>
            <a:off x="6400800" y="38404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노후도 평가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'몇 년 됐나'에서 '실제로 얼마나 움직였나'로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안정성 추정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구간을 훑고 이상 구간만 현장 확인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유지관리 우선순위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예산으로 먼저 볼 곳을 근거로 결정</a:t>
            </a:r>
            <a:endParaRPr lang="en-US" sz="1200" dirty="0"/>
          </a:p>
        </p:txBody>
      </p:sp>
      <p:sp>
        <p:nvSpPr>
          <p:cNvPr id="3620" name="Shape 55"/>
          <p:cNvSpPr/>
          <p:nvPr/>
        </p:nvSpPr>
        <p:spPr>
          <a:xfrm>
            <a:off x="411480" y="5687568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624" name="Text 56"/>
          <p:cNvSpPr txBox="1"/>
          <p:nvPr/>
        </p:nvSpPr>
        <p:spPr>
          <a:xfrm>
            <a:off x="685800" y="5687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시연은 지금 바로 가능합니다   </a:t>
            </a: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레지스트리에 교량관리번호만 넣으면 그 교량이 B-Maps 탭에 뜬다</a:t>
            </a:r>
            <a:endParaRPr lang="en-US" sz="1400" dirty="0"/>
          </a:p>
        </p:txBody>
      </p:sp>
      <p:sp>
        <p:nvSpPr>
          <p:cNvPr id="3628" name="Text 5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문의 · 재현 자료: README.md · docs/Bmaps_연동_인터페이스.md · examples/bmaps_tab/</a:t>
            </a:r>
            <a:endParaRPr lang="en-US" sz="850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0487BAF8-EEB5-4487-A404-58108CE0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3 color point GBP">
      <a:dk1>
        <a:srgbClr val="363D47"/>
      </a:dk1>
      <a:lt1>
        <a:srgbClr val="FFFFFF"/>
      </a:lt1>
      <a:dk2>
        <a:srgbClr val="074FA1"/>
      </a:dk2>
      <a:lt2>
        <a:srgbClr val="E8E8E8"/>
      </a:lt2>
      <a:accent1>
        <a:srgbClr val="409686"/>
      </a:accent1>
      <a:accent2>
        <a:srgbClr val="2580C3"/>
      </a:accent2>
      <a:accent3>
        <a:srgbClr val="8183DA"/>
      </a:accent3>
      <a:accent4>
        <a:srgbClr val="D2E3E5"/>
      </a:accent4>
      <a:accent5>
        <a:srgbClr val="CFDFEC"/>
      </a:accent5>
      <a:accent6>
        <a:srgbClr val="DAE0EE"/>
      </a:accent6>
      <a:hlink>
        <a:srgbClr val="0A4AB3"/>
      </a:hlink>
      <a:folHlink>
        <a:srgbClr val="0A49B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F4596B6A7E14AB1056BCC9C9D7FA2" ma:contentTypeVersion="7" ma:contentTypeDescription="새 문서를 만듭니다." ma:contentTypeScope="" ma:versionID="9afac64a7aa97301af73c04370fca3c2">
  <xsd:schema xmlns:xsd="http://www.w3.org/2001/XMLSchema" xmlns:xs="http://www.w3.org/2001/XMLSchema" xmlns:p="http://schemas.microsoft.com/office/2006/metadata/properties" xmlns:ns3="b4d576d9-b13a-4fd5-898a-452976d6d774" targetNamespace="http://schemas.microsoft.com/office/2006/metadata/properties" ma:root="true" ma:fieldsID="958354a71270ddf5f774943f6454880a" ns3:_="">
    <xsd:import namespace="b4d576d9-b13a-4fd5-898a-452976d6d7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576d9-b13a-4fd5-898a-452976d6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d576d9-b13a-4fd5-898a-452976d6d7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DDBED1-DE0A-4ADB-A993-1993EA5432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576d9-b13a-4fd5-898a-452976d6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6E5AF1-EC7D-47CB-81A3-A02A93109C96}">
  <ds:schemaRefs>
    <ds:schemaRef ds:uri="http://purl.org/dc/elements/1.1/"/>
    <ds:schemaRef ds:uri="b4d576d9-b13a-4fd5-898a-452976d6d774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579AC4D7-9EE8-4DFA-B22C-A98EBA8A4D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72713</TotalTime>
  <Words>1349</Words>
  <Application>Microsoft Office PowerPoint</Application>
  <PresentationFormat>와이드스크린</PresentationFormat>
  <Paragraphs>280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Paperlogy 7 Bold</vt:lpstr>
      <vt:lpstr>Paperlogy 4 Regular</vt:lpstr>
      <vt:lpstr>Arial</vt:lpstr>
      <vt:lpstr>Aptos</vt:lpstr>
      <vt:lpstr>12롯데마트드림Bold</vt:lpstr>
      <vt:lpstr>Paperlogy 5 Medium</vt:lpstr>
      <vt:lpstr>Pretendard</vt:lpstr>
      <vt:lpstr>1_Office Theme</vt:lpstr>
      <vt:lpstr>PowerPoint 프레젠테이션</vt:lpstr>
      <vt:lpstr>연구개발과제의 필요성</vt:lpstr>
      <vt:lpstr>연구성과 목표</vt:lpstr>
      <vt:lpstr>연구수행 내용 ① — Inframon 플랫폼 구성</vt:lpstr>
      <vt:lpstr>연구수행 내용 ② — 한강 교량 실증 · 디지털 트윈</vt:lpstr>
      <vt:lpstr>연구수행 내용 ③ — B-Maps 연동</vt:lpstr>
      <vt:lpstr>향후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선우린</dc:creator>
  <cp:lastModifiedBy>A</cp:lastModifiedBy>
  <cp:revision>689</cp:revision>
  <cp:lastPrinted>2026-09-15T09:08:13Z</cp:lastPrinted>
  <dcterms:created xsi:type="dcterms:W3CDTF">2025-01-10T01:03:53Z</dcterms:created>
  <dcterms:modified xsi:type="dcterms:W3CDTF">2026-09-20T09:29:24Z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0x010100AC9F4596B6A7E14AB1056BCC9C9D7FA2</vt:lpwstr>
  </property>
</Properties>
</file>